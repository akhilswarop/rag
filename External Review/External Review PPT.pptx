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90" r:id="rId1"/>
  </p:sldMasterIdLst>
  <p:notesMasterIdLst>
    <p:notesMasterId r:id="rId34"/>
  </p:notesMasterIdLst>
  <p:handoutMasterIdLst>
    <p:handoutMasterId r:id="rId35"/>
  </p:handoutMasterIdLst>
  <p:sldIdLst>
    <p:sldId id="259" r:id="rId2"/>
    <p:sldId id="382" r:id="rId3"/>
    <p:sldId id="388" r:id="rId4"/>
    <p:sldId id="354" r:id="rId5"/>
    <p:sldId id="315" r:id="rId6"/>
    <p:sldId id="323" r:id="rId7"/>
    <p:sldId id="401" r:id="rId8"/>
    <p:sldId id="302" r:id="rId9"/>
    <p:sldId id="282" r:id="rId10"/>
    <p:sldId id="402" r:id="rId11"/>
    <p:sldId id="303" r:id="rId12"/>
    <p:sldId id="365" r:id="rId13"/>
    <p:sldId id="389" r:id="rId14"/>
    <p:sldId id="390" r:id="rId15"/>
    <p:sldId id="392" r:id="rId16"/>
    <p:sldId id="391" r:id="rId17"/>
    <p:sldId id="403" r:id="rId18"/>
    <p:sldId id="393" r:id="rId19"/>
    <p:sldId id="394" r:id="rId20"/>
    <p:sldId id="395" r:id="rId21"/>
    <p:sldId id="396" r:id="rId22"/>
    <p:sldId id="397" r:id="rId23"/>
    <p:sldId id="398" r:id="rId24"/>
    <p:sldId id="399" r:id="rId25"/>
    <p:sldId id="384" r:id="rId26"/>
    <p:sldId id="385" r:id="rId27"/>
    <p:sldId id="400" r:id="rId28"/>
    <p:sldId id="404" r:id="rId29"/>
    <p:sldId id="320" r:id="rId30"/>
    <p:sldId id="405" r:id="rId31"/>
    <p:sldId id="317" r:id="rId32"/>
    <p:sldId id="274"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249" autoAdjust="0"/>
    <p:restoredTop sz="94660"/>
  </p:normalViewPr>
  <p:slideViewPr>
    <p:cSldViewPr snapToGrid="0">
      <p:cViewPr varScale="1">
        <p:scale>
          <a:sx n="87" d="100"/>
          <a:sy n="87" d="100"/>
        </p:scale>
        <p:origin x="219" y="2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handoutMaster" Target="handoutMasters/handoutMaster1.xml"/><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D453AA6-4F4B-4603-99F9-FAEEEC753827}" type="doc">
      <dgm:prSet loTypeId="urn:microsoft.com/office/officeart/2005/8/layout/hProcess9" loCatId="process" qsTypeId="urn:microsoft.com/office/officeart/2005/8/quickstyle/simple1" qsCatId="simple" csTypeId="urn:microsoft.com/office/officeart/2005/8/colors/accent1_2" csCatId="accent1" phldr="1"/>
      <dgm:spPr/>
    </dgm:pt>
    <dgm:pt modelId="{18D8155F-9AE1-4D20-B84F-0FBA3FF38A68}">
      <dgm:prSet phldrT="[Text]"/>
      <dgm:spPr/>
      <dgm:t>
        <a:bodyPr/>
        <a:lstStyle/>
        <a:p>
          <a:r>
            <a:rPr lang="en-US" b="1" dirty="0">
              <a:latin typeface="Times New Roman" panose="02020603050405020304" pitchFamily="18" charset="0"/>
              <a:cs typeface="Times New Roman" panose="02020603050405020304" pitchFamily="18" charset="0"/>
            </a:rPr>
            <a:t>User Profile and Data Collection Module</a:t>
          </a:r>
          <a:endParaRPr lang="en-US" dirty="0">
            <a:latin typeface="Times New Roman" panose="02020603050405020304" pitchFamily="18" charset="0"/>
            <a:cs typeface="Times New Roman" panose="02020603050405020304" pitchFamily="18" charset="0"/>
          </a:endParaRPr>
        </a:p>
      </dgm:t>
    </dgm:pt>
    <dgm:pt modelId="{0AF29768-0939-4449-B0AC-BC48F3E1C08C}" type="parTrans" cxnId="{099CF360-9C46-4904-900E-BDFD50CE908A}">
      <dgm:prSet/>
      <dgm:spPr/>
      <dgm:t>
        <a:bodyPr/>
        <a:lstStyle/>
        <a:p>
          <a:endParaRPr lang="en-US"/>
        </a:p>
      </dgm:t>
    </dgm:pt>
    <dgm:pt modelId="{47DFCE85-497F-4983-9CCB-6F8F5DC5FDE4}" type="sibTrans" cxnId="{099CF360-9C46-4904-900E-BDFD50CE908A}">
      <dgm:prSet/>
      <dgm:spPr/>
      <dgm:t>
        <a:bodyPr/>
        <a:lstStyle/>
        <a:p>
          <a:endParaRPr lang="en-US"/>
        </a:p>
      </dgm:t>
    </dgm:pt>
    <dgm:pt modelId="{FA709CA2-6496-4B35-A644-F4C07E5F4C68}">
      <dgm:prSet phldrT="[Text]"/>
      <dgm:spPr/>
      <dgm:t>
        <a:bodyPr/>
        <a:lstStyle/>
        <a:p>
          <a:r>
            <a:rPr lang="en-US" b="1" dirty="0">
              <a:latin typeface="Times New Roman" panose="02020603050405020304" pitchFamily="18" charset="0"/>
              <a:cs typeface="Times New Roman" panose="02020603050405020304" pitchFamily="18" charset="0"/>
            </a:rPr>
            <a:t>Knowledge Base Construction and Management Module</a:t>
          </a:r>
          <a:endParaRPr lang="en-US" dirty="0">
            <a:latin typeface="Times New Roman" panose="02020603050405020304" pitchFamily="18" charset="0"/>
            <a:cs typeface="Times New Roman" panose="02020603050405020304" pitchFamily="18" charset="0"/>
          </a:endParaRPr>
        </a:p>
      </dgm:t>
    </dgm:pt>
    <dgm:pt modelId="{8DAF1202-DA4F-44DA-AB4D-E876A1642983}" type="parTrans" cxnId="{41EF1839-F864-46BD-A166-48A1385FA32A}">
      <dgm:prSet/>
      <dgm:spPr/>
      <dgm:t>
        <a:bodyPr/>
        <a:lstStyle/>
        <a:p>
          <a:endParaRPr lang="en-US"/>
        </a:p>
      </dgm:t>
    </dgm:pt>
    <dgm:pt modelId="{8E2FAAB7-7635-419D-B597-3759A7816E07}" type="sibTrans" cxnId="{41EF1839-F864-46BD-A166-48A1385FA32A}">
      <dgm:prSet/>
      <dgm:spPr/>
      <dgm:t>
        <a:bodyPr/>
        <a:lstStyle/>
        <a:p>
          <a:endParaRPr lang="en-US"/>
        </a:p>
      </dgm:t>
    </dgm:pt>
    <dgm:pt modelId="{F366C165-59D9-42B6-BC31-6B4288E17D52}">
      <dgm:prSet phldrT="[Text]"/>
      <dgm:spPr/>
      <dgm:t>
        <a:bodyPr/>
        <a:lstStyle/>
        <a:p>
          <a:r>
            <a:rPr lang="en-US" b="1" dirty="0">
              <a:latin typeface="Times New Roman" panose="02020603050405020304" pitchFamily="18" charset="0"/>
              <a:cs typeface="Times New Roman" panose="02020603050405020304" pitchFamily="18" charset="0"/>
            </a:rPr>
            <a:t>Retrieval-Augmented Generation (RAG) Module</a:t>
          </a:r>
          <a:endParaRPr lang="en-US" dirty="0">
            <a:latin typeface="Times New Roman" panose="02020603050405020304" pitchFamily="18" charset="0"/>
            <a:cs typeface="Times New Roman" panose="02020603050405020304" pitchFamily="18" charset="0"/>
          </a:endParaRPr>
        </a:p>
      </dgm:t>
    </dgm:pt>
    <dgm:pt modelId="{BE95F1FA-EBFA-4F87-8287-88544D0C028C}" type="parTrans" cxnId="{95F6BB83-7573-4123-A3A7-28370DD21E7E}">
      <dgm:prSet/>
      <dgm:spPr/>
      <dgm:t>
        <a:bodyPr/>
        <a:lstStyle/>
        <a:p>
          <a:endParaRPr lang="en-US"/>
        </a:p>
      </dgm:t>
    </dgm:pt>
    <dgm:pt modelId="{BC906D81-DCC1-4E0C-9E9B-CCCA3C1971E7}" type="sibTrans" cxnId="{95F6BB83-7573-4123-A3A7-28370DD21E7E}">
      <dgm:prSet/>
      <dgm:spPr/>
      <dgm:t>
        <a:bodyPr/>
        <a:lstStyle/>
        <a:p>
          <a:endParaRPr lang="en-US"/>
        </a:p>
      </dgm:t>
    </dgm:pt>
    <dgm:pt modelId="{434C9063-5DFF-43A2-A7D7-CBFDFC0B6D4F}">
      <dgm:prSet phldrT="[Text]"/>
      <dgm:spPr/>
      <dgm:t>
        <a:bodyPr/>
        <a:lstStyle/>
        <a:p>
          <a:r>
            <a:rPr lang="en-US" b="1" dirty="0">
              <a:latin typeface="Times New Roman" panose="02020603050405020304" pitchFamily="18" charset="0"/>
              <a:cs typeface="Times New Roman" panose="02020603050405020304" pitchFamily="18" charset="0"/>
            </a:rPr>
            <a:t>Data Preprocessing and Normalization Module</a:t>
          </a:r>
          <a:endParaRPr lang="en-US" dirty="0">
            <a:latin typeface="Times New Roman" panose="02020603050405020304" pitchFamily="18" charset="0"/>
            <a:cs typeface="Times New Roman" panose="02020603050405020304" pitchFamily="18" charset="0"/>
          </a:endParaRPr>
        </a:p>
      </dgm:t>
    </dgm:pt>
    <dgm:pt modelId="{7065C430-4D63-4A0B-8A80-F18BF9CAF134}" type="parTrans" cxnId="{F1B15018-B9D3-41CD-8B69-5E2BCD36CA61}">
      <dgm:prSet/>
      <dgm:spPr/>
      <dgm:t>
        <a:bodyPr/>
        <a:lstStyle/>
        <a:p>
          <a:endParaRPr lang="en-US"/>
        </a:p>
      </dgm:t>
    </dgm:pt>
    <dgm:pt modelId="{EDFAC2B0-BA15-4DB8-96AD-C95DDDD59844}" type="sibTrans" cxnId="{F1B15018-B9D3-41CD-8B69-5E2BCD36CA61}">
      <dgm:prSet/>
      <dgm:spPr/>
      <dgm:t>
        <a:bodyPr/>
        <a:lstStyle/>
        <a:p>
          <a:endParaRPr lang="en-US"/>
        </a:p>
      </dgm:t>
    </dgm:pt>
    <dgm:pt modelId="{20D3CBCC-54EF-46B2-8F9B-00DE353E3FFD}" type="pres">
      <dgm:prSet presAssocID="{1D453AA6-4F4B-4603-99F9-FAEEEC753827}" presName="CompostProcess" presStyleCnt="0">
        <dgm:presLayoutVars>
          <dgm:dir/>
          <dgm:resizeHandles val="exact"/>
        </dgm:presLayoutVars>
      </dgm:prSet>
      <dgm:spPr/>
    </dgm:pt>
    <dgm:pt modelId="{F92CCCFA-9EB0-447C-9FFD-9C16E386DE4A}" type="pres">
      <dgm:prSet presAssocID="{1D453AA6-4F4B-4603-99F9-FAEEEC753827}" presName="arrow" presStyleLbl="bgShp" presStyleIdx="0" presStyleCnt="1" custScaleX="117647"/>
      <dgm:spPr/>
    </dgm:pt>
    <dgm:pt modelId="{9777AB17-4310-469F-9376-62E0B72FA227}" type="pres">
      <dgm:prSet presAssocID="{1D453AA6-4F4B-4603-99F9-FAEEEC753827}" presName="linearProcess" presStyleCnt="0"/>
      <dgm:spPr/>
    </dgm:pt>
    <dgm:pt modelId="{5FEA47CF-1BA7-4D8F-9D4F-9BB3BCCAD34C}" type="pres">
      <dgm:prSet presAssocID="{18D8155F-9AE1-4D20-B84F-0FBA3FF38A68}" presName="textNode" presStyleLbl="node1" presStyleIdx="0" presStyleCnt="4">
        <dgm:presLayoutVars>
          <dgm:bulletEnabled val="1"/>
        </dgm:presLayoutVars>
      </dgm:prSet>
      <dgm:spPr/>
    </dgm:pt>
    <dgm:pt modelId="{1657B93C-E367-4440-8F62-461A086B910A}" type="pres">
      <dgm:prSet presAssocID="{47DFCE85-497F-4983-9CCB-6F8F5DC5FDE4}" presName="sibTrans" presStyleCnt="0"/>
      <dgm:spPr/>
    </dgm:pt>
    <dgm:pt modelId="{F6539922-4401-4AAC-9A37-AEDFC2F63E6B}" type="pres">
      <dgm:prSet presAssocID="{434C9063-5DFF-43A2-A7D7-CBFDFC0B6D4F}" presName="textNode" presStyleLbl="node1" presStyleIdx="1" presStyleCnt="4">
        <dgm:presLayoutVars>
          <dgm:bulletEnabled val="1"/>
        </dgm:presLayoutVars>
      </dgm:prSet>
      <dgm:spPr/>
    </dgm:pt>
    <dgm:pt modelId="{00C0CF8D-2BFC-4A6D-941D-7B54E246CA47}" type="pres">
      <dgm:prSet presAssocID="{EDFAC2B0-BA15-4DB8-96AD-C95DDDD59844}" presName="sibTrans" presStyleCnt="0"/>
      <dgm:spPr/>
    </dgm:pt>
    <dgm:pt modelId="{3B930395-2D4D-4336-8DFB-E219423A8B08}" type="pres">
      <dgm:prSet presAssocID="{FA709CA2-6496-4B35-A644-F4C07E5F4C68}" presName="textNode" presStyleLbl="node1" presStyleIdx="2" presStyleCnt="4">
        <dgm:presLayoutVars>
          <dgm:bulletEnabled val="1"/>
        </dgm:presLayoutVars>
      </dgm:prSet>
      <dgm:spPr/>
    </dgm:pt>
    <dgm:pt modelId="{6EC9B2C3-B762-4768-A23F-5F271073EA31}" type="pres">
      <dgm:prSet presAssocID="{8E2FAAB7-7635-419D-B597-3759A7816E07}" presName="sibTrans" presStyleCnt="0"/>
      <dgm:spPr/>
    </dgm:pt>
    <dgm:pt modelId="{60E43938-552E-4947-946F-79BC4796EEC0}" type="pres">
      <dgm:prSet presAssocID="{F366C165-59D9-42B6-BC31-6B4288E17D52}" presName="textNode" presStyleLbl="node1" presStyleIdx="3" presStyleCnt="4">
        <dgm:presLayoutVars>
          <dgm:bulletEnabled val="1"/>
        </dgm:presLayoutVars>
      </dgm:prSet>
      <dgm:spPr/>
    </dgm:pt>
  </dgm:ptLst>
  <dgm:cxnLst>
    <dgm:cxn modelId="{F1B15018-B9D3-41CD-8B69-5E2BCD36CA61}" srcId="{1D453AA6-4F4B-4603-99F9-FAEEEC753827}" destId="{434C9063-5DFF-43A2-A7D7-CBFDFC0B6D4F}" srcOrd="1" destOrd="0" parTransId="{7065C430-4D63-4A0B-8A80-F18BF9CAF134}" sibTransId="{EDFAC2B0-BA15-4DB8-96AD-C95DDDD59844}"/>
    <dgm:cxn modelId="{41EF1839-F864-46BD-A166-48A1385FA32A}" srcId="{1D453AA6-4F4B-4603-99F9-FAEEEC753827}" destId="{FA709CA2-6496-4B35-A644-F4C07E5F4C68}" srcOrd="2" destOrd="0" parTransId="{8DAF1202-DA4F-44DA-AB4D-E876A1642983}" sibTransId="{8E2FAAB7-7635-419D-B597-3759A7816E07}"/>
    <dgm:cxn modelId="{099CF360-9C46-4904-900E-BDFD50CE908A}" srcId="{1D453AA6-4F4B-4603-99F9-FAEEEC753827}" destId="{18D8155F-9AE1-4D20-B84F-0FBA3FF38A68}" srcOrd="0" destOrd="0" parTransId="{0AF29768-0939-4449-B0AC-BC48F3E1C08C}" sibTransId="{47DFCE85-497F-4983-9CCB-6F8F5DC5FDE4}"/>
    <dgm:cxn modelId="{B68FAF43-D9FC-47D6-A27B-5B7B2D7B9035}" type="presOf" srcId="{18D8155F-9AE1-4D20-B84F-0FBA3FF38A68}" destId="{5FEA47CF-1BA7-4D8F-9D4F-9BB3BCCAD34C}" srcOrd="0" destOrd="0" presId="urn:microsoft.com/office/officeart/2005/8/layout/hProcess9"/>
    <dgm:cxn modelId="{95F6BB83-7573-4123-A3A7-28370DD21E7E}" srcId="{1D453AA6-4F4B-4603-99F9-FAEEEC753827}" destId="{F366C165-59D9-42B6-BC31-6B4288E17D52}" srcOrd="3" destOrd="0" parTransId="{BE95F1FA-EBFA-4F87-8287-88544D0C028C}" sibTransId="{BC906D81-DCC1-4E0C-9E9B-CCCA3C1971E7}"/>
    <dgm:cxn modelId="{A6398F8E-477D-4D02-A706-FA446521D6DF}" type="presOf" srcId="{434C9063-5DFF-43A2-A7D7-CBFDFC0B6D4F}" destId="{F6539922-4401-4AAC-9A37-AEDFC2F63E6B}" srcOrd="0" destOrd="0" presId="urn:microsoft.com/office/officeart/2005/8/layout/hProcess9"/>
    <dgm:cxn modelId="{186E6CBB-2C9E-4C4F-9DE1-F87FEFCD4DDE}" type="presOf" srcId="{FA709CA2-6496-4B35-A644-F4C07E5F4C68}" destId="{3B930395-2D4D-4336-8DFB-E219423A8B08}" srcOrd="0" destOrd="0" presId="urn:microsoft.com/office/officeart/2005/8/layout/hProcess9"/>
    <dgm:cxn modelId="{0DAFA9D8-F14C-41B2-8094-5ECBE4148F65}" type="presOf" srcId="{1D453AA6-4F4B-4603-99F9-FAEEEC753827}" destId="{20D3CBCC-54EF-46B2-8F9B-00DE353E3FFD}" srcOrd="0" destOrd="0" presId="urn:microsoft.com/office/officeart/2005/8/layout/hProcess9"/>
    <dgm:cxn modelId="{266DF6E7-A3D3-4098-8526-61912450E6E7}" type="presOf" srcId="{F366C165-59D9-42B6-BC31-6B4288E17D52}" destId="{60E43938-552E-4947-946F-79BC4796EEC0}" srcOrd="0" destOrd="0" presId="urn:microsoft.com/office/officeart/2005/8/layout/hProcess9"/>
    <dgm:cxn modelId="{82258CB8-AC38-496B-AB0C-4EBEE6F098C4}" type="presParOf" srcId="{20D3CBCC-54EF-46B2-8F9B-00DE353E3FFD}" destId="{F92CCCFA-9EB0-447C-9FFD-9C16E386DE4A}" srcOrd="0" destOrd="0" presId="urn:microsoft.com/office/officeart/2005/8/layout/hProcess9"/>
    <dgm:cxn modelId="{DF93B081-A966-4B12-8528-BFD461411FEE}" type="presParOf" srcId="{20D3CBCC-54EF-46B2-8F9B-00DE353E3FFD}" destId="{9777AB17-4310-469F-9376-62E0B72FA227}" srcOrd="1" destOrd="0" presId="urn:microsoft.com/office/officeart/2005/8/layout/hProcess9"/>
    <dgm:cxn modelId="{DFB10931-8C24-4F43-8828-5D3AD0C3DF6E}" type="presParOf" srcId="{9777AB17-4310-469F-9376-62E0B72FA227}" destId="{5FEA47CF-1BA7-4D8F-9D4F-9BB3BCCAD34C}" srcOrd="0" destOrd="0" presId="urn:microsoft.com/office/officeart/2005/8/layout/hProcess9"/>
    <dgm:cxn modelId="{87CD2388-58AD-4746-BE74-F84AB08AF0BC}" type="presParOf" srcId="{9777AB17-4310-469F-9376-62E0B72FA227}" destId="{1657B93C-E367-4440-8F62-461A086B910A}" srcOrd="1" destOrd="0" presId="urn:microsoft.com/office/officeart/2005/8/layout/hProcess9"/>
    <dgm:cxn modelId="{D71985E1-CE51-4B82-8B5A-765E50283A09}" type="presParOf" srcId="{9777AB17-4310-469F-9376-62E0B72FA227}" destId="{F6539922-4401-4AAC-9A37-AEDFC2F63E6B}" srcOrd="2" destOrd="0" presId="urn:microsoft.com/office/officeart/2005/8/layout/hProcess9"/>
    <dgm:cxn modelId="{D53E7CBD-4E49-4E5B-92D9-BB3431250314}" type="presParOf" srcId="{9777AB17-4310-469F-9376-62E0B72FA227}" destId="{00C0CF8D-2BFC-4A6D-941D-7B54E246CA47}" srcOrd="3" destOrd="0" presId="urn:microsoft.com/office/officeart/2005/8/layout/hProcess9"/>
    <dgm:cxn modelId="{1C6890FF-49D7-49B3-8846-072CA3495C10}" type="presParOf" srcId="{9777AB17-4310-469F-9376-62E0B72FA227}" destId="{3B930395-2D4D-4336-8DFB-E219423A8B08}" srcOrd="4" destOrd="0" presId="urn:microsoft.com/office/officeart/2005/8/layout/hProcess9"/>
    <dgm:cxn modelId="{20D56974-8C55-4497-928E-C9AE50DFF6BE}" type="presParOf" srcId="{9777AB17-4310-469F-9376-62E0B72FA227}" destId="{6EC9B2C3-B762-4768-A23F-5F271073EA31}" srcOrd="5" destOrd="0" presId="urn:microsoft.com/office/officeart/2005/8/layout/hProcess9"/>
    <dgm:cxn modelId="{688A5B19-23CC-4998-B3DD-7D07200C9FB6}" type="presParOf" srcId="{9777AB17-4310-469F-9376-62E0B72FA227}" destId="{60E43938-552E-4947-946F-79BC4796EEC0}" srcOrd="6" destOrd="0" presId="urn:microsoft.com/office/officeart/2005/8/layout/hProcess9"/>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92CCCFA-9EB0-447C-9FFD-9C16E386DE4A}">
      <dsp:nvSpPr>
        <dsp:cNvPr id="0" name=""/>
        <dsp:cNvSpPr/>
      </dsp:nvSpPr>
      <dsp:spPr>
        <a:xfrm>
          <a:off x="2" y="0"/>
          <a:ext cx="10105047" cy="3309574"/>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FEA47CF-1BA7-4D8F-9D4F-9BB3BCCAD34C}">
      <dsp:nvSpPr>
        <dsp:cNvPr id="0" name=""/>
        <dsp:cNvSpPr/>
      </dsp:nvSpPr>
      <dsp:spPr>
        <a:xfrm>
          <a:off x="5057" y="992872"/>
          <a:ext cx="2432515" cy="132382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b="1" kern="1200" dirty="0">
              <a:latin typeface="Times New Roman" panose="02020603050405020304" pitchFamily="18" charset="0"/>
              <a:cs typeface="Times New Roman" panose="02020603050405020304" pitchFamily="18" charset="0"/>
            </a:rPr>
            <a:t>User Profile and Data Collection Module</a:t>
          </a:r>
          <a:endParaRPr lang="en-US" sz="1900" kern="1200" dirty="0">
            <a:latin typeface="Times New Roman" panose="02020603050405020304" pitchFamily="18" charset="0"/>
            <a:cs typeface="Times New Roman" panose="02020603050405020304" pitchFamily="18" charset="0"/>
          </a:endParaRPr>
        </a:p>
      </dsp:txBody>
      <dsp:txXfrm>
        <a:off x="69681" y="1057496"/>
        <a:ext cx="2303267" cy="1194581"/>
      </dsp:txXfrm>
    </dsp:sp>
    <dsp:sp modelId="{F6539922-4401-4AAC-9A37-AEDFC2F63E6B}">
      <dsp:nvSpPr>
        <dsp:cNvPr id="0" name=""/>
        <dsp:cNvSpPr/>
      </dsp:nvSpPr>
      <dsp:spPr>
        <a:xfrm>
          <a:off x="2559198" y="992872"/>
          <a:ext cx="2432515" cy="132382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b="1" kern="1200" dirty="0">
              <a:latin typeface="Times New Roman" panose="02020603050405020304" pitchFamily="18" charset="0"/>
              <a:cs typeface="Times New Roman" panose="02020603050405020304" pitchFamily="18" charset="0"/>
            </a:rPr>
            <a:t>Data Preprocessing and Normalization Module</a:t>
          </a:r>
          <a:endParaRPr lang="en-US" sz="1900" kern="1200" dirty="0">
            <a:latin typeface="Times New Roman" panose="02020603050405020304" pitchFamily="18" charset="0"/>
            <a:cs typeface="Times New Roman" panose="02020603050405020304" pitchFamily="18" charset="0"/>
          </a:endParaRPr>
        </a:p>
      </dsp:txBody>
      <dsp:txXfrm>
        <a:off x="2623822" y="1057496"/>
        <a:ext cx="2303267" cy="1194581"/>
      </dsp:txXfrm>
    </dsp:sp>
    <dsp:sp modelId="{3B930395-2D4D-4336-8DFB-E219423A8B08}">
      <dsp:nvSpPr>
        <dsp:cNvPr id="0" name=""/>
        <dsp:cNvSpPr/>
      </dsp:nvSpPr>
      <dsp:spPr>
        <a:xfrm>
          <a:off x="5113339" y="992872"/>
          <a:ext cx="2432515" cy="132382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b="1" kern="1200" dirty="0">
              <a:latin typeface="Times New Roman" panose="02020603050405020304" pitchFamily="18" charset="0"/>
              <a:cs typeface="Times New Roman" panose="02020603050405020304" pitchFamily="18" charset="0"/>
            </a:rPr>
            <a:t>Knowledge Base Construction and Management Module</a:t>
          </a:r>
          <a:endParaRPr lang="en-US" sz="1900" kern="1200" dirty="0">
            <a:latin typeface="Times New Roman" panose="02020603050405020304" pitchFamily="18" charset="0"/>
            <a:cs typeface="Times New Roman" panose="02020603050405020304" pitchFamily="18" charset="0"/>
          </a:endParaRPr>
        </a:p>
      </dsp:txBody>
      <dsp:txXfrm>
        <a:off x="5177963" y="1057496"/>
        <a:ext cx="2303267" cy="1194581"/>
      </dsp:txXfrm>
    </dsp:sp>
    <dsp:sp modelId="{60E43938-552E-4947-946F-79BC4796EEC0}">
      <dsp:nvSpPr>
        <dsp:cNvPr id="0" name=""/>
        <dsp:cNvSpPr/>
      </dsp:nvSpPr>
      <dsp:spPr>
        <a:xfrm>
          <a:off x="7667480" y="992872"/>
          <a:ext cx="2432515" cy="132382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b="1" kern="1200" dirty="0">
              <a:latin typeface="Times New Roman" panose="02020603050405020304" pitchFamily="18" charset="0"/>
              <a:cs typeface="Times New Roman" panose="02020603050405020304" pitchFamily="18" charset="0"/>
            </a:rPr>
            <a:t>Retrieval-Augmented Generation (RAG) Module</a:t>
          </a:r>
          <a:endParaRPr lang="en-US" sz="1900" kern="1200" dirty="0">
            <a:latin typeface="Times New Roman" panose="02020603050405020304" pitchFamily="18" charset="0"/>
            <a:cs typeface="Times New Roman" panose="02020603050405020304" pitchFamily="18" charset="0"/>
          </a:endParaRPr>
        </a:p>
      </dsp:txBody>
      <dsp:txXfrm>
        <a:off x="7732104" y="1057496"/>
        <a:ext cx="2303267" cy="1194581"/>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DA69547-7BCD-22A1-7C4E-B6C457C01A0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5B78F9B-F70E-1D6D-B49F-4F83B92DFB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B875852-821C-4808-8A9E-710A4BBCC363}" type="datetimeFigureOut">
              <a:rPr lang="en-US" smtClean="0"/>
              <a:t>4/21/2025</a:t>
            </a:fld>
            <a:endParaRPr lang="en-US"/>
          </a:p>
        </p:txBody>
      </p:sp>
      <p:sp>
        <p:nvSpPr>
          <p:cNvPr id="4" name="Footer Placeholder 3">
            <a:extLst>
              <a:ext uri="{FF2B5EF4-FFF2-40B4-BE49-F238E27FC236}">
                <a16:creationId xmlns:a16="http://schemas.microsoft.com/office/drawing/2014/main" id="{33F8A78B-CC0A-328A-A480-30DF1C15B12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C6CE29F-FD3D-BB87-0063-51057BFB326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5D0B05D-2638-4D28-ABA1-1CDC1FD2B4F9}" type="slidenum">
              <a:rPr lang="en-US" smtClean="0"/>
              <a:t>‹#›</a:t>
            </a:fld>
            <a:endParaRPr lang="en-US"/>
          </a:p>
        </p:txBody>
      </p:sp>
    </p:spTree>
    <p:extLst>
      <p:ext uri="{BB962C8B-B14F-4D97-AF65-F5344CB8AC3E}">
        <p14:creationId xmlns:p14="http://schemas.microsoft.com/office/powerpoint/2010/main" val="353625701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8CF801C-9FB1-4456-88B8-82E36CC6EE60}" type="datetimeFigureOut">
              <a:rPr lang="en-IN" smtClean="0"/>
              <a:t>21-04-2025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11B1B0C-0FFA-40B2-9AFD-CA9B49AE2445}" type="slidenum">
              <a:rPr lang="en-IN" smtClean="0"/>
              <a:t>‹#›</a:t>
            </a:fld>
            <a:endParaRPr lang="en-IN"/>
          </a:p>
        </p:txBody>
      </p:sp>
    </p:spTree>
    <p:extLst>
      <p:ext uri="{BB962C8B-B14F-4D97-AF65-F5344CB8AC3E}">
        <p14:creationId xmlns:p14="http://schemas.microsoft.com/office/powerpoint/2010/main" val="203351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AF3499F1-0C99-45B4-9332-7F33E2CE803C}" type="datetime1">
              <a:rPr lang="en-US" smtClean="0"/>
              <a:t>4/21/2025</a:t>
            </a:fld>
            <a:endParaRPr lang="en-US"/>
          </a:p>
        </p:txBody>
      </p:sp>
      <p:sp>
        <p:nvSpPr>
          <p:cNvPr id="5" name="Footer Placeholder 4"/>
          <p:cNvSpPr>
            <a:spLocks noGrp="1"/>
          </p:cNvSpPr>
          <p:nvPr>
            <p:ph type="ftr" sz="quarter" idx="11"/>
          </p:nvPr>
        </p:nvSpPr>
        <p:spPr/>
        <p:txBody>
          <a:bodyPr/>
          <a:lstStyle/>
          <a:p>
            <a:r>
              <a:rPr lang="en-US"/>
              <a:t>22/04/2025</a:t>
            </a:r>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696697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59B58E0-1A37-42D7-9900-1C2851616419}" type="datetime1">
              <a:rPr lang="en-US" smtClean="0"/>
              <a:t>4/21/2025</a:t>
            </a:fld>
            <a:endParaRPr lang="en-US"/>
          </a:p>
        </p:txBody>
      </p:sp>
      <p:sp>
        <p:nvSpPr>
          <p:cNvPr id="5" name="Footer Placeholder 4"/>
          <p:cNvSpPr>
            <a:spLocks noGrp="1"/>
          </p:cNvSpPr>
          <p:nvPr>
            <p:ph type="ftr" sz="quarter" idx="11"/>
          </p:nvPr>
        </p:nvSpPr>
        <p:spPr/>
        <p:txBody>
          <a:bodyPr/>
          <a:lstStyle/>
          <a:p>
            <a:r>
              <a:rPr lang="en-US"/>
              <a:t>22/04/2025</a:t>
            </a:r>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9073749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4688869-683B-479F-8496-1357B4D69F09}" type="datetime1">
              <a:rPr lang="en-US" smtClean="0"/>
              <a:t>4/21/2025</a:t>
            </a:fld>
            <a:endParaRPr lang="en-US"/>
          </a:p>
        </p:txBody>
      </p:sp>
      <p:sp>
        <p:nvSpPr>
          <p:cNvPr id="5" name="Footer Placeholder 4"/>
          <p:cNvSpPr>
            <a:spLocks noGrp="1"/>
          </p:cNvSpPr>
          <p:nvPr>
            <p:ph type="ftr" sz="quarter" idx="11"/>
          </p:nvPr>
        </p:nvSpPr>
        <p:spPr/>
        <p:txBody>
          <a:bodyPr/>
          <a:lstStyle/>
          <a:p>
            <a:r>
              <a:rPr lang="en-US"/>
              <a:t>22/04/2025</a:t>
            </a:r>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22265360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538E108-34FD-45F7-9651-0C5064530B58}" type="datetime1">
              <a:rPr lang="en-US" smtClean="0"/>
              <a:t>4/21/2025</a:t>
            </a:fld>
            <a:endParaRPr lang="en-US"/>
          </a:p>
        </p:txBody>
      </p:sp>
      <p:sp>
        <p:nvSpPr>
          <p:cNvPr id="6" name="Footer Placeholder 5"/>
          <p:cNvSpPr>
            <a:spLocks noGrp="1"/>
          </p:cNvSpPr>
          <p:nvPr>
            <p:ph type="ftr" sz="quarter" idx="11"/>
          </p:nvPr>
        </p:nvSpPr>
        <p:spPr/>
        <p:txBody>
          <a:bodyPr/>
          <a:lstStyle/>
          <a:p>
            <a:r>
              <a:rPr lang="en-US"/>
              <a:t>22/04/2025</a:t>
            </a:r>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40735816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3EBC8C2-DEC7-4D64-BD37-89EAEDD92E9B}" type="datetime1">
              <a:rPr lang="en-US" smtClean="0"/>
              <a:t>4/21/2025</a:t>
            </a:fld>
            <a:endParaRPr lang="en-US"/>
          </a:p>
        </p:txBody>
      </p:sp>
      <p:sp>
        <p:nvSpPr>
          <p:cNvPr id="8" name="Footer Placeholder 7"/>
          <p:cNvSpPr>
            <a:spLocks noGrp="1"/>
          </p:cNvSpPr>
          <p:nvPr>
            <p:ph type="ftr" sz="quarter" idx="11"/>
          </p:nvPr>
        </p:nvSpPr>
        <p:spPr/>
        <p:txBody>
          <a:bodyPr/>
          <a:lstStyle/>
          <a:p>
            <a:r>
              <a:rPr lang="en-US"/>
              <a:t>22/04/2025</a:t>
            </a:r>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9891680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4C6BE4BE-FB55-4E5D-8789-17C22E83D40D}" type="datetime1">
              <a:rPr lang="en-US" smtClean="0"/>
              <a:t>4/21/2025</a:t>
            </a:fld>
            <a:endParaRPr lang="en-US"/>
          </a:p>
        </p:txBody>
      </p:sp>
      <p:sp>
        <p:nvSpPr>
          <p:cNvPr id="4" name="Footer Placeholder 3"/>
          <p:cNvSpPr>
            <a:spLocks noGrp="1"/>
          </p:cNvSpPr>
          <p:nvPr>
            <p:ph type="ftr" sz="quarter" idx="11"/>
          </p:nvPr>
        </p:nvSpPr>
        <p:spPr/>
        <p:txBody>
          <a:bodyPr/>
          <a:lstStyle/>
          <a:p>
            <a:r>
              <a:rPr lang="en-US"/>
              <a:t>22/04/2025</a:t>
            </a:r>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41823906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F1EC159-FCE9-4FD9-9E07-44652DD229B1}" type="datetime1">
              <a:rPr lang="en-US" smtClean="0"/>
              <a:t>4/21/2025</a:t>
            </a:fld>
            <a:endParaRPr lang="en-US"/>
          </a:p>
        </p:txBody>
      </p:sp>
      <p:sp>
        <p:nvSpPr>
          <p:cNvPr id="3" name="Footer Placeholder 2"/>
          <p:cNvSpPr>
            <a:spLocks noGrp="1"/>
          </p:cNvSpPr>
          <p:nvPr>
            <p:ph type="ftr" sz="quarter" idx="11"/>
          </p:nvPr>
        </p:nvSpPr>
        <p:spPr/>
        <p:txBody>
          <a:bodyPr/>
          <a:lstStyle/>
          <a:p>
            <a:r>
              <a:rPr lang="en-US"/>
              <a:t>22/04/2025</a:t>
            </a:r>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0479421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EB95C3D-0C0A-412F-A669-85D15D6EC655}" type="datetime1">
              <a:rPr lang="en-US" smtClean="0"/>
              <a:t>4/21/2025</a:t>
            </a:fld>
            <a:endParaRPr lang="en-US"/>
          </a:p>
        </p:txBody>
      </p:sp>
      <p:sp>
        <p:nvSpPr>
          <p:cNvPr id="6" name="Footer Placeholder 5"/>
          <p:cNvSpPr>
            <a:spLocks noGrp="1"/>
          </p:cNvSpPr>
          <p:nvPr>
            <p:ph type="ftr" sz="quarter" idx="11"/>
          </p:nvPr>
        </p:nvSpPr>
        <p:spPr/>
        <p:txBody>
          <a:bodyPr/>
          <a:lstStyle/>
          <a:p>
            <a:r>
              <a:rPr lang="en-US"/>
              <a:t>22/04/2025</a:t>
            </a:r>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8902862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3D11168-A285-4EF1-AE40-A0F2731D6EB8}" type="datetime1">
              <a:rPr lang="en-US" smtClean="0"/>
              <a:t>4/21/2025</a:t>
            </a:fld>
            <a:endParaRPr lang="en-US"/>
          </a:p>
        </p:txBody>
      </p:sp>
      <p:sp>
        <p:nvSpPr>
          <p:cNvPr id="6" name="Footer Placeholder 5"/>
          <p:cNvSpPr>
            <a:spLocks noGrp="1"/>
          </p:cNvSpPr>
          <p:nvPr>
            <p:ph type="ftr" sz="quarter" idx="11"/>
          </p:nvPr>
        </p:nvSpPr>
        <p:spPr/>
        <p:txBody>
          <a:bodyPr/>
          <a:lstStyle/>
          <a:p>
            <a:r>
              <a:rPr lang="en-US"/>
              <a:t>22/04/2025</a:t>
            </a:r>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23815471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4D3C467-A5FF-4D78-9429-3210D50759E7}" type="datetime1">
              <a:rPr lang="en-US" smtClean="0"/>
              <a:t>4/21/2025</a:t>
            </a:fld>
            <a:endParaRPr lang="en-US"/>
          </a:p>
        </p:txBody>
      </p:sp>
      <p:sp>
        <p:nvSpPr>
          <p:cNvPr id="5" name="Footer Placeholder 4"/>
          <p:cNvSpPr>
            <a:spLocks noGrp="1"/>
          </p:cNvSpPr>
          <p:nvPr>
            <p:ph type="ftr" sz="quarter" idx="11"/>
          </p:nvPr>
        </p:nvSpPr>
        <p:spPr/>
        <p:txBody>
          <a:bodyPr/>
          <a:lstStyle/>
          <a:p>
            <a:r>
              <a:rPr lang="en-US"/>
              <a:t>22/04/2025</a:t>
            </a:r>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223289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CB5E72F-09CB-4A8F-A43D-0AFC9FC5498B}" type="datetime1">
              <a:rPr lang="en-US" smtClean="0"/>
              <a:t>4/21/2025</a:t>
            </a:fld>
            <a:endParaRPr lang="en-US"/>
          </a:p>
        </p:txBody>
      </p:sp>
      <p:sp>
        <p:nvSpPr>
          <p:cNvPr id="5" name="Footer Placeholder 4"/>
          <p:cNvSpPr>
            <a:spLocks noGrp="1"/>
          </p:cNvSpPr>
          <p:nvPr>
            <p:ph type="ftr" sz="quarter" idx="11"/>
          </p:nvPr>
        </p:nvSpPr>
        <p:spPr/>
        <p:txBody>
          <a:bodyPr/>
          <a:lstStyle/>
          <a:p>
            <a:r>
              <a:rPr lang="en-US"/>
              <a:t>22/04/2025</a:t>
            </a:r>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3400667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77ED82F-C1EA-4945-A8C0-33B7F99EB722}" type="datetime1">
              <a:rPr lang="en-US" smtClean="0"/>
              <a:t>4/21/2025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22/04/2025</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a:p>
        </p:txBody>
      </p:sp>
    </p:spTree>
    <p:extLst>
      <p:ext uri="{BB962C8B-B14F-4D97-AF65-F5344CB8AC3E}">
        <p14:creationId xmlns:p14="http://schemas.microsoft.com/office/powerpoint/2010/main" val="3903499260"/>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hyperlink" Target="https://icicts.com/2025/"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9EAFEF31-79A4-C02E-AF74-118ECB6ABB5F}"/>
              </a:ext>
            </a:extLst>
          </p:cNvPr>
          <p:cNvSpPr/>
          <p:nvPr/>
        </p:nvSpPr>
        <p:spPr>
          <a:xfrm>
            <a:off x="565977" y="833376"/>
            <a:ext cx="11187043" cy="5640862"/>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D82036E5-ECE7-5F56-49CF-E60384AD3687}"/>
              </a:ext>
            </a:extLst>
          </p:cNvPr>
          <p:cNvSpPr txBox="1"/>
          <p:nvPr/>
        </p:nvSpPr>
        <p:spPr>
          <a:xfrm>
            <a:off x="2238349" y="880305"/>
            <a:ext cx="8203331" cy="17081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GB" sz="3500" b="1" i="0" u="none" strike="noStrike" dirty="0">
                <a:solidFill>
                  <a:srgbClr val="000000"/>
                </a:solidFill>
                <a:effectLst/>
                <a:latin typeface="Times New Roman" panose="02020603050405020304" pitchFamily="18" charset="0"/>
              </a:rPr>
              <a:t>Enhancing Career Guidance for Students through RAG</a:t>
            </a:r>
            <a:r>
              <a:rPr lang="en-GB" sz="3500" b="0" i="0" dirty="0">
                <a:solidFill>
                  <a:srgbClr val="000000"/>
                </a:solidFill>
                <a:effectLst/>
                <a:latin typeface="Times New Roman" panose="02020603050405020304" pitchFamily="18" charset="0"/>
              </a:rPr>
              <a:t>​</a:t>
            </a:r>
            <a:br>
              <a:rPr lang="en-GB" sz="3500" b="0" i="0" dirty="0">
                <a:solidFill>
                  <a:srgbClr val="000000"/>
                </a:solidFill>
                <a:effectLst/>
                <a:latin typeface="Times New Roman" panose="02020603050405020304" pitchFamily="18" charset="0"/>
              </a:rPr>
            </a:br>
            <a:endParaRPr lang="en-US" sz="3500" b="1" dirty="0">
              <a:solidFill>
                <a:srgbClr val="0070C0"/>
              </a:solidFill>
              <a:latin typeface="Times"/>
              <a:ea typeface="+mn-lt"/>
              <a:cs typeface="+mn-lt"/>
            </a:endParaRPr>
          </a:p>
        </p:txBody>
      </p:sp>
      <p:sp>
        <p:nvSpPr>
          <p:cNvPr id="11" name="TextBox 10">
            <a:extLst>
              <a:ext uri="{FF2B5EF4-FFF2-40B4-BE49-F238E27FC236}">
                <a16:creationId xmlns:a16="http://schemas.microsoft.com/office/drawing/2014/main" id="{528D87D9-198C-D1EE-586A-F12B295BAB54}"/>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
        <p:nvSpPr>
          <p:cNvPr id="12" name="TextBox 11">
            <a:extLst>
              <a:ext uri="{FF2B5EF4-FFF2-40B4-BE49-F238E27FC236}">
                <a16:creationId xmlns:a16="http://schemas.microsoft.com/office/drawing/2014/main" id="{573C11C8-7CB8-4EDD-27D8-AC1C1BC8B713}"/>
              </a:ext>
            </a:extLst>
          </p:cNvPr>
          <p:cNvSpPr txBox="1"/>
          <p:nvPr/>
        </p:nvSpPr>
        <p:spPr>
          <a:xfrm>
            <a:off x="3927716" y="2050619"/>
            <a:ext cx="4759238"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err="1">
                <a:solidFill>
                  <a:srgbClr val="C00000"/>
                </a:solidFill>
                <a:latin typeface="Times New Roman"/>
              </a:rPr>
              <a:t>B.Tech</a:t>
            </a:r>
            <a:r>
              <a:rPr lang="en-US" sz="3200" b="1" dirty="0">
                <a:solidFill>
                  <a:srgbClr val="C00000"/>
                </a:solidFill>
                <a:latin typeface="Times New Roman"/>
              </a:rPr>
              <a:t> Project Review</a:t>
            </a:r>
            <a:endParaRPr lang="en-US" b="1" dirty="0">
              <a:solidFill>
                <a:srgbClr val="C00000"/>
              </a:solidFill>
              <a:cs typeface="Calibri" panose="020F0502020204030204"/>
            </a:endParaRPr>
          </a:p>
        </p:txBody>
      </p:sp>
      <p:sp>
        <p:nvSpPr>
          <p:cNvPr id="13" name="TextBox 12">
            <a:extLst>
              <a:ext uri="{FF2B5EF4-FFF2-40B4-BE49-F238E27FC236}">
                <a16:creationId xmlns:a16="http://schemas.microsoft.com/office/drawing/2014/main" id="{6974696D-4E12-503C-2C72-1A735019B2C1}"/>
              </a:ext>
            </a:extLst>
          </p:cNvPr>
          <p:cNvSpPr txBox="1"/>
          <p:nvPr/>
        </p:nvSpPr>
        <p:spPr>
          <a:xfrm>
            <a:off x="2957956" y="3373087"/>
            <a:ext cx="6276088"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latin typeface="Times New Roman"/>
              </a:rPr>
              <a:t>Guide: </a:t>
            </a:r>
            <a:r>
              <a:rPr lang="en-IN" sz="3200" b="1" i="0" u="none" strike="noStrike" dirty="0">
                <a:solidFill>
                  <a:srgbClr val="000000"/>
                </a:solidFill>
                <a:effectLst/>
                <a:latin typeface="Times New Roman"/>
                <a:cs typeface="Times New Roman"/>
              </a:rPr>
              <a:t>Ms. Bindu K R</a:t>
            </a:r>
            <a:r>
              <a:rPr lang="en-US" sz="3200" dirty="0">
                <a:solidFill>
                  <a:srgbClr val="000000"/>
                </a:solidFill>
                <a:latin typeface="Times New Roman"/>
                <a:ea typeface="Times New Roman"/>
                <a:cs typeface="Times New Roman"/>
                <a:sym typeface="Times New Roman"/>
              </a:rPr>
              <a:t> </a:t>
            </a:r>
            <a:endParaRPr lang="en-US" sz="3200" b="1" dirty="0">
              <a:latin typeface="Times New Roman"/>
              <a:cs typeface="Times New Roman"/>
            </a:endParaRPr>
          </a:p>
        </p:txBody>
      </p:sp>
      <p:graphicFrame>
        <p:nvGraphicFramePr>
          <p:cNvPr id="16" name="Table 15">
            <a:extLst>
              <a:ext uri="{FF2B5EF4-FFF2-40B4-BE49-F238E27FC236}">
                <a16:creationId xmlns:a16="http://schemas.microsoft.com/office/drawing/2014/main" id="{040AFABB-9B4C-8FCC-3AD8-B9222D9E7ADA}"/>
              </a:ext>
            </a:extLst>
          </p:cNvPr>
          <p:cNvGraphicFramePr>
            <a:graphicFrameLocks noGrp="1"/>
          </p:cNvGraphicFramePr>
          <p:nvPr>
            <p:extLst>
              <p:ext uri="{D42A27DB-BD31-4B8C-83A1-F6EECF244321}">
                <p14:modId xmlns:p14="http://schemas.microsoft.com/office/powerpoint/2010/main" val="929461526"/>
              </p:ext>
            </p:extLst>
          </p:nvPr>
        </p:nvGraphicFramePr>
        <p:xfrm>
          <a:off x="2886930" y="4059853"/>
          <a:ext cx="6840810" cy="1854200"/>
        </p:xfrm>
        <a:graphic>
          <a:graphicData uri="http://schemas.openxmlformats.org/drawingml/2006/table">
            <a:tbl>
              <a:tblPr firstRow="1" bandRow="1">
                <a:tableStyleId>{74C1A8A3-306A-4EB7-A6B1-4F7E0EB9C5D6}</a:tableStyleId>
              </a:tblPr>
              <a:tblGrid>
                <a:gridCol w="1478165">
                  <a:extLst>
                    <a:ext uri="{9D8B030D-6E8A-4147-A177-3AD203B41FA5}">
                      <a16:colId xmlns:a16="http://schemas.microsoft.com/office/drawing/2014/main" val="207919870"/>
                    </a:ext>
                  </a:extLst>
                </a:gridCol>
                <a:gridCol w="2750074">
                  <a:extLst>
                    <a:ext uri="{9D8B030D-6E8A-4147-A177-3AD203B41FA5}">
                      <a16:colId xmlns:a16="http://schemas.microsoft.com/office/drawing/2014/main" val="3917510883"/>
                    </a:ext>
                  </a:extLst>
                </a:gridCol>
                <a:gridCol w="2612571">
                  <a:extLst>
                    <a:ext uri="{9D8B030D-6E8A-4147-A177-3AD203B41FA5}">
                      <a16:colId xmlns:a16="http://schemas.microsoft.com/office/drawing/2014/main" val="3995102247"/>
                    </a:ext>
                  </a:extLst>
                </a:gridCol>
              </a:tblGrid>
              <a:tr h="370840">
                <a:tc>
                  <a:txBody>
                    <a:bodyPr/>
                    <a:lstStyle/>
                    <a:p>
                      <a:r>
                        <a:rPr lang="en-US"/>
                        <a:t>SL NO.</a:t>
                      </a:r>
                    </a:p>
                  </a:txBody>
                  <a:tcPr/>
                </a:tc>
                <a:tc>
                  <a:txBody>
                    <a:bodyPr/>
                    <a:lstStyle/>
                    <a:p>
                      <a:r>
                        <a:rPr lang="en-US"/>
                        <a:t>NAME</a:t>
                      </a:r>
                    </a:p>
                  </a:txBody>
                  <a:tcPr/>
                </a:tc>
                <a:tc>
                  <a:txBody>
                    <a:bodyPr/>
                    <a:lstStyle/>
                    <a:p>
                      <a:r>
                        <a:rPr lang="en-US"/>
                        <a:t>Roll No</a:t>
                      </a:r>
                    </a:p>
                  </a:txBody>
                  <a:tcPr/>
                </a:tc>
                <a:extLst>
                  <a:ext uri="{0D108BD9-81ED-4DB2-BD59-A6C34878D82A}">
                    <a16:rowId xmlns:a16="http://schemas.microsoft.com/office/drawing/2014/main" val="2689330017"/>
                  </a:ext>
                </a:extLst>
              </a:tr>
              <a:tr h="370840">
                <a:tc>
                  <a:txBody>
                    <a:bodyPr/>
                    <a:lstStyle/>
                    <a:p>
                      <a:r>
                        <a:rPr lang="en-US"/>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latin typeface="Times New Roman" panose="02020603050405020304" pitchFamily="18" charset="0"/>
                          <a:cs typeface="Times New Roman" panose="02020603050405020304" pitchFamily="18" charset="0"/>
                        </a:rPr>
                        <a:t>Akhil </a:t>
                      </a:r>
                      <a:r>
                        <a:rPr lang="en-US" sz="1800" dirty="0" err="1">
                          <a:latin typeface="Times New Roman" panose="02020603050405020304" pitchFamily="18" charset="0"/>
                          <a:cs typeface="Times New Roman" panose="02020603050405020304" pitchFamily="18" charset="0"/>
                        </a:rPr>
                        <a:t>Swarop</a:t>
                      </a:r>
                      <a:r>
                        <a:rPr lang="en-US" sz="1800" dirty="0">
                          <a:latin typeface="Times New Roman" panose="02020603050405020304" pitchFamily="18" charset="0"/>
                          <a:cs typeface="Times New Roman" panose="02020603050405020304" pitchFamily="18" charset="0"/>
                        </a:rPr>
                        <a:t> 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latin typeface="Times New Roman" panose="02020603050405020304" pitchFamily="18" charset="0"/>
                          <a:cs typeface="Times New Roman" panose="02020603050405020304" pitchFamily="18" charset="0"/>
                        </a:rPr>
                        <a:t>CB.EN.U4CSE21304</a:t>
                      </a:r>
                    </a:p>
                  </a:txBody>
                  <a:tcPr/>
                </a:tc>
                <a:extLst>
                  <a:ext uri="{0D108BD9-81ED-4DB2-BD59-A6C34878D82A}">
                    <a16:rowId xmlns:a16="http://schemas.microsoft.com/office/drawing/2014/main" val="1943411682"/>
                  </a:ext>
                </a:extLst>
              </a:tr>
              <a:tr h="370840">
                <a:tc>
                  <a:txBody>
                    <a:bodyPr/>
                    <a:lstStyle/>
                    <a:p>
                      <a:r>
                        <a:rPr lang="en-US"/>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err="1">
                          <a:latin typeface="Times New Roman" panose="02020603050405020304" pitchFamily="18" charset="0"/>
                          <a:cs typeface="Times New Roman" panose="02020603050405020304" pitchFamily="18" charset="0"/>
                        </a:rPr>
                        <a:t>Ganeshkaran</a:t>
                      </a:r>
                      <a:r>
                        <a:rPr lang="en-US" sz="1800" dirty="0">
                          <a:latin typeface="Times New Roman" panose="02020603050405020304" pitchFamily="18" charset="0"/>
                          <a:cs typeface="Times New Roman" panose="02020603050405020304" pitchFamily="18" charset="0"/>
                        </a:rPr>
                        <a:t> 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latin typeface="Times New Roman" panose="02020603050405020304" pitchFamily="18" charset="0"/>
                          <a:cs typeface="Times New Roman" panose="02020603050405020304" pitchFamily="18" charset="0"/>
                        </a:rPr>
                        <a:t>CB.EN.U4CSE21312</a:t>
                      </a:r>
                    </a:p>
                  </a:txBody>
                  <a:tcPr/>
                </a:tc>
                <a:extLst>
                  <a:ext uri="{0D108BD9-81ED-4DB2-BD59-A6C34878D82A}">
                    <a16:rowId xmlns:a16="http://schemas.microsoft.com/office/drawing/2014/main" val="3460533506"/>
                  </a:ext>
                </a:extLst>
              </a:tr>
              <a:tr h="370840">
                <a:tc>
                  <a:txBody>
                    <a:bodyPr/>
                    <a:lstStyle/>
                    <a:p>
                      <a:r>
                        <a:rPr lang="en-US"/>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latin typeface="Times New Roman" panose="02020603050405020304" pitchFamily="18" charset="0"/>
                          <a:cs typeface="Times New Roman" panose="02020603050405020304" pitchFamily="18" charset="0"/>
                        </a:rPr>
                        <a:t>Hanish K 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latin typeface="Times New Roman" panose="02020603050405020304" pitchFamily="18" charset="0"/>
                          <a:cs typeface="Times New Roman" panose="02020603050405020304" pitchFamily="18" charset="0"/>
                        </a:rPr>
                        <a:t>CB.EN.U4CSE21317</a:t>
                      </a:r>
                    </a:p>
                  </a:txBody>
                  <a:tcPr/>
                </a:tc>
                <a:extLst>
                  <a:ext uri="{0D108BD9-81ED-4DB2-BD59-A6C34878D82A}">
                    <a16:rowId xmlns:a16="http://schemas.microsoft.com/office/drawing/2014/main" val="2317141167"/>
                  </a:ext>
                </a:extLst>
              </a:tr>
              <a:tr h="370840">
                <a:tc>
                  <a:txBody>
                    <a:bodyPr/>
                    <a:lstStyle/>
                    <a:p>
                      <a:r>
                        <a:rPr lang="en-US"/>
                        <a:t>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latin typeface="Times New Roman" panose="02020603050405020304" pitchFamily="18" charset="0"/>
                          <a:cs typeface="Times New Roman" panose="02020603050405020304" pitchFamily="18" charset="0"/>
                        </a:rPr>
                        <a:t>Hidesh Balaji C U</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latin typeface="Times New Roman" panose="02020603050405020304" pitchFamily="18" charset="0"/>
                          <a:cs typeface="Times New Roman" panose="02020603050405020304" pitchFamily="18" charset="0"/>
                        </a:rPr>
                        <a:t>CB.EN.U4CSE21320</a:t>
                      </a:r>
                    </a:p>
                  </a:txBody>
                  <a:tcPr/>
                </a:tc>
                <a:extLst>
                  <a:ext uri="{0D108BD9-81ED-4DB2-BD59-A6C34878D82A}">
                    <a16:rowId xmlns:a16="http://schemas.microsoft.com/office/drawing/2014/main" val="3315358634"/>
                  </a:ext>
                </a:extLst>
              </a:tr>
            </a:tbl>
          </a:graphicData>
        </a:graphic>
      </p:graphicFrame>
      <p:sp>
        <p:nvSpPr>
          <p:cNvPr id="18" name="TextBox 17">
            <a:extLst>
              <a:ext uri="{FF2B5EF4-FFF2-40B4-BE49-F238E27FC236}">
                <a16:creationId xmlns:a16="http://schemas.microsoft.com/office/drawing/2014/main" id="{34858D91-A6E2-19BE-892E-F85A69FB6FBC}"/>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15" name="TextBox 14">
            <a:extLst>
              <a:ext uri="{FF2B5EF4-FFF2-40B4-BE49-F238E27FC236}">
                <a16:creationId xmlns:a16="http://schemas.microsoft.com/office/drawing/2014/main" id="{AFC55A92-1450-E8E4-8103-1FF07B22F63D}"/>
              </a:ext>
            </a:extLst>
          </p:cNvPr>
          <p:cNvSpPr txBox="1"/>
          <p:nvPr/>
        </p:nvSpPr>
        <p:spPr>
          <a:xfrm>
            <a:off x="11771453" y="6678592"/>
            <a:ext cx="462987" cy="32409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9" name="TextBox 18">
            <a:extLst>
              <a:ext uri="{FF2B5EF4-FFF2-40B4-BE49-F238E27FC236}">
                <a16:creationId xmlns:a16="http://schemas.microsoft.com/office/drawing/2014/main" id="{33503C51-6218-01AB-98CA-AFCC33F49E7B}"/>
              </a:ext>
            </a:extLst>
          </p:cNvPr>
          <p:cNvSpPr txBox="1"/>
          <p:nvPr/>
        </p:nvSpPr>
        <p:spPr>
          <a:xfrm>
            <a:off x="10903352" y="381964"/>
            <a:ext cx="555584" cy="45141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5" name="Date Placeholder 4">
            <a:extLst>
              <a:ext uri="{FF2B5EF4-FFF2-40B4-BE49-F238E27FC236}">
                <a16:creationId xmlns:a16="http://schemas.microsoft.com/office/drawing/2014/main" id="{3A8D7036-2C4B-DEC6-7FF2-382D35BF1B84}"/>
              </a:ext>
            </a:extLst>
          </p:cNvPr>
          <p:cNvSpPr>
            <a:spLocks noGrp="1"/>
          </p:cNvSpPr>
          <p:nvPr>
            <p:ph type="dt" sz="half" idx="10"/>
          </p:nvPr>
        </p:nvSpPr>
        <p:spPr/>
        <p:txBody>
          <a:bodyPr/>
          <a:lstStyle/>
          <a:p>
            <a:fld id="{50744FF2-E4E2-447F-9FC2-EB84435EFE46}" type="datetime1">
              <a:rPr lang="en-US" smtClean="0"/>
              <a:t>4/21/2025</a:t>
            </a:fld>
            <a:endParaRPr lang="en-US" dirty="0"/>
          </a:p>
        </p:txBody>
      </p:sp>
      <p:sp>
        <p:nvSpPr>
          <p:cNvPr id="7" name="Slide Number Placeholder 6">
            <a:extLst>
              <a:ext uri="{FF2B5EF4-FFF2-40B4-BE49-F238E27FC236}">
                <a16:creationId xmlns:a16="http://schemas.microsoft.com/office/drawing/2014/main" id="{4AA1D3F0-C794-539A-D7DA-840EC311E55E}"/>
              </a:ext>
            </a:extLst>
          </p:cNvPr>
          <p:cNvSpPr>
            <a:spLocks noGrp="1"/>
          </p:cNvSpPr>
          <p:nvPr>
            <p:ph type="sldNum" sz="quarter" idx="12"/>
          </p:nvPr>
        </p:nvSpPr>
        <p:spPr/>
        <p:txBody>
          <a:bodyPr/>
          <a:lstStyle/>
          <a:p>
            <a:fld id="{48F63A3B-78C7-47BE-AE5E-E10140E04643}" type="slidenum">
              <a:rPr lang="en-US" dirty="0"/>
              <a:t>1</a:t>
            </a:fld>
            <a:endParaRPr lang="en-US" dirty="0"/>
          </a:p>
        </p:txBody>
      </p:sp>
      <p:pic>
        <p:nvPicPr>
          <p:cNvPr id="3" name="Picture 2" descr="A close-up of a logo&#10;&#10;AI-generated content may be incorrect.">
            <a:extLst>
              <a:ext uri="{FF2B5EF4-FFF2-40B4-BE49-F238E27FC236}">
                <a16:creationId xmlns:a16="http://schemas.microsoft.com/office/drawing/2014/main" id="{8AB0D67A-E6E9-5F40-96E2-229CD8BCC65E}"/>
              </a:ext>
            </a:extLst>
          </p:cNvPr>
          <p:cNvPicPr>
            <a:picLocks noChangeAspect="1"/>
          </p:cNvPicPr>
          <p:nvPr/>
        </p:nvPicPr>
        <p:blipFill>
          <a:blip r:embed="rId2"/>
          <a:stretch>
            <a:fillRect/>
          </a:stretch>
        </p:blipFill>
        <p:spPr>
          <a:xfrm>
            <a:off x="88611" y="62544"/>
            <a:ext cx="2271308" cy="621059"/>
          </a:xfrm>
          <a:prstGeom prst="rect">
            <a:avLst/>
          </a:prstGeom>
        </p:spPr>
      </p:pic>
      <p:pic>
        <p:nvPicPr>
          <p:cNvPr id="2" name="Picture 1" descr="A close-up of a logo&#10;&#10;AI-generated content may be incorrect.">
            <a:extLst>
              <a:ext uri="{FF2B5EF4-FFF2-40B4-BE49-F238E27FC236}">
                <a16:creationId xmlns:a16="http://schemas.microsoft.com/office/drawing/2014/main" id="{A1926810-6788-24C6-FCCA-18D69C78217D}"/>
              </a:ext>
            </a:extLst>
          </p:cNvPr>
          <p:cNvPicPr>
            <a:picLocks noChangeAspect="1"/>
          </p:cNvPicPr>
          <p:nvPr/>
        </p:nvPicPr>
        <p:blipFill>
          <a:blip r:embed="rId2"/>
          <a:stretch>
            <a:fillRect/>
          </a:stretch>
        </p:blipFill>
        <p:spPr>
          <a:xfrm>
            <a:off x="1" y="54524"/>
            <a:ext cx="2503714" cy="621059"/>
          </a:xfrm>
          <a:prstGeom prst="rect">
            <a:avLst/>
          </a:prstGeom>
        </p:spPr>
      </p:pic>
    </p:spTree>
    <p:extLst>
      <p:ext uri="{BB962C8B-B14F-4D97-AF65-F5344CB8AC3E}">
        <p14:creationId xmlns:p14="http://schemas.microsoft.com/office/powerpoint/2010/main" val="17176880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9EAFEF31-79A4-C02E-AF74-118ECB6ABB5F}"/>
              </a:ext>
            </a:extLst>
          </p:cNvPr>
          <p:cNvSpPr/>
          <p:nvPr/>
        </p:nvSpPr>
        <p:spPr>
          <a:xfrm>
            <a:off x="344953" y="831820"/>
            <a:ext cx="11408067" cy="5642418"/>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34858D91-A6E2-19BE-892E-F85A69FB6FBC}"/>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15" name="TextBox 14">
            <a:extLst>
              <a:ext uri="{FF2B5EF4-FFF2-40B4-BE49-F238E27FC236}">
                <a16:creationId xmlns:a16="http://schemas.microsoft.com/office/drawing/2014/main" id="{AFC55A92-1450-E8E4-8103-1FF07B22F63D}"/>
              </a:ext>
            </a:extLst>
          </p:cNvPr>
          <p:cNvSpPr txBox="1"/>
          <p:nvPr/>
        </p:nvSpPr>
        <p:spPr>
          <a:xfrm>
            <a:off x="11771453" y="6678592"/>
            <a:ext cx="462987" cy="32409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9" name="TextBox 18">
            <a:extLst>
              <a:ext uri="{FF2B5EF4-FFF2-40B4-BE49-F238E27FC236}">
                <a16:creationId xmlns:a16="http://schemas.microsoft.com/office/drawing/2014/main" id="{33503C51-6218-01AB-98CA-AFCC33F49E7B}"/>
              </a:ext>
            </a:extLst>
          </p:cNvPr>
          <p:cNvSpPr txBox="1"/>
          <p:nvPr/>
        </p:nvSpPr>
        <p:spPr>
          <a:xfrm>
            <a:off x="10903352" y="381964"/>
            <a:ext cx="555584" cy="45141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5" name="Date Placeholder 4">
            <a:extLst>
              <a:ext uri="{FF2B5EF4-FFF2-40B4-BE49-F238E27FC236}">
                <a16:creationId xmlns:a16="http://schemas.microsoft.com/office/drawing/2014/main" id="{3A8D7036-2C4B-DEC6-7FF2-382D35BF1B84}"/>
              </a:ext>
            </a:extLst>
          </p:cNvPr>
          <p:cNvSpPr>
            <a:spLocks noGrp="1"/>
          </p:cNvSpPr>
          <p:nvPr>
            <p:ph type="dt" sz="half" idx="10"/>
          </p:nvPr>
        </p:nvSpPr>
        <p:spPr/>
        <p:txBody>
          <a:bodyPr/>
          <a:lstStyle/>
          <a:p>
            <a:fld id="{B393DD05-BD28-489B-8B84-ED2BAEA86DCB}" type="datetime1">
              <a:rPr lang="en-US" smtClean="0"/>
              <a:t>4/21/2025</a:t>
            </a:fld>
            <a:endParaRPr lang="en-US"/>
          </a:p>
        </p:txBody>
      </p:sp>
      <p:sp>
        <p:nvSpPr>
          <p:cNvPr id="7" name="Slide Number Placeholder 6">
            <a:extLst>
              <a:ext uri="{FF2B5EF4-FFF2-40B4-BE49-F238E27FC236}">
                <a16:creationId xmlns:a16="http://schemas.microsoft.com/office/drawing/2014/main" id="{4AA1D3F0-C794-539A-D7DA-840EC311E55E}"/>
              </a:ext>
            </a:extLst>
          </p:cNvPr>
          <p:cNvSpPr>
            <a:spLocks noGrp="1"/>
          </p:cNvSpPr>
          <p:nvPr>
            <p:ph type="sldNum" sz="quarter" idx="12"/>
          </p:nvPr>
        </p:nvSpPr>
        <p:spPr/>
        <p:txBody>
          <a:bodyPr/>
          <a:lstStyle/>
          <a:p>
            <a:fld id="{48F63A3B-78C7-47BE-AE5E-E10140E04643}" type="slidenum">
              <a:rPr lang="en-US" dirty="0"/>
              <a:t>2</a:t>
            </a:fld>
            <a:endParaRPr lang="en-US" dirty="0"/>
          </a:p>
        </p:txBody>
      </p:sp>
      <p:sp>
        <p:nvSpPr>
          <p:cNvPr id="17" name="TextBox 16">
            <a:extLst>
              <a:ext uri="{FF2B5EF4-FFF2-40B4-BE49-F238E27FC236}">
                <a16:creationId xmlns:a16="http://schemas.microsoft.com/office/drawing/2014/main" id="{D2431B7A-D645-F758-374F-0BCA20398713}"/>
              </a:ext>
            </a:extLst>
          </p:cNvPr>
          <p:cNvSpPr txBox="1"/>
          <p:nvPr/>
        </p:nvSpPr>
        <p:spPr>
          <a:xfrm>
            <a:off x="2889250" y="793935"/>
            <a:ext cx="6413500" cy="5539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000" b="1" dirty="0">
                <a:latin typeface="Times New Roman" panose="02020603050405020304" pitchFamily="18" charset="0"/>
                <a:cs typeface="Times New Roman" panose="02020603050405020304" pitchFamily="18" charset="0"/>
              </a:rPr>
              <a:t>INTRODUCTION</a:t>
            </a:r>
          </a:p>
        </p:txBody>
      </p:sp>
      <p:sp>
        <p:nvSpPr>
          <p:cNvPr id="3" name="TextBox 2">
            <a:extLst>
              <a:ext uri="{FF2B5EF4-FFF2-40B4-BE49-F238E27FC236}">
                <a16:creationId xmlns:a16="http://schemas.microsoft.com/office/drawing/2014/main" id="{51E38A5B-29BD-25C8-5A9E-BCF299D01E4A}"/>
              </a:ext>
            </a:extLst>
          </p:cNvPr>
          <p:cNvSpPr txBox="1"/>
          <p:nvPr/>
        </p:nvSpPr>
        <p:spPr>
          <a:xfrm>
            <a:off x="838200" y="1368010"/>
            <a:ext cx="10787823" cy="5208605"/>
          </a:xfrm>
          <a:prstGeom prst="rect">
            <a:avLst/>
          </a:prstGeom>
          <a:noFill/>
        </p:spPr>
        <p:txBody>
          <a:bodyPr wrap="square">
            <a:spAutoFit/>
          </a:bodyPr>
          <a:lstStyle/>
          <a:p>
            <a:pPr marL="285750" indent="-285750" algn="just">
              <a:lnSpc>
                <a:spcPct val="170000"/>
              </a:lnSpc>
              <a:buFont typeface="Arial" panose="020B0604020202020204" pitchFamily="34" charset="0"/>
              <a:buChar char="•"/>
            </a:pPr>
            <a:r>
              <a:rPr lang="en-GB" sz="1800" dirty="0">
                <a:latin typeface="Times New Roman" panose="02020603050405020304" pitchFamily="18" charset="0"/>
                <a:cs typeface="Times New Roman" panose="02020603050405020304" pitchFamily="18" charset="0"/>
              </a:rPr>
              <a:t>This research explores the use of Retrieval-Augmented Generation (RAG) for personalized career guidance by comparing the performance of three large language models (LLMs): </a:t>
            </a:r>
          </a:p>
          <a:p>
            <a:pPr marL="4000500" lvl="8" indent="-342900" algn="just">
              <a:lnSpc>
                <a:spcPct val="170000"/>
              </a:lnSpc>
              <a:buFont typeface="+mj-lt"/>
              <a:buAutoNum type="arabicPeriod"/>
            </a:pPr>
            <a:r>
              <a:rPr lang="en-GB" dirty="0">
                <a:latin typeface="Times New Roman" panose="02020603050405020304" pitchFamily="18" charset="0"/>
                <a:cs typeface="Times New Roman" panose="02020603050405020304" pitchFamily="18" charset="0"/>
              </a:rPr>
              <a:t>Gemma 2 2B</a:t>
            </a:r>
          </a:p>
          <a:p>
            <a:pPr marL="4000500" lvl="8" indent="-342900" algn="just">
              <a:lnSpc>
                <a:spcPct val="170000"/>
              </a:lnSpc>
              <a:buFont typeface="+mj-lt"/>
              <a:buAutoNum type="arabicPeriod"/>
            </a:pPr>
            <a:r>
              <a:rPr lang="en-GB" dirty="0">
                <a:latin typeface="Times New Roman" panose="02020603050405020304" pitchFamily="18" charset="0"/>
                <a:cs typeface="Times New Roman" panose="02020603050405020304" pitchFamily="18" charset="0"/>
              </a:rPr>
              <a:t>Gemma 2 9B</a:t>
            </a:r>
          </a:p>
          <a:p>
            <a:pPr marL="4000500" lvl="8" indent="-342900" algn="just">
              <a:lnSpc>
                <a:spcPct val="170000"/>
              </a:lnSpc>
              <a:buFont typeface="+mj-lt"/>
              <a:buAutoNum type="arabicPeriod"/>
            </a:pPr>
            <a:r>
              <a:rPr lang="en-GB" dirty="0">
                <a:latin typeface="Times New Roman" panose="02020603050405020304" pitchFamily="18" charset="0"/>
                <a:cs typeface="Times New Roman" panose="02020603050405020304" pitchFamily="18" charset="0"/>
              </a:rPr>
              <a:t>Mistral 7B</a:t>
            </a:r>
            <a:endParaRPr lang="en-GB" sz="1800" dirty="0">
              <a:latin typeface="Times New Roman" panose="02020603050405020304" pitchFamily="18" charset="0"/>
              <a:cs typeface="Times New Roman" panose="02020603050405020304" pitchFamily="18" charset="0"/>
            </a:endParaRPr>
          </a:p>
          <a:p>
            <a:pPr marL="285750" indent="-285750" algn="just">
              <a:lnSpc>
                <a:spcPct val="170000"/>
              </a:lnSpc>
              <a:buFont typeface="Arial" panose="020B0604020202020204" pitchFamily="34" charset="0"/>
              <a:buChar char="•"/>
            </a:pPr>
            <a:r>
              <a:rPr lang="en-GB" sz="1800" dirty="0">
                <a:latin typeface="Times New Roman" panose="02020603050405020304" pitchFamily="18" charset="0"/>
                <a:cs typeface="Times New Roman" panose="02020603050405020304" pitchFamily="18" charset="0"/>
              </a:rPr>
              <a:t>Existing career guidance chatbots provide only general recommendations, but this study leverages FAISS retrieval and the O*NET job description dataset to generate tailored career advice from user resumes. </a:t>
            </a:r>
          </a:p>
          <a:p>
            <a:pPr marL="285750" indent="-285750" algn="just">
              <a:lnSpc>
                <a:spcPct val="170000"/>
              </a:lnSpc>
              <a:buFont typeface="Arial" panose="020B0604020202020204" pitchFamily="34" charset="0"/>
              <a:buChar char="•"/>
            </a:pPr>
            <a:r>
              <a:rPr lang="en-GB" sz="1800" dirty="0">
                <a:latin typeface="Times New Roman" panose="02020603050405020304" pitchFamily="18" charset="0"/>
                <a:cs typeface="Times New Roman" panose="02020603050405020304" pitchFamily="18" charset="0"/>
              </a:rPr>
              <a:t>Gemma 2 9B, developed by Google DeepMind, is a 9-billion-parameter model optimized for efficient performance. Mistral 7B, a </a:t>
            </a:r>
            <a:r>
              <a:rPr lang="en-GB" dirty="0">
                <a:latin typeface="Times New Roman" panose="02020603050405020304" pitchFamily="18" charset="0"/>
                <a:cs typeface="Times New Roman" panose="02020603050405020304" pitchFamily="18" charset="0"/>
              </a:rPr>
              <a:t>Large Language </a:t>
            </a:r>
            <a:r>
              <a:rPr lang="en-GB" sz="1800" dirty="0">
                <a:latin typeface="Times New Roman" panose="02020603050405020304" pitchFamily="18" charset="0"/>
                <a:cs typeface="Times New Roman" panose="02020603050405020304" pitchFamily="18" charset="0"/>
              </a:rPr>
              <a:t>model from Mistral AI, utilizes </a:t>
            </a:r>
            <a:r>
              <a:rPr lang="en-GB" dirty="0">
                <a:latin typeface="Times New Roman" panose="02020603050405020304" pitchFamily="18" charset="0"/>
                <a:cs typeface="Times New Roman" panose="02020603050405020304" pitchFamily="18" charset="0"/>
              </a:rPr>
              <a:t>7</a:t>
            </a:r>
            <a:r>
              <a:rPr lang="en-GB" sz="1800" dirty="0">
                <a:latin typeface="Times New Roman" panose="02020603050405020304" pitchFamily="18" charset="0"/>
                <a:cs typeface="Times New Roman" panose="02020603050405020304" pitchFamily="18" charset="0"/>
              </a:rPr>
              <a:t>B active parameters, making it faster than many dense 70B models. </a:t>
            </a:r>
          </a:p>
          <a:p>
            <a:pPr algn="just">
              <a:lnSpc>
                <a:spcPct val="170000"/>
              </a:lnSpc>
            </a:pPr>
            <a:endParaRPr lang="en-GB" sz="1800" dirty="0">
              <a:latin typeface="Times New Roman" panose="02020603050405020304" pitchFamily="18" charset="0"/>
              <a:cs typeface="Times New Roman" panose="02020603050405020304" pitchFamily="18" charset="0"/>
            </a:endParaRPr>
          </a:p>
        </p:txBody>
      </p:sp>
      <p:pic>
        <p:nvPicPr>
          <p:cNvPr id="2" name="Picture 1" descr="A close-up of a logo&#10;&#10;AI-generated content may be incorrect.">
            <a:extLst>
              <a:ext uri="{FF2B5EF4-FFF2-40B4-BE49-F238E27FC236}">
                <a16:creationId xmlns:a16="http://schemas.microsoft.com/office/drawing/2014/main" id="{FE2FDF31-3658-E9AA-E591-FFCF0DF703D8}"/>
              </a:ext>
            </a:extLst>
          </p:cNvPr>
          <p:cNvPicPr>
            <a:picLocks noChangeAspect="1"/>
          </p:cNvPicPr>
          <p:nvPr/>
        </p:nvPicPr>
        <p:blipFill>
          <a:blip r:embed="rId2"/>
          <a:stretch>
            <a:fillRect/>
          </a:stretch>
        </p:blipFill>
        <p:spPr>
          <a:xfrm>
            <a:off x="1" y="54524"/>
            <a:ext cx="2503714" cy="621059"/>
          </a:xfrm>
          <a:prstGeom prst="rect">
            <a:avLst/>
          </a:prstGeom>
        </p:spPr>
      </p:pic>
      <p:sp>
        <p:nvSpPr>
          <p:cNvPr id="9" name="TextBox 8">
            <a:extLst>
              <a:ext uri="{FF2B5EF4-FFF2-40B4-BE49-F238E27FC236}">
                <a16:creationId xmlns:a16="http://schemas.microsoft.com/office/drawing/2014/main" id="{E7330DA9-16E1-0CB9-F3D7-1A7851EBB9B7}"/>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37458953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6110B0-FA69-0EFE-FC52-6482B8467F4F}"/>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D2369FCD-D6FB-01E9-6302-FE900143C435}"/>
              </a:ext>
            </a:extLst>
          </p:cNvPr>
          <p:cNvSpPr/>
          <p:nvPr/>
        </p:nvSpPr>
        <p:spPr>
          <a:xfrm>
            <a:off x="520169" y="791077"/>
            <a:ext cx="11232852" cy="5683161"/>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FEE83B6D-26B5-D02B-C1FB-05A51E1730E5}"/>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15" name="TextBox 14">
            <a:extLst>
              <a:ext uri="{FF2B5EF4-FFF2-40B4-BE49-F238E27FC236}">
                <a16:creationId xmlns:a16="http://schemas.microsoft.com/office/drawing/2014/main" id="{04C09733-415E-0270-C704-9AF7E08F6014}"/>
              </a:ext>
            </a:extLst>
          </p:cNvPr>
          <p:cNvSpPr txBox="1"/>
          <p:nvPr/>
        </p:nvSpPr>
        <p:spPr>
          <a:xfrm>
            <a:off x="11771453" y="6678592"/>
            <a:ext cx="462987" cy="32409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9" name="TextBox 18">
            <a:extLst>
              <a:ext uri="{FF2B5EF4-FFF2-40B4-BE49-F238E27FC236}">
                <a16:creationId xmlns:a16="http://schemas.microsoft.com/office/drawing/2014/main" id="{59A9B789-9E2F-3D78-0449-74D6728975A6}"/>
              </a:ext>
            </a:extLst>
          </p:cNvPr>
          <p:cNvSpPr txBox="1"/>
          <p:nvPr/>
        </p:nvSpPr>
        <p:spPr>
          <a:xfrm>
            <a:off x="10903352" y="381964"/>
            <a:ext cx="555584" cy="45141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5" name="Date Placeholder 4">
            <a:extLst>
              <a:ext uri="{FF2B5EF4-FFF2-40B4-BE49-F238E27FC236}">
                <a16:creationId xmlns:a16="http://schemas.microsoft.com/office/drawing/2014/main" id="{FE68C75B-5844-FD77-EFB4-EB70914B2F70}"/>
              </a:ext>
            </a:extLst>
          </p:cNvPr>
          <p:cNvSpPr>
            <a:spLocks noGrp="1"/>
          </p:cNvSpPr>
          <p:nvPr>
            <p:ph type="dt" sz="half" idx="10"/>
          </p:nvPr>
        </p:nvSpPr>
        <p:spPr/>
        <p:txBody>
          <a:bodyPr/>
          <a:lstStyle/>
          <a:p>
            <a:fld id="{B393DD05-BD28-489B-8B84-ED2BAEA86DCB}" type="datetime1">
              <a:rPr lang="en-US" smtClean="0"/>
              <a:t>4/21/2025</a:t>
            </a:fld>
            <a:endParaRPr lang="en-US"/>
          </a:p>
        </p:txBody>
      </p:sp>
      <p:sp>
        <p:nvSpPr>
          <p:cNvPr id="7" name="Slide Number Placeholder 6">
            <a:extLst>
              <a:ext uri="{FF2B5EF4-FFF2-40B4-BE49-F238E27FC236}">
                <a16:creationId xmlns:a16="http://schemas.microsoft.com/office/drawing/2014/main" id="{E1CADDBD-F78A-7E1E-D56E-FA553484E489}"/>
              </a:ext>
            </a:extLst>
          </p:cNvPr>
          <p:cNvSpPr>
            <a:spLocks noGrp="1"/>
          </p:cNvSpPr>
          <p:nvPr>
            <p:ph type="sldNum" sz="quarter" idx="12"/>
          </p:nvPr>
        </p:nvSpPr>
        <p:spPr/>
        <p:txBody>
          <a:bodyPr/>
          <a:lstStyle/>
          <a:p>
            <a:fld id="{48F63A3B-78C7-47BE-AE5E-E10140E04643}" type="slidenum">
              <a:rPr lang="en-US" dirty="0"/>
              <a:t>3</a:t>
            </a:fld>
            <a:endParaRPr lang="en-US"/>
          </a:p>
        </p:txBody>
      </p:sp>
      <p:sp>
        <p:nvSpPr>
          <p:cNvPr id="17" name="TextBox 16">
            <a:extLst>
              <a:ext uri="{FF2B5EF4-FFF2-40B4-BE49-F238E27FC236}">
                <a16:creationId xmlns:a16="http://schemas.microsoft.com/office/drawing/2014/main" id="{B0548871-E0F8-58FA-A112-0E7CB4BA0B5F}"/>
              </a:ext>
            </a:extLst>
          </p:cNvPr>
          <p:cNvSpPr txBox="1"/>
          <p:nvPr/>
        </p:nvSpPr>
        <p:spPr>
          <a:xfrm>
            <a:off x="2829020" y="790867"/>
            <a:ext cx="6413500" cy="5539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000" b="1" dirty="0">
                <a:latin typeface="Times New Roman" panose="02020603050405020304" pitchFamily="18" charset="0"/>
                <a:cs typeface="Times New Roman" panose="02020603050405020304" pitchFamily="18" charset="0"/>
              </a:rPr>
              <a:t>INTRODUCTION</a:t>
            </a:r>
          </a:p>
        </p:txBody>
      </p:sp>
      <p:sp>
        <p:nvSpPr>
          <p:cNvPr id="3" name="TextBox 2">
            <a:extLst>
              <a:ext uri="{FF2B5EF4-FFF2-40B4-BE49-F238E27FC236}">
                <a16:creationId xmlns:a16="http://schemas.microsoft.com/office/drawing/2014/main" id="{5188D364-38CD-2DA0-CE32-BEA94088102B}"/>
              </a:ext>
            </a:extLst>
          </p:cNvPr>
          <p:cNvSpPr txBox="1"/>
          <p:nvPr/>
        </p:nvSpPr>
        <p:spPr>
          <a:xfrm>
            <a:off x="1333500" y="1157805"/>
            <a:ext cx="9525000" cy="3795911"/>
          </a:xfrm>
          <a:prstGeom prst="rect">
            <a:avLst/>
          </a:prstGeom>
          <a:noFill/>
        </p:spPr>
        <p:txBody>
          <a:bodyPr wrap="square">
            <a:spAutoFit/>
          </a:bodyPr>
          <a:lstStyle/>
          <a:p>
            <a:pPr algn="just">
              <a:lnSpc>
                <a:spcPct val="170000"/>
              </a:lnSpc>
            </a:pPr>
            <a:endParaRPr lang="en-GB" sz="1800" dirty="0">
              <a:latin typeface="Times New Roman" panose="02020603050405020304" pitchFamily="18" charset="0"/>
              <a:cs typeface="Times New Roman" panose="02020603050405020304" pitchFamily="18" charset="0"/>
            </a:endParaRPr>
          </a:p>
          <a:p>
            <a:pPr marL="285750" indent="-285750" algn="just">
              <a:lnSpc>
                <a:spcPct val="170000"/>
              </a:lnSpc>
              <a:buFont typeface="Arial" panose="020B0604020202020204" pitchFamily="34" charset="0"/>
              <a:buChar char="•"/>
            </a:pPr>
            <a:r>
              <a:rPr lang="en-GB" sz="1800" dirty="0">
                <a:latin typeface="Times New Roman" panose="02020603050405020304" pitchFamily="18" charset="0"/>
                <a:cs typeface="Times New Roman" panose="02020603050405020304" pitchFamily="18" charset="0"/>
              </a:rPr>
              <a:t>FAISS(Facebook AI Similarity Search) is used for efficient similarity search and clustering of dense vectors.</a:t>
            </a:r>
          </a:p>
          <a:p>
            <a:pPr marL="285750" indent="-285750" algn="just">
              <a:lnSpc>
                <a:spcPct val="170000"/>
              </a:lnSpc>
              <a:buFont typeface="Arial" panose="020B0604020202020204" pitchFamily="34" charset="0"/>
              <a:buChar char="•"/>
            </a:pPr>
            <a:r>
              <a:rPr lang="en-GB" sz="1800" dirty="0">
                <a:latin typeface="Times New Roman" panose="02020603050405020304" pitchFamily="18" charset="0"/>
                <a:cs typeface="Times New Roman" panose="02020603050405020304" pitchFamily="18" charset="0"/>
              </a:rPr>
              <a:t> The O*NET dataset is embedded into dense vectors using a pretrained model, allowing FAISS to match user skills with the most relevant job descriptions. </a:t>
            </a:r>
          </a:p>
          <a:p>
            <a:pPr algn="just">
              <a:lnSpc>
                <a:spcPct val="170000"/>
              </a:lnSpc>
            </a:pPr>
            <a:r>
              <a:rPr lang="en-GB" sz="1800" dirty="0">
                <a:latin typeface="Times New Roman" panose="02020603050405020304" pitchFamily="18" charset="0"/>
                <a:cs typeface="Times New Roman" panose="02020603050405020304" pitchFamily="18" charset="0"/>
              </a:rPr>
              <a:t>This study is among the first to integrate these advanced LLMs with FAISS for career guidance. The research evaluates their performance in delivering specialized guidance, offering insights into their effectiveness in real-world applications. </a:t>
            </a:r>
            <a:endParaRPr lang="en-US" sz="1800" dirty="0">
              <a:latin typeface="Times New Roman" panose="02020603050405020304" pitchFamily="18" charset="0"/>
              <a:cs typeface="Times New Roman" panose="02020603050405020304" pitchFamily="18" charset="0"/>
            </a:endParaRPr>
          </a:p>
        </p:txBody>
      </p:sp>
      <p:pic>
        <p:nvPicPr>
          <p:cNvPr id="2" name="Picture 1" descr="A close-up of a logo&#10;&#10;AI-generated content may be incorrect.">
            <a:extLst>
              <a:ext uri="{FF2B5EF4-FFF2-40B4-BE49-F238E27FC236}">
                <a16:creationId xmlns:a16="http://schemas.microsoft.com/office/drawing/2014/main" id="{26947E12-2C87-8922-0F8E-FFAFF39F123C}"/>
              </a:ext>
            </a:extLst>
          </p:cNvPr>
          <p:cNvPicPr>
            <a:picLocks noChangeAspect="1"/>
          </p:cNvPicPr>
          <p:nvPr/>
        </p:nvPicPr>
        <p:blipFill>
          <a:blip r:embed="rId2"/>
          <a:stretch>
            <a:fillRect/>
          </a:stretch>
        </p:blipFill>
        <p:spPr>
          <a:xfrm>
            <a:off x="1" y="54524"/>
            <a:ext cx="2503714" cy="621059"/>
          </a:xfrm>
          <a:prstGeom prst="rect">
            <a:avLst/>
          </a:prstGeom>
        </p:spPr>
      </p:pic>
      <p:sp>
        <p:nvSpPr>
          <p:cNvPr id="9" name="TextBox 8">
            <a:extLst>
              <a:ext uri="{FF2B5EF4-FFF2-40B4-BE49-F238E27FC236}">
                <a16:creationId xmlns:a16="http://schemas.microsoft.com/office/drawing/2014/main" id="{C3544D8F-36CB-C337-DA17-66E6F0F022A2}"/>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831778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9EAFEF31-79A4-C02E-AF74-118ECB6ABB5F}"/>
              </a:ext>
            </a:extLst>
          </p:cNvPr>
          <p:cNvSpPr/>
          <p:nvPr/>
        </p:nvSpPr>
        <p:spPr>
          <a:xfrm>
            <a:off x="565977" y="958205"/>
            <a:ext cx="11187043" cy="5516034"/>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34858D91-A6E2-19BE-892E-F85A69FB6FBC}"/>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9" name="TextBox 8">
            <a:extLst>
              <a:ext uri="{FF2B5EF4-FFF2-40B4-BE49-F238E27FC236}">
                <a16:creationId xmlns:a16="http://schemas.microsoft.com/office/drawing/2014/main" id="{75360CB5-C725-807A-D25E-C29A3B74A0C2}"/>
              </a:ext>
            </a:extLst>
          </p:cNvPr>
          <p:cNvSpPr txBox="1"/>
          <p:nvPr/>
        </p:nvSpPr>
        <p:spPr>
          <a:xfrm>
            <a:off x="2073672" y="1061824"/>
            <a:ext cx="8947826" cy="63094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400" b="1" dirty="0">
                <a:solidFill>
                  <a:srgbClr val="2E2E2E"/>
                </a:solidFill>
                <a:latin typeface="Times New Roman" panose="02020603050405020304" pitchFamily="18" charset="0"/>
                <a:ea typeface="+mn-lt"/>
                <a:cs typeface="Times New Roman" panose="02020603050405020304" pitchFamily="18" charset="0"/>
              </a:rPr>
              <a:t>PROBLEM STATEMENT &amp; MOTIVATION</a:t>
            </a:r>
            <a:endParaRPr lang="en-US" sz="3400" b="1" dirty="0">
              <a:latin typeface="Times New Roman" panose="02020603050405020304" pitchFamily="18" charset="0"/>
              <a:cs typeface="Times New Roman" panose="02020603050405020304" pitchFamily="18" charset="0"/>
            </a:endParaRPr>
          </a:p>
        </p:txBody>
      </p:sp>
      <p:sp>
        <p:nvSpPr>
          <p:cNvPr id="7" name="Date Placeholder 6">
            <a:extLst>
              <a:ext uri="{FF2B5EF4-FFF2-40B4-BE49-F238E27FC236}">
                <a16:creationId xmlns:a16="http://schemas.microsoft.com/office/drawing/2014/main" id="{533056DB-B5D0-82BF-ED79-C23D8D582832}"/>
              </a:ext>
            </a:extLst>
          </p:cNvPr>
          <p:cNvSpPr>
            <a:spLocks noGrp="1"/>
          </p:cNvSpPr>
          <p:nvPr>
            <p:ph type="dt" sz="half" idx="10"/>
          </p:nvPr>
        </p:nvSpPr>
        <p:spPr/>
        <p:txBody>
          <a:bodyPr/>
          <a:lstStyle/>
          <a:p>
            <a:fld id="{16CEDF75-BA0B-46F2-9934-DC7119806732}" type="datetime1">
              <a:rPr lang="en-US" smtClean="0"/>
              <a:t>4/21/2025</a:t>
            </a:fld>
            <a:endParaRPr lang="en-US"/>
          </a:p>
        </p:txBody>
      </p:sp>
      <p:sp>
        <p:nvSpPr>
          <p:cNvPr id="8" name="Slide Number Placeholder 7">
            <a:extLst>
              <a:ext uri="{FF2B5EF4-FFF2-40B4-BE49-F238E27FC236}">
                <a16:creationId xmlns:a16="http://schemas.microsoft.com/office/drawing/2014/main" id="{97053F54-5048-68D3-7048-A66C32C257D2}"/>
              </a:ext>
            </a:extLst>
          </p:cNvPr>
          <p:cNvSpPr>
            <a:spLocks noGrp="1"/>
          </p:cNvSpPr>
          <p:nvPr>
            <p:ph type="sldNum" sz="quarter" idx="12"/>
          </p:nvPr>
        </p:nvSpPr>
        <p:spPr/>
        <p:txBody>
          <a:bodyPr/>
          <a:lstStyle/>
          <a:p>
            <a:fld id="{48F63A3B-78C7-47BE-AE5E-E10140E04643}" type="slidenum">
              <a:rPr lang="en-US" dirty="0"/>
              <a:t>4</a:t>
            </a:fld>
            <a:endParaRPr lang="en-US"/>
          </a:p>
        </p:txBody>
      </p:sp>
      <p:pic>
        <p:nvPicPr>
          <p:cNvPr id="3" name="Picture 2" descr="A close-up of a logo&#10;&#10;AI-generated content may be incorrect.">
            <a:extLst>
              <a:ext uri="{FF2B5EF4-FFF2-40B4-BE49-F238E27FC236}">
                <a16:creationId xmlns:a16="http://schemas.microsoft.com/office/drawing/2014/main" id="{A42F6A37-7DED-FA50-C6A7-812E6D59C395}"/>
              </a:ext>
            </a:extLst>
          </p:cNvPr>
          <p:cNvPicPr>
            <a:picLocks noChangeAspect="1"/>
          </p:cNvPicPr>
          <p:nvPr/>
        </p:nvPicPr>
        <p:blipFill>
          <a:blip r:embed="rId2"/>
          <a:stretch>
            <a:fillRect/>
          </a:stretch>
        </p:blipFill>
        <p:spPr>
          <a:xfrm>
            <a:off x="1" y="54524"/>
            <a:ext cx="2503714" cy="621059"/>
          </a:xfrm>
          <a:prstGeom prst="rect">
            <a:avLst/>
          </a:prstGeom>
        </p:spPr>
      </p:pic>
      <p:sp>
        <p:nvSpPr>
          <p:cNvPr id="10" name="TextBox 9">
            <a:extLst>
              <a:ext uri="{FF2B5EF4-FFF2-40B4-BE49-F238E27FC236}">
                <a16:creationId xmlns:a16="http://schemas.microsoft.com/office/drawing/2014/main" id="{830E1822-0372-F057-AA73-777D51D94887}"/>
              </a:ext>
            </a:extLst>
          </p:cNvPr>
          <p:cNvSpPr txBox="1"/>
          <p:nvPr/>
        </p:nvSpPr>
        <p:spPr>
          <a:xfrm>
            <a:off x="956799" y="1692766"/>
            <a:ext cx="9865893" cy="1421992"/>
          </a:xfrm>
          <a:prstGeom prst="rect">
            <a:avLst/>
          </a:prstGeom>
          <a:noFill/>
        </p:spPr>
        <p:txBody>
          <a:bodyPr wrap="square">
            <a:spAutoFit/>
          </a:bodyPr>
          <a:lstStyle/>
          <a:p>
            <a:pPr algn="just">
              <a:lnSpc>
                <a:spcPct val="150000"/>
              </a:lnSpc>
            </a:pPr>
            <a:r>
              <a:rPr lang="en-US" sz="2000" dirty="0">
                <a:latin typeface="Times New Roman"/>
                <a:ea typeface="+mn-lt"/>
                <a:cs typeface="+mn-lt"/>
              </a:rPr>
              <a:t>To design and evaluate a Retrieval-Augmented Generation (RAG) system that delivers personalized career guidance by leveraging user-specific data, such as academic skills , to improve the accuracy and relevance of career recommendations.</a:t>
            </a:r>
            <a:endParaRPr lang="en-US" sz="2000" dirty="0">
              <a:latin typeface="Times New Roman"/>
              <a:cs typeface="Times New Roman"/>
            </a:endParaRPr>
          </a:p>
        </p:txBody>
      </p:sp>
      <p:sp>
        <p:nvSpPr>
          <p:cNvPr id="2" name="TextBox 1">
            <a:extLst>
              <a:ext uri="{FF2B5EF4-FFF2-40B4-BE49-F238E27FC236}">
                <a16:creationId xmlns:a16="http://schemas.microsoft.com/office/drawing/2014/main" id="{B3D24DC9-C1CC-8530-55B3-3C8CDCA9B9F6}"/>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39213863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9EAFEF31-79A4-C02E-AF74-118ECB6ABB5F}"/>
              </a:ext>
            </a:extLst>
          </p:cNvPr>
          <p:cNvSpPr/>
          <p:nvPr/>
        </p:nvSpPr>
        <p:spPr>
          <a:xfrm>
            <a:off x="565977" y="791077"/>
            <a:ext cx="11187043" cy="5683161"/>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4DFCAC29-7880-000E-6587-699F9A48E609}"/>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34858D91-A6E2-19BE-892E-F85A69FB6FBC}"/>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9" name="TextBox 8">
            <a:extLst>
              <a:ext uri="{FF2B5EF4-FFF2-40B4-BE49-F238E27FC236}">
                <a16:creationId xmlns:a16="http://schemas.microsoft.com/office/drawing/2014/main" id="{75360CB5-C725-807A-D25E-C29A3B74A0C2}"/>
              </a:ext>
            </a:extLst>
          </p:cNvPr>
          <p:cNvSpPr txBox="1"/>
          <p:nvPr/>
        </p:nvSpPr>
        <p:spPr>
          <a:xfrm>
            <a:off x="3619136" y="803975"/>
            <a:ext cx="4953727" cy="5539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000" b="1" dirty="0">
                <a:solidFill>
                  <a:srgbClr val="2E2E2E"/>
                </a:solidFill>
                <a:latin typeface="Times New Roman" panose="02020603050405020304" pitchFamily="18" charset="0"/>
                <a:ea typeface="+mn-lt"/>
                <a:cs typeface="Times New Roman" panose="02020603050405020304" pitchFamily="18" charset="0"/>
              </a:rPr>
              <a:t>DATASET DESCRIPTION</a:t>
            </a:r>
            <a:endParaRPr lang="en-US" sz="3000" dirty="0">
              <a:latin typeface="Times New Roman" panose="02020603050405020304" pitchFamily="18" charset="0"/>
              <a:cs typeface="Times New Roman" panose="02020603050405020304" pitchFamily="18" charset="0"/>
            </a:endParaRPr>
          </a:p>
        </p:txBody>
      </p:sp>
      <p:sp>
        <p:nvSpPr>
          <p:cNvPr id="8" name="Date Placeholder 7">
            <a:extLst>
              <a:ext uri="{FF2B5EF4-FFF2-40B4-BE49-F238E27FC236}">
                <a16:creationId xmlns:a16="http://schemas.microsoft.com/office/drawing/2014/main" id="{29B1CF74-2CB6-0D05-C4CF-81F751DB2BF2}"/>
              </a:ext>
            </a:extLst>
          </p:cNvPr>
          <p:cNvSpPr>
            <a:spLocks noGrp="1"/>
          </p:cNvSpPr>
          <p:nvPr>
            <p:ph type="dt" sz="half" idx="10"/>
          </p:nvPr>
        </p:nvSpPr>
        <p:spPr/>
        <p:txBody>
          <a:bodyPr/>
          <a:lstStyle/>
          <a:p>
            <a:fld id="{20E1F8A1-A260-43E4-B67A-5CE8FA911EE5}" type="datetime1">
              <a:rPr lang="en-US" smtClean="0"/>
              <a:t>4/21/2025</a:t>
            </a:fld>
            <a:endParaRPr lang="en-US"/>
          </a:p>
        </p:txBody>
      </p:sp>
      <p:sp>
        <p:nvSpPr>
          <p:cNvPr id="11" name="Slide Number Placeholder 10">
            <a:extLst>
              <a:ext uri="{FF2B5EF4-FFF2-40B4-BE49-F238E27FC236}">
                <a16:creationId xmlns:a16="http://schemas.microsoft.com/office/drawing/2014/main" id="{8365A448-22DB-1E8D-0430-EA8AFB2D0463}"/>
              </a:ext>
            </a:extLst>
          </p:cNvPr>
          <p:cNvSpPr>
            <a:spLocks noGrp="1"/>
          </p:cNvSpPr>
          <p:nvPr>
            <p:ph type="sldNum" sz="quarter" idx="12"/>
          </p:nvPr>
        </p:nvSpPr>
        <p:spPr/>
        <p:txBody>
          <a:bodyPr/>
          <a:lstStyle/>
          <a:p>
            <a:fld id="{48F63A3B-78C7-47BE-AE5E-E10140E04643}" type="slidenum">
              <a:rPr lang="en-US" dirty="0"/>
              <a:t>5</a:t>
            </a:fld>
            <a:endParaRPr lang="en-US"/>
          </a:p>
        </p:txBody>
      </p:sp>
      <p:pic>
        <p:nvPicPr>
          <p:cNvPr id="6" name="Picture 5" descr="A close-up of a logo&#10;&#10;AI-generated content may be incorrect.">
            <a:extLst>
              <a:ext uri="{FF2B5EF4-FFF2-40B4-BE49-F238E27FC236}">
                <a16:creationId xmlns:a16="http://schemas.microsoft.com/office/drawing/2014/main" id="{35B3D8AF-5E26-6FDA-36C6-0A4542340137}"/>
              </a:ext>
            </a:extLst>
          </p:cNvPr>
          <p:cNvPicPr>
            <a:picLocks noChangeAspect="1"/>
          </p:cNvPicPr>
          <p:nvPr/>
        </p:nvPicPr>
        <p:blipFill>
          <a:blip r:embed="rId2"/>
          <a:stretch>
            <a:fillRect/>
          </a:stretch>
        </p:blipFill>
        <p:spPr>
          <a:xfrm>
            <a:off x="1" y="54524"/>
            <a:ext cx="2503714" cy="621059"/>
          </a:xfrm>
          <a:prstGeom prst="rect">
            <a:avLst/>
          </a:prstGeom>
        </p:spPr>
      </p:pic>
      <p:graphicFrame>
        <p:nvGraphicFramePr>
          <p:cNvPr id="10" name="Table 9">
            <a:extLst>
              <a:ext uri="{FF2B5EF4-FFF2-40B4-BE49-F238E27FC236}">
                <a16:creationId xmlns:a16="http://schemas.microsoft.com/office/drawing/2014/main" id="{B84EF22E-433A-D3C5-77C4-0759C16E9DA3}"/>
              </a:ext>
            </a:extLst>
          </p:cNvPr>
          <p:cNvGraphicFramePr>
            <a:graphicFrameLocks noGrp="1"/>
          </p:cNvGraphicFramePr>
          <p:nvPr>
            <p:extLst>
              <p:ext uri="{D42A27DB-BD31-4B8C-83A1-F6EECF244321}">
                <p14:modId xmlns:p14="http://schemas.microsoft.com/office/powerpoint/2010/main" val="2010954676"/>
              </p:ext>
            </p:extLst>
          </p:nvPr>
        </p:nvGraphicFramePr>
        <p:xfrm>
          <a:off x="2889796" y="1732280"/>
          <a:ext cx="6539402" cy="1696720"/>
        </p:xfrm>
        <a:graphic>
          <a:graphicData uri="http://schemas.openxmlformats.org/drawingml/2006/table">
            <a:tbl>
              <a:tblPr firstRow="1" bandRow="1">
                <a:tableStyleId>{5C22544A-7EE6-4342-B048-85BDC9FD1C3A}</a:tableStyleId>
              </a:tblPr>
              <a:tblGrid>
                <a:gridCol w="3269701">
                  <a:extLst>
                    <a:ext uri="{9D8B030D-6E8A-4147-A177-3AD203B41FA5}">
                      <a16:colId xmlns:a16="http://schemas.microsoft.com/office/drawing/2014/main" val="3852610623"/>
                    </a:ext>
                  </a:extLst>
                </a:gridCol>
                <a:gridCol w="3269701">
                  <a:extLst>
                    <a:ext uri="{9D8B030D-6E8A-4147-A177-3AD203B41FA5}">
                      <a16:colId xmlns:a16="http://schemas.microsoft.com/office/drawing/2014/main" val="3288780066"/>
                    </a:ext>
                  </a:extLst>
                </a:gridCol>
              </a:tblGrid>
              <a:tr h="370840">
                <a:tc>
                  <a:txBody>
                    <a:bodyPr/>
                    <a:lstStyle/>
                    <a:p>
                      <a:pPr lvl="0">
                        <a:buNone/>
                      </a:pPr>
                      <a:r>
                        <a:rPr lang="en-US" sz="1500" dirty="0">
                          <a:latin typeface="Times New Roman"/>
                        </a:rPr>
                        <a:t>Name</a:t>
                      </a:r>
                    </a:p>
                  </a:txBody>
                  <a:tcPr/>
                </a:tc>
                <a:tc>
                  <a:txBody>
                    <a:bodyPr/>
                    <a:lstStyle/>
                    <a:p>
                      <a:r>
                        <a:rPr lang="en-US" sz="1500" dirty="0">
                          <a:latin typeface="Times New Roman"/>
                        </a:rPr>
                        <a:t>Description</a:t>
                      </a:r>
                    </a:p>
                  </a:txBody>
                  <a:tcPr/>
                </a:tc>
                <a:extLst>
                  <a:ext uri="{0D108BD9-81ED-4DB2-BD59-A6C34878D82A}">
                    <a16:rowId xmlns:a16="http://schemas.microsoft.com/office/drawing/2014/main" val="3607256990"/>
                  </a:ext>
                </a:extLst>
              </a:tr>
              <a:tr h="370840">
                <a:tc>
                  <a:txBody>
                    <a:bodyPr/>
                    <a:lstStyle/>
                    <a:p>
                      <a:r>
                        <a:rPr lang="en-US" sz="1500" dirty="0">
                          <a:latin typeface="Times New Roman"/>
                        </a:rPr>
                        <a:t>O*Net Database</a:t>
                      </a:r>
                    </a:p>
                  </a:txBody>
                  <a:tcPr/>
                </a:tc>
                <a:tc>
                  <a:txBody>
                    <a:bodyPr/>
                    <a:lstStyle/>
                    <a:p>
                      <a:r>
                        <a:rPr lang="en-US" sz="1500" dirty="0">
                          <a:latin typeface="Times New Roman"/>
                        </a:rPr>
                        <a:t>A collection of job titles and their descriptions, along with job codes for each job entry. </a:t>
                      </a:r>
                    </a:p>
                  </a:txBody>
                  <a:tcPr/>
                </a:tc>
                <a:extLst>
                  <a:ext uri="{0D108BD9-81ED-4DB2-BD59-A6C34878D82A}">
                    <a16:rowId xmlns:a16="http://schemas.microsoft.com/office/drawing/2014/main" val="1316368171"/>
                  </a:ext>
                </a:extLst>
              </a:tr>
              <a:tr h="370839">
                <a:tc>
                  <a:txBody>
                    <a:bodyPr/>
                    <a:lstStyle/>
                    <a:p>
                      <a:pPr lvl="0">
                        <a:buNone/>
                      </a:pPr>
                      <a:r>
                        <a:rPr lang="en-US" sz="1500" dirty="0">
                          <a:latin typeface="Times New Roman"/>
                        </a:rPr>
                        <a:t>Resume Dataset </a:t>
                      </a:r>
                    </a:p>
                  </a:txBody>
                  <a:tcPr/>
                </a:tc>
                <a:tc>
                  <a:txBody>
                    <a:bodyPr/>
                    <a:lstStyle/>
                    <a:p>
                      <a:pPr lvl="0">
                        <a:buNone/>
                      </a:pPr>
                      <a:r>
                        <a:rPr lang="en-US" sz="1500" dirty="0">
                          <a:latin typeface="Times New Roman"/>
                        </a:rPr>
                        <a:t>Labeled dataset created for finetuning the parsing model. </a:t>
                      </a:r>
                    </a:p>
                  </a:txBody>
                  <a:tcPr/>
                </a:tc>
                <a:extLst>
                  <a:ext uri="{0D108BD9-81ED-4DB2-BD59-A6C34878D82A}">
                    <a16:rowId xmlns:a16="http://schemas.microsoft.com/office/drawing/2014/main" val="1843743440"/>
                  </a:ext>
                </a:extLst>
              </a:tr>
            </a:tbl>
          </a:graphicData>
        </a:graphic>
      </p:graphicFrame>
      <p:sp>
        <p:nvSpPr>
          <p:cNvPr id="2" name="TextBox 1">
            <a:extLst>
              <a:ext uri="{FF2B5EF4-FFF2-40B4-BE49-F238E27FC236}">
                <a16:creationId xmlns:a16="http://schemas.microsoft.com/office/drawing/2014/main" id="{3992D261-36B0-8127-E32F-9CBB7274C973}"/>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41846154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9EAFEF31-79A4-C02E-AF74-118ECB6ABB5F}"/>
              </a:ext>
            </a:extLst>
          </p:cNvPr>
          <p:cNvSpPr/>
          <p:nvPr/>
        </p:nvSpPr>
        <p:spPr>
          <a:xfrm>
            <a:off x="565977" y="841853"/>
            <a:ext cx="11187043" cy="5632386"/>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4DFCAC29-7880-000E-6587-699F9A48E609}"/>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34858D91-A6E2-19BE-892E-F85A69FB6FBC}"/>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9" name="TextBox 8">
            <a:extLst>
              <a:ext uri="{FF2B5EF4-FFF2-40B4-BE49-F238E27FC236}">
                <a16:creationId xmlns:a16="http://schemas.microsoft.com/office/drawing/2014/main" id="{75360CB5-C725-807A-D25E-C29A3B74A0C2}"/>
              </a:ext>
            </a:extLst>
          </p:cNvPr>
          <p:cNvSpPr txBox="1"/>
          <p:nvPr/>
        </p:nvSpPr>
        <p:spPr>
          <a:xfrm>
            <a:off x="3483484" y="863137"/>
            <a:ext cx="5627163" cy="61555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400" b="1" dirty="0">
                <a:solidFill>
                  <a:srgbClr val="2E2E2E"/>
                </a:solidFill>
                <a:latin typeface="Times New Roman" panose="02020603050405020304" pitchFamily="18" charset="0"/>
                <a:ea typeface="+mn-lt"/>
                <a:cs typeface="Times New Roman" panose="02020603050405020304" pitchFamily="18" charset="0"/>
              </a:rPr>
              <a:t>LITERATURE SURVEY -01</a:t>
            </a:r>
            <a:endParaRPr lang="en-US" sz="3400" b="1" dirty="0">
              <a:latin typeface="Times New Roman" panose="02020603050405020304" pitchFamily="18" charset="0"/>
              <a:cs typeface="Times New Roman" panose="02020603050405020304" pitchFamily="18" charset="0"/>
            </a:endParaRPr>
          </a:p>
        </p:txBody>
      </p:sp>
      <p:sp>
        <p:nvSpPr>
          <p:cNvPr id="7" name="Date Placeholder 6">
            <a:extLst>
              <a:ext uri="{FF2B5EF4-FFF2-40B4-BE49-F238E27FC236}">
                <a16:creationId xmlns:a16="http://schemas.microsoft.com/office/drawing/2014/main" id="{E0DBD38D-00DD-B2EA-26DC-56713B413A3C}"/>
              </a:ext>
            </a:extLst>
          </p:cNvPr>
          <p:cNvSpPr>
            <a:spLocks noGrp="1"/>
          </p:cNvSpPr>
          <p:nvPr>
            <p:ph type="dt" sz="half" idx="10"/>
          </p:nvPr>
        </p:nvSpPr>
        <p:spPr/>
        <p:txBody>
          <a:bodyPr/>
          <a:lstStyle/>
          <a:p>
            <a:fld id="{73CEFC39-C9CA-46A7-AAF4-69E9C90574A5}" type="datetime1">
              <a:rPr lang="en-US" smtClean="0"/>
              <a:t>4/21/2025</a:t>
            </a:fld>
            <a:endParaRPr lang="en-US"/>
          </a:p>
        </p:txBody>
      </p:sp>
      <p:sp>
        <p:nvSpPr>
          <p:cNvPr id="10" name="Slide Number Placeholder 9">
            <a:extLst>
              <a:ext uri="{FF2B5EF4-FFF2-40B4-BE49-F238E27FC236}">
                <a16:creationId xmlns:a16="http://schemas.microsoft.com/office/drawing/2014/main" id="{3971671B-6B79-B6AB-6ED8-3FC030BCA4C7}"/>
              </a:ext>
            </a:extLst>
          </p:cNvPr>
          <p:cNvSpPr>
            <a:spLocks noGrp="1"/>
          </p:cNvSpPr>
          <p:nvPr>
            <p:ph type="sldNum" sz="quarter" idx="12"/>
          </p:nvPr>
        </p:nvSpPr>
        <p:spPr/>
        <p:txBody>
          <a:bodyPr/>
          <a:lstStyle/>
          <a:p>
            <a:fld id="{48F63A3B-78C7-47BE-AE5E-E10140E04643}" type="slidenum">
              <a:rPr lang="en-US" dirty="0"/>
              <a:t>6</a:t>
            </a:fld>
            <a:endParaRPr lang="en-US" dirty="0"/>
          </a:p>
        </p:txBody>
      </p:sp>
      <p:pic>
        <p:nvPicPr>
          <p:cNvPr id="2" name="Picture 1" descr="A close-up of a logo&#10;&#10;AI-generated content may be incorrect.">
            <a:extLst>
              <a:ext uri="{FF2B5EF4-FFF2-40B4-BE49-F238E27FC236}">
                <a16:creationId xmlns:a16="http://schemas.microsoft.com/office/drawing/2014/main" id="{147F3C15-0FC3-D4F9-1820-D9A4CA054AF6}"/>
              </a:ext>
            </a:extLst>
          </p:cNvPr>
          <p:cNvPicPr>
            <a:picLocks noChangeAspect="1"/>
          </p:cNvPicPr>
          <p:nvPr/>
        </p:nvPicPr>
        <p:blipFill>
          <a:blip r:embed="rId2"/>
          <a:stretch>
            <a:fillRect/>
          </a:stretch>
        </p:blipFill>
        <p:spPr>
          <a:xfrm>
            <a:off x="0" y="85821"/>
            <a:ext cx="2503714" cy="621059"/>
          </a:xfrm>
          <a:prstGeom prst="rect">
            <a:avLst/>
          </a:prstGeom>
        </p:spPr>
      </p:pic>
      <p:graphicFrame>
        <p:nvGraphicFramePr>
          <p:cNvPr id="5" name="Table 6">
            <a:extLst>
              <a:ext uri="{FF2B5EF4-FFF2-40B4-BE49-F238E27FC236}">
                <a16:creationId xmlns:a16="http://schemas.microsoft.com/office/drawing/2014/main" id="{012EA933-AC32-2358-B248-2514538B98E0}"/>
              </a:ext>
            </a:extLst>
          </p:cNvPr>
          <p:cNvGraphicFramePr>
            <a:graphicFrameLocks/>
          </p:cNvGraphicFramePr>
          <p:nvPr>
            <p:extLst>
              <p:ext uri="{D42A27DB-BD31-4B8C-83A1-F6EECF244321}">
                <p14:modId xmlns:p14="http://schemas.microsoft.com/office/powerpoint/2010/main" val="4042495423"/>
              </p:ext>
            </p:extLst>
          </p:nvPr>
        </p:nvGraphicFramePr>
        <p:xfrm>
          <a:off x="1148344" y="1477282"/>
          <a:ext cx="10022307" cy="4551175"/>
        </p:xfrm>
        <a:graphic>
          <a:graphicData uri="http://schemas.openxmlformats.org/drawingml/2006/table">
            <a:tbl>
              <a:tblPr firstRow="1" bandRow="1">
                <a:tableStyleId>{5C22544A-7EE6-4342-B048-85BDC9FD1C3A}</a:tableStyleId>
              </a:tblPr>
              <a:tblGrid>
                <a:gridCol w="971758">
                  <a:extLst>
                    <a:ext uri="{9D8B030D-6E8A-4147-A177-3AD203B41FA5}">
                      <a16:colId xmlns:a16="http://schemas.microsoft.com/office/drawing/2014/main" val="20000"/>
                    </a:ext>
                  </a:extLst>
                </a:gridCol>
                <a:gridCol w="1338022">
                  <a:extLst>
                    <a:ext uri="{9D8B030D-6E8A-4147-A177-3AD203B41FA5}">
                      <a16:colId xmlns:a16="http://schemas.microsoft.com/office/drawing/2014/main" val="20001"/>
                    </a:ext>
                  </a:extLst>
                </a:gridCol>
                <a:gridCol w="3006119">
                  <a:extLst>
                    <a:ext uri="{9D8B030D-6E8A-4147-A177-3AD203B41FA5}">
                      <a16:colId xmlns:a16="http://schemas.microsoft.com/office/drawing/2014/main" val="20002"/>
                    </a:ext>
                  </a:extLst>
                </a:gridCol>
                <a:gridCol w="2039962">
                  <a:extLst>
                    <a:ext uri="{9D8B030D-6E8A-4147-A177-3AD203B41FA5}">
                      <a16:colId xmlns:a16="http://schemas.microsoft.com/office/drawing/2014/main" val="20003"/>
                    </a:ext>
                  </a:extLst>
                </a:gridCol>
                <a:gridCol w="2666446">
                  <a:extLst>
                    <a:ext uri="{9D8B030D-6E8A-4147-A177-3AD203B41FA5}">
                      <a16:colId xmlns:a16="http://schemas.microsoft.com/office/drawing/2014/main" val="20004"/>
                    </a:ext>
                  </a:extLst>
                </a:gridCol>
              </a:tblGrid>
              <a:tr h="458446">
                <a:tc>
                  <a:txBody>
                    <a:bodyPr/>
                    <a:lstStyle/>
                    <a:p>
                      <a:pPr algn="just"/>
                      <a:r>
                        <a:rPr lang="en-US" sz="1500" b="1">
                          <a:latin typeface="Times New Roman" panose="02020603050405020304" pitchFamily="18" charset="0"/>
                          <a:cs typeface="Times New Roman" panose="02020603050405020304" pitchFamily="18" charset="0"/>
                        </a:rPr>
                        <a:t>Ref # &amp;Year</a:t>
                      </a:r>
                      <a:endParaRPr lang="en-IN" sz="1500" b="1">
                        <a:latin typeface="Times New Roman" panose="02020603050405020304" pitchFamily="18" charset="0"/>
                        <a:cs typeface="Times New Roman" panose="02020603050405020304" pitchFamily="18" charset="0"/>
                      </a:endParaRPr>
                    </a:p>
                  </a:txBody>
                  <a:tcPr marL="68578" marR="68578" marT="34296" marB="34296"/>
                </a:tc>
                <a:tc>
                  <a:txBody>
                    <a:bodyPr/>
                    <a:lstStyle/>
                    <a:p>
                      <a:pPr algn="just"/>
                      <a:r>
                        <a:rPr lang="en-US" sz="1500" b="1">
                          <a:latin typeface="Times New Roman" panose="02020603050405020304" pitchFamily="18" charset="0"/>
                          <a:cs typeface="Times New Roman" panose="02020603050405020304" pitchFamily="18" charset="0"/>
                        </a:rPr>
                        <a:t>Title</a:t>
                      </a:r>
                      <a:endParaRPr lang="en-IN" sz="1500" b="1">
                        <a:latin typeface="Times New Roman" panose="02020603050405020304" pitchFamily="18" charset="0"/>
                        <a:cs typeface="Times New Roman" panose="02020603050405020304" pitchFamily="18" charset="0"/>
                      </a:endParaRPr>
                    </a:p>
                  </a:txBody>
                  <a:tcPr marL="68578" marR="68578" marT="34296" marB="34296"/>
                </a:tc>
                <a:tc>
                  <a:txBody>
                    <a:bodyPr/>
                    <a:lstStyle/>
                    <a:p>
                      <a:pPr algn="just"/>
                      <a:r>
                        <a:rPr lang="en-US" sz="1500" b="1">
                          <a:latin typeface="Times New Roman" panose="02020603050405020304" pitchFamily="18" charset="0"/>
                          <a:cs typeface="Times New Roman" panose="02020603050405020304" pitchFamily="18" charset="0"/>
                        </a:rPr>
                        <a:t>Problem Statement</a:t>
                      </a:r>
                      <a:endParaRPr lang="en-IN" sz="1500" b="1">
                        <a:latin typeface="Times New Roman" panose="02020603050405020304" pitchFamily="18" charset="0"/>
                        <a:cs typeface="Times New Roman" panose="02020603050405020304" pitchFamily="18" charset="0"/>
                      </a:endParaRPr>
                    </a:p>
                  </a:txBody>
                  <a:tcPr marL="68578" marR="68578" marT="34296" marB="34296"/>
                </a:tc>
                <a:tc>
                  <a:txBody>
                    <a:bodyPr/>
                    <a:lstStyle/>
                    <a:p>
                      <a:pPr algn="just"/>
                      <a:r>
                        <a:rPr lang="en-US" sz="1500" b="1">
                          <a:latin typeface="Times New Roman" panose="02020603050405020304" pitchFamily="18" charset="0"/>
                          <a:cs typeface="Times New Roman" panose="02020603050405020304" pitchFamily="18" charset="0"/>
                        </a:rPr>
                        <a:t>Dataset</a:t>
                      </a:r>
                      <a:endParaRPr lang="en-IN" sz="1500" b="1">
                        <a:latin typeface="Times New Roman" panose="02020603050405020304" pitchFamily="18" charset="0"/>
                        <a:cs typeface="Times New Roman" panose="02020603050405020304" pitchFamily="18" charset="0"/>
                      </a:endParaRPr>
                    </a:p>
                  </a:txBody>
                  <a:tcPr marL="68578" marR="68578" marT="34296" marB="34296"/>
                </a:tc>
                <a:tc>
                  <a:txBody>
                    <a:bodyPr/>
                    <a:lstStyle/>
                    <a:p>
                      <a:pPr algn="just"/>
                      <a:r>
                        <a:rPr lang="en-US" sz="1500" b="1">
                          <a:latin typeface="Times New Roman" panose="02020603050405020304" pitchFamily="18" charset="0"/>
                          <a:cs typeface="Times New Roman" panose="02020603050405020304" pitchFamily="18" charset="0"/>
                        </a:rPr>
                        <a:t>Methodology</a:t>
                      </a:r>
                      <a:endParaRPr lang="en-IN" sz="1500" b="1">
                        <a:latin typeface="Times New Roman" panose="02020603050405020304" pitchFamily="18" charset="0"/>
                        <a:cs typeface="Times New Roman" panose="02020603050405020304" pitchFamily="18" charset="0"/>
                      </a:endParaRPr>
                    </a:p>
                  </a:txBody>
                  <a:tcPr marL="68578" marR="68578" marT="34301" marB="34301"/>
                </a:tc>
                <a:extLst>
                  <a:ext uri="{0D108BD9-81ED-4DB2-BD59-A6C34878D82A}">
                    <a16:rowId xmlns:a16="http://schemas.microsoft.com/office/drawing/2014/main" val="10000"/>
                  </a:ext>
                </a:extLst>
              </a:tr>
              <a:tr h="4025383">
                <a:tc>
                  <a:txBody>
                    <a:bodyPr/>
                    <a:lstStyle/>
                    <a:p>
                      <a:pPr lvl="0" algn="just">
                        <a:buNone/>
                      </a:pPr>
                      <a:r>
                        <a:rPr lang="en-IN" sz="1500" b="0" u="none" strike="noStrike" noProof="0" dirty="0">
                          <a:solidFill>
                            <a:srgbClr val="333333"/>
                          </a:solidFill>
                          <a:latin typeface="Times New Roman" panose="02020603050405020304" pitchFamily="18" charset="0"/>
                          <a:cs typeface="Times New Roman" panose="02020603050405020304" pitchFamily="18" charset="0"/>
                        </a:rPr>
                        <a:t>February 2023</a:t>
                      </a:r>
                      <a:endParaRPr lang="en-US" sz="1500" dirty="0">
                        <a:latin typeface="Times New Roman" panose="02020603050405020304" pitchFamily="18" charset="0"/>
                        <a:cs typeface="Times New Roman" panose="02020603050405020304" pitchFamily="18" charset="0"/>
                      </a:endParaRPr>
                    </a:p>
                  </a:txBody>
                  <a:tcPr marL="68578" marR="68578" marT="34296" marB="34296"/>
                </a:tc>
                <a:tc>
                  <a:txBody>
                    <a:bodyPr/>
                    <a:lstStyle/>
                    <a:p>
                      <a:pPr lvl="0" algn="just">
                        <a:buNone/>
                      </a:pPr>
                      <a:r>
                        <a:rPr lang="en-GB" sz="1500" b="0" u="none" strike="noStrike" noProof="0" dirty="0">
                          <a:latin typeface="Times New Roman" panose="02020603050405020304" pitchFamily="18" charset="0"/>
                          <a:cs typeface="Times New Roman" panose="02020603050405020304" pitchFamily="18" charset="0"/>
                        </a:rPr>
                        <a:t>Scraping Google Scholar Data Using Cloud Computing Techniques [1] </a:t>
                      </a:r>
                      <a:endParaRPr lang="en-US" sz="1500" dirty="0">
                        <a:latin typeface="Times New Roman" panose="02020603050405020304" pitchFamily="18" charset="0"/>
                        <a:cs typeface="Times New Roman" panose="02020603050405020304" pitchFamily="18" charset="0"/>
                      </a:endParaRPr>
                    </a:p>
                  </a:txBody>
                  <a:tcPr marL="68578" marR="68578" marT="34296" marB="34296"/>
                </a:tc>
                <a:tc>
                  <a:txBody>
                    <a:bodyPr/>
                    <a:lstStyle/>
                    <a:p>
                      <a:pPr marL="0" lvl="0" indent="0" algn="just">
                        <a:buNone/>
                      </a:pPr>
                      <a:r>
                        <a:rPr lang="en-GB" sz="1500" b="0" u="none" strike="noStrike" kern="1200" noProof="0" dirty="0">
                          <a:solidFill>
                            <a:srgbClr val="000000"/>
                          </a:solidFill>
                          <a:effectLst/>
                          <a:latin typeface="Times New Roman" panose="02020603050405020304" pitchFamily="18" charset="0"/>
                          <a:cs typeface="Times New Roman" panose="02020603050405020304" pitchFamily="18" charset="0"/>
                        </a:rPr>
                        <a:t> The paper revolves around the challenges of collecting and </a:t>
                      </a:r>
                      <a:r>
                        <a:rPr lang="en-GB" sz="1500" b="0" u="none" strike="noStrike" kern="1200" noProof="0" dirty="0" err="1">
                          <a:solidFill>
                            <a:srgbClr val="000000"/>
                          </a:solidFill>
                          <a:effectLst/>
                          <a:latin typeface="Times New Roman" panose="02020603050405020304" pitchFamily="18" charset="0"/>
                          <a:cs typeface="Times New Roman" panose="02020603050405020304" pitchFamily="18" charset="0"/>
                        </a:rPr>
                        <a:t>analyzing</a:t>
                      </a:r>
                      <a:r>
                        <a:rPr lang="en-GB" sz="1500" b="0" u="none" strike="noStrike" kern="1200" noProof="0" dirty="0">
                          <a:solidFill>
                            <a:srgbClr val="000000"/>
                          </a:solidFill>
                          <a:effectLst/>
                          <a:latin typeface="Times New Roman" panose="02020603050405020304" pitchFamily="18" charset="0"/>
                          <a:cs typeface="Times New Roman" panose="02020603050405020304" pitchFamily="18" charset="0"/>
                        </a:rPr>
                        <a:t> unstructured data from the web, particularly from Google Scholar, and the need for effective scraping techniques to overcome these challenges. The proposed solution is a custom-built scraper that leverages specific methods and programming tools to enhance data collection efficiency.</a:t>
                      </a:r>
                      <a:endParaRPr lang="en-US" sz="1500" dirty="0">
                        <a:latin typeface="Times New Roman" panose="02020603050405020304" pitchFamily="18" charset="0"/>
                        <a:cs typeface="Times New Roman" panose="02020603050405020304" pitchFamily="18" charset="0"/>
                      </a:endParaRPr>
                    </a:p>
                  </a:txBody>
                  <a:tcPr marL="68578" marR="68578" marT="34296" marB="34296"/>
                </a:tc>
                <a:tc>
                  <a:txBody>
                    <a:bodyPr/>
                    <a:lstStyle/>
                    <a:p>
                      <a:pPr algn="just"/>
                      <a:r>
                        <a:rPr lang="en-GB" sz="1500" b="0" kern="1200" dirty="0">
                          <a:solidFill>
                            <a:schemeClr val="tx1"/>
                          </a:solidFill>
                          <a:effectLst/>
                          <a:latin typeface="Times New Roman" panose="02020603050405020304" pitchFamily="18" charset="0"/>
                          <a:cs typeface="Times New Roman" panose="02020603050405020304" pitchFamily="18" charset="0"/>
                        </a:rPr>
                        <a:t>Scraped and Unstructured </a:t>
                      </a:r>
                      <a:r>
                        <a:rPr lang="en-GB" sz="1500" b="0" u="none" strike="noStrike" kern="1200" noProof="0" dirty="0">
                          <a:solidFill>
                            <a:schemeClr val="tx1"/>
                          </a:solidFill>
                          <a:effectLst/>
                          <a:latin typeface="Times New Roman" panose="02020603050405020304" pitchFamily="18" charset="0"/>
                          <a:cs typeface="Times New Roman" panose="02020603050405020304" pitchFamily="18" charset="0"/>
                        </a:rPr>
                        <a:t>data from Google Scholar</a:t>
                      </a:r>
                      <a:endParaRPr lang="en-GB" sz="1500" b="0" i="0" kern="1200" dirty="0">
                        <a:solidFill>
                          <a:schemeClr val="tx1"/>
                        </a:solidFill>
                        <a:effectLst/>
                        <a:latin typeface="Times New Roman" panose="02020603050405020304" pitchFamily="18" charset="0"/>
                        <a:ea typeface="+mn-ea"/>
                        <a:cs typeface="Times New Roman" panose="02020603050405020304" pitchFamily="18" charset="0"/>
                      </a:endParaRPr>
                    </a:p>
                  </a:txBody>
                  <a:tcPr marL="68578" marR="68578" marT="34296" marB="34296"/>
                </a:tc>
                <a:tc>
                  <a:txBody>
                    <a:bodyPr/>
                    <a:lstStyle/>
                    <a:p>
                      <a:pPr marL="0" lvl="0" indent="0" algn="just">
                        <a:buNone/>
                      </a:pPr>
                      <a:r>
                        <a:rPr lang="en-GB" sz="1500" b="0" u="none" strike="noStrike" kern="1200" noProof="0" dirty="0">
                          <a:solidFill>
                            <a:schemeClr val="tx1"/>
                          </a:solidFill>
                          <a:effectLst/>
                          <a:latin typeface="Times New Roman" panose="02020603050405020304" pitchFamily="18" charset="0"/>
                          <a:cs typeface="Times New Roman" panose="02020603050405020304" pitchFamily="18" charset="0"/>
                        </a:rPr>
                        <a:t>Developed a Python-based scraper utilizing Beautiful Soup and SERP API. </a:t>
                      </a:r>
                      <a:endParaRPr lang="en-US" sz="1500" u="none" strike="noStrike" noProof="0" dirty="0">
                        <a:latin typeface="Times New Roman" panose="02020603050405020304" pitchFamily="18" charset="0"/>
                        <a:cs typeface="Times New Roman" panose="02020603050405020304" pitchFamily="18" charset="0"/>
                      </a:endParaRPr>
                    </a:p>
                    <a:p>
                      <a:pPr marL="0" lvl="0" indent="0" algn="just">
                        <a:buNone/>
                      </a:pPr>
                      <a:r>
                        <a:rPr lang="en-GB" sz="1500" b="0" u="none" strike="noStrike" kern="1200" noProof="0" dirty="0">
                          <a:solidFill>
                            <a:schemeClr val="tx1"/>
                          </a:solidFill>
                          <a:effectLst/>
                          <a:latin typeface="Times New Roman" panose="02020603050405020304" pitchFamily="18" charset="0"/>
                          <a:cs typeface="Times New Roman" panose="02020603050405020304" pitchFamily="18" charset="0"/>
                        </a:rPr>
                        <a:t>The scraper has three components: </a:t>
                      </a:r>
                      <a:endParaRPr lang="en-US" sz="1500" u="none" strike="noStrike" noProof="0" dirty="0">
                        <a:latin typeface="Times New Roman" panose="02020603050405020304" pitchFamily="18" charset="0"/>
                        <a:cs typeface="Times New Roman" panose="02020603050405020304" pitchFamily="18" charset="0"/>
                      </a:endParaRPr>
                    </a:p>
                    <a:p>
                      <a:pPr marL="171450" lvl="0" indent="-171450" algn="just">
                        <a:buFont typeface="Arial" panose="020B0604020202020204" pitchFamily="34" charset="0"/>
                        <a:buChar char="•"/>
                      </a:pPr>
                      <a:r>
                        <a:rPr lang="en-GB" sz="1500" b="0" u="none" strike="noStrike" kern="1200" noProof="0" dirty="0">
                          <a:solidFill>
                            <a:schemeClr val="tx1"/>
                          </a:solidFill>
                          <a:effectLst/>
                          <a:latin typeface="Times New Roman" panose="02020603050405020304" pitchFamily="18" charset="0"/>
                          <a:cs typeface="Times New Roman" panose="02020603050405020304" pitchFamily="18" charset="0"/>
                        </a:rPr>
                        <a:t>Link Finding (identifies links)</a:t>
                      </a:r>
                      <a:endParaRPr lang="en-US" sz="1500" u="none" strike="noStrike" noProof="0" dirty="0">
                        <a:latin typeface="Times New Roman" panose="02020603050405020304" pitchFamily="18" charset="0"/>
                        <a:cs typeface="Times New Roman" panose="02020603050405020304" pitchFamily="18" charset="0"/>
                      </a:endParaRPr>
                    </a:p>
                    <a:p>
                      <a:pPr marL="171450" lvl="0" indent="-171450" algn="just">
                        <a:buFont typeface="Arial" panose="020B0604020202020204" pitchFamily="34" charset="0"/>
                        <a:buChar char="•"/>
                      </a:pPr>
                      <a:r>
                        <a:rPr lang="en-GB" sz="1500" b="0" u="none" strike="noStrike" kern="1200" noProof="0" dirty="0">
                          <a:solidFill>
                            <a:schemeClr val="tx1"/>
                          </a:solidFill>
                          <a:effectLst/>
                          <a:latin typeface="Times New Roman" panose="02020603050405020304" pitchFamily="18" charset="0"/>
                          <a:cs typeface="Times New Roman" panose="02020603050405020304" pitchFamily="18" charset="0"/>
                        </a:rPr>
                        <a:t>Data Extraction (extracts information), </a:t>
                      </a:r>
                      <a:endParaRPr lang="en-US" sz="1500" u="none" strike="noStrike" noProof="0" dirty="0">
                        <a:latin typeface="Times New Roman" panose="02020603050405020304" pitchFamily="18" charset="0"/>
                        <a:cs typeface="Times New Roman" panose="02020603050405020304" pitchFamily="18" charset="0"/>
                      </a:endParaRPr>
                    </a:p>
                    <a:p>
                      <a:pPr marL="171450" lvl="0" indent="-171450" algn="just">
                        <a:buFont typeface="Arial" panose="020B0604020202020204" pitchFamily="34" charset="0"/>
                        <a:buChar char="•"/>
                      </a:pPr>
                      <a:r>
                        <a:rPr lang="en-GB" sz="1500" b="0" u="none" strike="noStrike" kern="1200" noProof="0" dirty="0">
                          <a:solidFill>
                            <a:schemeClr val="tx1"/>
                          </a:solidFill>
                          <a:effectLst/>
                          <a:latin typeface="Times New Roman" panose="02020603050405020304" pitchFamily="18" charset="0"/>
                          <a:cs typeface="Times New Roman" panose="02020603050405020304" pitchFamily="18" charset="0"/>
                        </a:rPr>
                        <a:t>Data Storage (saves data in CSV format). </a:t>
                      </a:r>
                      <a:endParaRPr lang="en-US" sz="1500" u="none" strike="noStrike" noProof="0" dirty="0">
                        <a:latin typeface="Times New Roman" panose="02020603050405020304" pitchFamily="18" charset="0"/>
                        <a:cs typeface="Times New Roman" panose="02020603050405020304" pitchFamily="18" charset="0"/>
                      </a:endParaRPr>
                    </a:p>
                    <a:p>
                      <a:pPr marL="0" lvl="0" indent="0" algn="just">
                        <a:buNone/>
                      </a:pPr>
                      <a:r>
                        <a:rPr lang="en-GB" sz="1500" b="0" u="none" strike="noStrike" kern="1200" noProof="0" dirty="0">
                          <a:solidFill>
                            <a:schemeClr val="tx1"/>
                          </a:solidFill>
                          <a:effectLst/>
                          <a:latin typeface="Times New Roman" panose="02020603050405020304" pitchFamily="18" charset="0"/>
                          <a:cs typeface="Times New Roman" panose="02020603050405020304" pitchFamily="18" charset="0"/>
                        </a:rPr>
                        <a:t>Cloud computing was leveraged for scalability and efficiency.</a:t>
                      </a:r>
                      <a:endParaRPr lang="en-US" sz="1500" u="none" strike="noStrike" noProof="0" dirty="0">
                        <a:latin typeface="Times New Roman" panose="02020603050405020304" pitchFamily="18" charset="0"/>
                        <a:cs typeface="Times New Roman" panose="02020603050405020304" pitchFamily="18" charset="0"/>
                      </a:endParaRPr>
                    </a:p>
                    <a:p>
                      <a:pPr marL="0" lvl="0" indent="0" algn="just">
                        <a:lnSpc>
                          <a:spcPct val="100000"/>
                        </a:lnSpc>
                        <a:spcBef>
                          <a:spcPts val="0"/>
                        </a:spcBef>
                        <a:spcAft>
                          <a:spcPts val="0"/>
                        </a:spcAft>
                        <a:buFont typeface="Arial"/>
                        <a:buNone/>
                      </a:pPr>
                      <a:endParaRPr lang="en-US" sz="1500" u="none" strike="noStrike" noProof="0" dirty="0">
                        <a:solidFill>
                          <a:srgbClr val="000000"/>
                        </a:solidFill>
                        <a:latin typeface="Times New Roman" panose="02020603050405020304" pitchFamily="18" charset="0"/>
                        <a:cs typeface="Times New Roman" panose="02020603050405020304" pitchFamily="18" charset="0"/>
                      </a:endParaRPr>
                    </a:p>
                  </a:txBody>
                  <a:tcPr marL="68578" marR="68578" marT="34301" marB="34301"/>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5336804C-98FE-E858-3D9F-610F94E4A19C}"/>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4755101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492EB5-04B6-3E93-963C-96BA683B54F4}"/>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D126FE82-DA54-39B3-B6CB-AE4883702849}"/>
              </a:ext>
            </a:extLst>
          </p:cNvPr>
          <p:cNvSpPr/>
          <p:nvPr/>
        </p:nvSpPr>
        <p:spPr>
          <a:xfrm>
            <a:off x="565977" y="841853"/>
            <a:ext cx="11187043" cy="5632386"/>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306FFAB6-364F-E3D0-A705-1A91FF84E176}"/>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5E606D4A-A0E8-CFC9-5A1C-70BB745D3BBD}"/>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9" name="TextBox 8">
            <a:extLst>
              <a:ext uri="{FF2B5EF4-FFF2-40B4-BE49-F238E27FC236}">
                <a16:creationId xmlns:a16="http://schemas.microsoft.com/office/drawing/2014/main" id="{443A812D-ECFC-E547-B619-2783D0756DA3}"/>
              </a:ext>
            </a:extLst>
          </p:cNvPr>
          <p:cNvSpPr txBox="1"/>
          <p:nvPr/>
        </p:nvSpPr>
        <p:spPr>
          <a:xfrm>
            <a:off x="3483484" y="863137"/>
            <a:ext cx="5627163" cy="61555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400" b="1" dirty="0">
                <a:solidFill>
                  <a:srgbClr val="2E2E2E"/>
                </a:solidFill>
                <a:latin typeface="Times New Roman" panose="02020603050405020304" pitchFamily="18" charset="0"/>
                <a:ea typeface="+mn-lt"/>
                <a:cs typeface="Times New Roman" panose="02020603050405020304" pitchFamily="18" charset="0"/>
              </a:rPr>
              <a:t>LITERATURE SURVEY -02</a:t>
            </a:r>
            <a:endParaRPr lang="en-US" sz="3400" b="1" dirty="0">
              <a:latin typeface="Times New Roman" panose="02020603050405020304" pitchFamily="18" charset="0"/>
              <a:cs typeface="Times New Roman" panose="02020603050405020304" pitchFamily="18" charset="0"/>
            </a:endParaRPr>
          </a:p>
        </p:txBody>
      </p:sp>
      <p:sp>
        <p:nvSpPr>
          <p:cNvPr id="7" name="Date Placeholder 6">
            <a:extLst>
              <a:ext uri="{FF2B5EF4-FFF2-40B4-BE49-F238E27FC236}">
                <a16:creationId xmlns:a16="http://schemas.microsoft.com/office/drawing/2014/main" id="{09A7B660-659E-BC07-8CE9-3D878C187481}"/>
              </a:ext>
            </a:extLst>
          </p:cNvPr>
          <p:cNvSpPr>
            <a:spLocks noGrp="1"/>
          </p:cNvSpPr>
          <p:nvPr>
            <p:ph type="dt" sz="half" idx="10"/>
          </p:nvPr>
        </p:nvSpPr>
        <p:spPr/>
        <p:txBody>
          <a:bodyPr/>
          <a:lstStyle/>
          <a:p>
            <a:fld id="{73CEFC39-C9CA-46A7-AAF4-69E9C90574A5}" type="datetime1">
              <a:rPr lang="en-US" smtClean="0"/>
              <a:t>4/21/2025</a:t>
            </a:fld>
            <a:endParaRPr lang="en-US"/>
          </a:p>
        </p:txBody>
      </p:sp>
      <p:sp>
        <p:nvSpPr>
          <p:cNvPr id="10" name="Slide Number Placeholder 9">
            <a:extLst>
              <a:ext uri="{FF2B5EF4-FFF2-40B4-BE49-F238E27FC236}">
                <a16:creationId xmlns:a16="http://schemas.microsoft.com/office/drawing/2014/main" id="{917A5283-1718-B6D1-3C11-0A8B8D579C59}"/>
              </a:ext>
            </a:extLst>
          </p:cNvPr>
          <p:cNvSpPr>
            <a:spLocks noGrp="1"/>
          </p:cNvSpPr>
          <p:nvPr>
            <p:ph type="sldNum" sz="quarter" idx="12"/>
          </p:nvPr>
        </p:nvSpPr>
        <p:spPr/>
        <p:txBody>
          <a:bodyPr/>
          <a:lstStyle/>
          <a:p>
            <a:fld id="{48F63A3B-78C7-47BE-AE5E-E10140E04643}" type="slidenum">
              <a:rPr lang="en-US" dirty="0"/>
              <a:t>7</a:t>
            </a:fld>
            <a:endParaRPr lang="en-US" dirty="0"/>
          </a:p>
        </p:txBody>
      </p:sp>
      <p:pic>
        <p:nvPicPr>
          <p:cNvPr id="2" name="Picture 1" descr="A close-up of a logo&#10;&#10;AI-generated content may be incorrect.">
            <a:extLst>
              <a:ext uri="{FF2B5EF4-FFF2-40B4-BE49-F238E27FC236}">
                <a16:creationId xmlns:a16="http://schemas.microsoft.com/office/drawing/2014/main" id="{53B829A3-E3A5-563F-58E2-5C8312DB808D}"/>
              </a:ext>
            </a:extLst>
          </p:cNvPr>
          <p:cNvPicPr>
            <a:picLocks noChangeAspect="1"/>
          </p:cNvPicPr>
          <p:nvPr/>
        </p:nvPicPr>
        <p:blipFill>
          <a:blip r:embed="rId2"/>
          <a:stretch>
            <a:fillRect/>
          </a:stretch>
        </p:blipFill>
        <p:spPr>
          <a:xfrm>
            <a:off x="0" y="85821"/>
            <a:ext cx="2503714" cy="621059"/>
          </a:xfrm>
          <a:prstGeom prst="rect">
            <a:avLst/>
          </a:prstGeom>
        </p:spPr>
      </p:pic>
      <p:graphicFrame>
        <p:nvGraphicFramePr>
          <p:cNvPr id="3" name="Table 6">
            <a:extLst>
              <a:ext uri="{FF2B5EF4-FFF2-40B4-BE49-F238E27FC236}">
                <a16:creationId xmlns:a16="http://schemas.microsoft.com/office/drawing/2014/main" id="{85E1153B-6994-4516-DF35-CBC2C0F758FA}"/>
              </a:ext>
            </a:extLst>
          </p:cNvPr>
          <p:cNvGraphicFramePr>
            <a:graphicFrameLocks/>
          </p:cNvGraphicFramePr>
          <p:nvPr>
            <p:extLst>
              <p:ext uri="{D42A27DB-BD31-4B8C-83A1-F6EECF244321}">
                <p14:modId xmlns:p14="http://schemas.microsoft.com/office/powerpoint/2010/main" val="346096563"/>
              </p:ext>
            </p:extLst>
          </p:nvPr>
        </p:nvGraphicFramePr>
        <p:xfrm>
          <a:off x="889000" y="1597900"/>
          <a:ext cx="10414000" cy="4442274"/>
        </p:xfrm>
        <a:graphic>
          <a:graphicData uri="http://schemas.openxmlformats.org/drawingml/2006/table">
            <a:tbl>
              <a:tblPr firstRow="1" bandRow="1">
                <a:tableStyleId>{5C22544A-7EE6-4342-B048-85BDC9FD1C3A}</a:tableStyleId>
              </a:tblPr>
              <a:tblGrid>
                <a:gridCol w="717105">
                  <a:extLst>
                    <a:ext uri="{9D8B030D-6E8A-4147-A177-3AD203B41FA5}">
                      <a16:colId xmlns:a16="http://schemas.microsoft.com/office/drawing/2014/main" val="20000"/>
                    </a:ext>
                  </a:extLst>
                </a:gridCol>
                <a:gridCol w="1233421">
                  <a:extLst>
                    <a:ext uri="{9D8B030D-6E8A-4147-A177-3AD203B41FA5}">
                      <a16:colId xmlns:a16="http://schemas.microsoft.com/office/drawing/2014/main" val="20001"/>
                    </a:ext>
                  </a:extLst>
                </a:gridCol>
                <a:gridCol w="2538557">
                  <a:extLst>
                    <a:ext uri="{9D8B030D-6E8A-4147-A177-3AD203B41FA5}">
                      <a16:colId xmlns:a16="http://schemas.microsoft.com/office/drawing/2014/main" val="20002"/>
                    </a:ext>
                  </a:extLst>
                </a:gridCol>
                <a:gridCol w="1722672">
                  <a:extLst>
                    <a:ext uri="{9D8B030D-6E8A-4147-A177-3AD203B41FA5}">
                      <a16:colId xmlns:a16="http://schemas.microsoft.com/office/drawing/2014/main" val="20003"/>
                    </a:ext>
                  </a:extLst>
                </a:gridCol>
                <a:gridCol w="2251715">
                  <a:extLst>
                    <a:ext uri="{9D8B030D-6E8A-4147-A177-3AD203B41FA5}">
                      <a16:colId xmlns:a16="http://schemas.microsoft.com/office/drawing/2014/main" val="20004"/>
                    </a:ext>
                  </a:extLst>
                </a:gridCol>
                <a:gridCol w="1950530">
                  <a:extLst>
                    <a:ext uri="{9D8B030D-6E8A-4147-A177-3AD203B41FA5}">
                      <a16:colId xmlns:a16="http://schemas.microsoft.com/office/drawing/2014/main" val="20005"/>
                    </a:ext>
                  </a:extLst>
                </a:gridCol>
              </a:tblGrid>
              <a:tr h="443909">
                <a:tc>
                  <a:txBody>
                    <a:bodyPr/>
                    <a:lstStyle/>
                    <a:p>
                      <a:pPr algn="just"/>
                      <a:r>
                        <a:rPr lang="en-US" sz="1200" b="1" dirty="0">
                          <a:latin typeface="Times New Roman" panose="02020603050405020304" pitchFamily="18" charset="0"/>
                          <a:cs typeface="Times New Roman" panose="02020603050405020304" pitchFamily="18" charset="0"/>
                        </a:rPr>
                        <a:t>Ref # &amp;Year</a:t>
                      </a:r>
                      <a:endParaRPr lang="en-IN" sz="1200" b="1" dirty="0">
                        <a:latin typeface="Times New Roman" panose="02020603050405020304" pitchFamily="18" charset="0"/>
                        <a:cs typeface="Times New Roman" panose="02020603050405020304" pitchFamily="18" charset="0"/>
                      </a:endParaRPr>
                    </a:p>
                  </a:txBody>
                  <a:tcPr marL="91437" marR="91437" marT="45728" marB="45728"/>
                </a:tc>
                <a:tc>
                  <a:txBody>
                    <a:bodyPr/>
                    <a:lstStyle/>
                    <a:p>
                      <a:pPr algn="just"/>
                      <a:r>
                        <a:rPr lang="en-US" sz="1200" b="1" dirty="0">
                          <a:latin typeface="Times New Roman" panose="02020603050405020304" pitchFamily="18" charset="0"/>
                          <a:cs typeface="Times New Roman" panose="02020603050405020304" pitchFamily="18" charset="0"/>
                        </a:rPr>
                        <a:t>Title</a:t>
                      </a:r>
                      <a:endParaRPr lang="en-IN" sz="1200" b="1" dirty="0">
                        <a:latin typeface="Times New Roman" panose="02020603050405020304" pitchFamily="18" charset="0"/>
                        <a:cs typeface="Times New Roman" panose="02020603050405020304" pitchFamily="18" charset="0"/>
                      </a:endParaRPr>
                    </a:p>
                  </a:txBody>
                  <a:tcPr marL="91437" marR="91437" marT="45728" marB="45728"/>
                </a:tc>
                <a:tc>
                  <a:txBody>
                    <a:bodyPr/>
                    <a:lstStyle/>
                    <a:p>
                      <a:pPr algn="just"/>
                      <a:r>
                        <a:rPr lang="en-US" sz="1200" b="1" dirty="0">
                          <a:latin typeface="Times New Roman" panose="02020603050405020304" pitchFamily="18" charset="0"/>
                          <a:cs typeface="Times New Roman" panose="02020603050405020304" pitchFamily="18" charset="0"/>
                        </a:rPr>
                        <a:t>Problem Statement</a:t>
                      </a:r>
                      <a:endParaRPr lang="en-IN" sz="1200" b="1" dirty="0">
                        <a:latin typeface="Times New Roman" panose="02020603050405020304" pitchFamily="18" charset="0"/>
                        <a:cs typeface="Times New Roman" panose="02020603050405020304" pitchFamily="18" charset="0"/>
                      </a:endParaRPr>
                    </a:p>
                  </a:txBody>
                  <a:tcPr marL="91437" marR="91437" marT="45728" marB="45728"/>
                </a:tc>
                <a:tc>
                  <a:txBody>
                    <a:bodyPr/>
                    <a:lstStyle/>
                    <a:p>
                      <a:pPr algn="just"/>
                      <a:r>
                        <a:rPr lang="en-US" sz="1200" b="1" dirty="0">
                          <a:latin typeface="Times New Roman" panose="02020603050405020304" pitchFamily="18" charset="0"/>
                          <a:cs typeface="Times New Roman" panose="02020603050405020304" pitchFamily="18" charset="0"/>
                        </a:rPr>
                        <a:t>Dataset</a:t>
                      </a:r>
                      <a:endParaRPr lang="en-IN" sz="1200" b="1" dirty="0">
                        <a:latin typeface="Times New Roman" panose="02020603050405020304" pitchFamily="18" charset="0"/>
                        <a:cs typeface="Times New Roman" panose="02020603050405020304" pitchFamily="18" charset="0"/>
                      </a:endParaRPr>
                    </a:p>
                  </a:txBody>
                  <a:tcPr marL="91437" marR="91437" marT="45728" marB="45728"/>
                </a:tc>
                <a:tc>
                  <a:txBody>
                    <a:bodyPr/>
                    <a:lstStyle/>
                    <a:p>
                      <a:pPr algn="just"/>
                      <a:r>
                        <a:rPr lang="en-US" sz="1200" b="1" dirty="0">
                          <a:latin typeface="Times New Roman" panose="02020603050405020304" pitchFamily="18" charset="0"/>
                          <a:cs typeface="Times New Roman" panose="02020603050405020304" pitchFamily="18" charset="0"/>
                        </a:rPr>
                        <a:t>Methodology</a:t>
                      </a:r>
                      <a:endParaRPr lang="en-IN" sz="1200" b="1" dirty="0">
                        <a:latin typeface="Times New Roman" panose="02020603050405020304" pitchFamily="18" charset="0"/>
                        <a:cs typeface="Times New Roman" panose="02020603050405020304" pitchFamily="18" charset="0"/>
                      </a:endParaRPr>
                    </a:p>
                  </a:txBody>
                  <a:tcPr marL="91437" marR="91437" marT="45735" marB="45735"/>
                </a:tc>
                <a:tc>
                  <a:txBody>
                    <a:bodyPr/>
                    <a:lstStyle/>
                    <a:p>
                      <a:pPr algn="just"/>
                      <a:r>
                        <a:rPr lang="en-US" sz="1200" b="1">
                          <a:latin typeface="Times New Roman" panose="02020603050405020304" pitchFamily="18" charset="0"/>
                          <a:cs typeface="Times New Roman" panose="02020603050405020304" pitchFamily="18" charset="0"/>
                        </a:rPr>
                        <a:t>Performance Metrics</a:t>
                      </a:r>
                      <a:endParaRPr lang="en-IN" sz="1200" b="1">
                        <a:latin typeface="Times New Roman" panose="02020603050405020304" pitchFamily="18" charset="0"/>
                        <a:cs typeface="Times New Roman" panose="02020603050405020304" pitchFamily="18" charset="0"/>
                      </a:endParaRPr>
                    </a:p>
                  </a:txBody>
                  <a:tcPr marL="91437" marR="91437" marT="45735" marB="45735"/>
                </a:tc>
                <a:extLst>
                  <a:ext uri="{0D108BD9-81ED-4DB2-BD59-A6C34878D82A}">
                    <a16:rowId xmlns:a16="http://schemas.microsoft.com/office/drawing/2014/main" val="10000"/>
                  </a:ext>
                </a:extLst>
              </a:tr>
              <a:tr h="3985058">
                <a:tc>
                  <a:txBody>
                    <a:bodyPr/>
                    <a:lstStyle/>
                    <a:p>
                      <a:pPr algn="just"/>
                      <a:r>
                        <a:rPr lang="en-IN" sz="1200" dirty="0">
                          <a:latin typeface="Times New Roman" panose="02020603050405020304" pitchFamily="18" charset="0"/>
                          <a:cs typeface="Times New Roman" panose="02020603050405020304" pitchFamily="18" charset="0"/>
                        </a:rPr>
                        <a:t>04 October 2024</a:t>
                      </a:r>
                    </a:p>
                  </a:txBody>
                  <a:tcPr marL="91437" marR="91437" marT="45728" marB="45728"/>
                </a:tc>
                <a:tc>
                  <a:txBody>
                    <a:bodyPr/>
                    <a:lstStyle/>
                    <a:p>
                      <a:r>
                        <a:rPr lang="en-IN" sz="1200" b="0" kern="1200" dirty="0" err="1">
                          <a:solidFill>
                            <a:schemeClr val="tx1"/>
                          </a:solidFill>
                          <a:effectLst/>
                          <a:latin typeface="Times New Roman" panose="02020603050405020304" pitchFamily="18" charset="0"/>
                          <a:cs typeface="Times New Roman" panose="02020603050405020304" pitchFamily="18" charset="0"/>
                        </a:rPr>
                        <a:t>Resspar</a:t>
                      </a:r>
                      <a:r>
                        <a:rPr lang="en-IN" sz="1200" b="0" kern="1200" dirty="0">
                          <a:solidFill>
                            <a:schemeClr val="tx1"/>
                          </a:solidFill>
                          <a:effectLst/>
                          <a:latin typeface="Times New Roman" panose="02020603050405020304" pitchFamily="18" charset="0"/>
                          <a:cs typeface="Times New Roman" panose="02020603050405020304" pitchFamily="18" charset="0"/>
                        </a:rPr>
                        <a:t>: AI-Driven Resume Parsing and Recruitment System using NLP and Generative AI [2]</a:t>
                      </a:r>
                      <a:endParaRPr lang="en-IN" sz="1200" b="0" kern="1200" dirty="0">
                        <a:solidFill>
                          <a:schemeClr val="tx1"/>
                        </a:solidFill>
                        <a:effectLst/>
                        <a:latin typeface="Times New Roman" panose="02020603050405020304" pitchFamily="18" charset="0"/>
                        <a:ea typeface="+mn-ea"/>
                        <a:cs typeface="Times New Roman" panose="02020603050405020304" pitchFamily="18" charset="0"/>
                      </a:endParaRPr>
                    </a:p>
                  </a:txBody>
                  <a:tcPr marL="91437" marR="91437" marT="45728" marB="45728"/>
                </a:tc>
                <a:tc>
                  <a:txBody>
                    <a:bodyPr/>
                    <a:lstStyle/>
                    <a:p>
                      <a:pPr marL="0" marR="0" lvl="0" indent="0" algn="just"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IN" sz="1200" kern="1200" dirty="0">
                          <a:solidFill>
                            <a:schemeClr val="tx1"/>
                          </a:solidFill>
                          <a:effectLst/>
                          <a:latin typeface="Times New Roman" panose="02020603050405020304" pitchFamily="18" charset="0"/>
                          <a:cs typeface="Times New Roman" panose="02020603050405020304" pitchFamily="18" charset="0"/>
                        </a:rPr>
                        <a:t>Develop a web-based resume parsing and recruitment system, "</a:t>
                      </a:r>
                      <a:r>
                        <a:rPr lang="en-IN" sz="1200" kern="1200" dirty="0" err="1">
                          <a:solidFill>
                            <a:schemeClr val="tx1"/>
                          </a:solidFill>
                          <a:effectLst/>
                          <a:latin typeface="Times New Roman" panose="02020603050405020304" pitchFamily="18" charset="0"/>
                          <a:cs typeface="Times New Roman" panose="02020603050405020304" pitchFamily="18" charset="0"/>
                        </a:rPr>
                        <a:t>Resspar</a:t>
                      </a:r>
                      <a:r>
                        <a:rPr lang="en-IN" sz="1200" kern="1200" dirty="0">
                          <a:solidFill>
                            <a:schemeClr val="tx1"/>
                          </a:solidFill>
                          <a:effectLst/>
                          <a:latin typeface="Times New Roman" panose="02020603050405020304" pitchFamily="18" charset="0"/>
                          <a:cs typeface="Times New Roman" panose="02020603050405020304" pitchFamily="18" charset="0"/>
                        </a:rPr>
                        <a:t>," that leverages NLP, Generative AI, and prompt engineering to streamline candidate selection processes for recruiters. The system should allow users to upload resumes in PDF format, parse relevant data such as names, emails, phone numbers, and skills using AI-driven algorithms, and store extracted information in a structured SQLite database for efficient retrieval and filtering.</a:t>
                      </a:r>
                    </a:p>
                    <a:p>
                      <a:pPr marL="0" indent="0" algn="just">
                        <a:buFont typeface="Arial" panose="020B0604020202020204" pitchFamily="34" charset="0"/>
                        <a:buNone/>
                      </a:pPr>
                      <a:endParaRPr lang="en-US" sz="1200" dirty="0">
                        <a:latin typeface="Times New Roman" panose="02020603050405020304" pitchFamily="18" charset="0"/>
                        <a:cs typeface="Times New Roman" panose="02020603050405020304" pitchFamily="18" charset="0"/>
                      </a:endParaRPr>
                    </a:p>
                  </a:txBody>
                  <a:tcPr marL="91437" marR="91437" marT="45728" marB="45728"/>
                </a:tc>
                <a:tc>
                  <a:txBody>
                    <a:bodyPr/>
                    <a:lstStyle/>
                    <a:p>
                      <a:pPr marL="171450" lvl="0" indent="-171450">
                        <a:buFont typeface="Arial" panose="020B0604020202020204" pitchFamily="34" charset="0"/>
                        <a:buChar char="•"/>
                      </a:pPr>
                      <a:r>
                        <a:rPr lang="en-IN" sz="1200" b="0" kern="1200" dirty="0">
                          <a:solidFill>
                            <a:schemeClr val="tx1"/>
                          </a:solidFill>
                          <a:effectLst/>
                          <a:latin typeface="Times New Roman" panose="02020603050405020304" pitchFamily="18" charset="0"/>
                          <a:cs typeface="Times New Roman" panose="02020603050405020304" pitchFamily="18" charset="0"/>
                        </a:rPr>
                        <a:t>Parsed Resume Data</a:t>
                      </a:r>
                    </a:p>
                    <a:p>
                      <a:pPr marL="171450" lvl="0" indent="-171450">
                        <a:buFont typeface="Arial" panose="020B0604020202020204" pitchFamily="34" charset="0"/>
                        <a:buChar char="•"/>
                      </a:pPr>
                      <a:r>
                        <a:rPr lang="en-IN" sz="1200" b="0" kern="1200" dirty="0">
                          <a:solidFill>
                            <a:schemeClr val="tx1"/>
                          </a:solidFill>
                          <a:effectLst/>
                          <a:latin typeface="Times New Roman" panose="02020603050405020304" pitchFamily="18" charset="0"/>
                          <a:cs typeface="Times New Roman" panose="02020603050405020304" pitchFamily="18" charset="0"/>
                        </a:rPr>
                        <a:t>User Authentication Data:</a:t>
                      </a:r>
                    </a:p>
                    <a:p>
                      <a:pPr marL="171450" lvl="0" indent="-171450">
                        <a:buFont typeface="Arial" panose="020B0604020202020204" pitchFamily="34" charset="0"/>
                        <a:buChar char="•"/>
                      </a:pPr>
                      <a:r>
                        <a:rPr lang="en-IN" sz="1200" b="0" kern="1200" dirty="0">
                          <a:solidFill>
                            <a:schemeClr val="tx1"/>
                          </a:solidFill>
                          <a:effectLst/>
                          <a:latin typeface="Times New Roman" panose="02020603050405020304" pitchFamily="18" charset="0"/>
                          <a:cs typeface="Times New Roman" panose="02020603050405020304" pitchFamily="18" charset="0"/>
                        </a:rPr>
                        <a:t>Job Role and Skill Criteria</a:t>
                      </a:r>
                    </a:p>
                    <a:p>
                      <a:pPr marL="171450" lvl="0" indent="-171450">
                        <a:buFont typeface="Arial" panose="020B0604020202020204" pitchFamily="34" charset="0"/>
                        <a:buChar char="•"/>
                      </a:pPr>
                      <a:r>
                        <a:rPr lang="en-IN" sz="1200" b="0" kern="1200" dirty="0">
                          <a:solidFill>
                            <a:schemeClr val="tx1"/>
                          </a:solidFill>
                          <a:effectLst/>
                          <a:latin typeface="Times New Roman" panose="02020603050405020304" pitchFamily="18" charset="0"/>
                          <a:cs typeface="Times New Roman" panose="02020603050405020304" pitchFamily="18" charset="0"/>
                        </a:rPr>
                        <a:t>Text Index for Resumes and Job Descriptions</a:t>
                      </a:r>
                      <a:endParaRPr lang="en-GB" sz="1200" b="0" i="0" kern="1200" dirty="0">
                        <a:solidFill>
                          <a:schemeClr val="tx1"/>
                        </a:solidFill>
                        <a:effectLst/>
                        <a:latin typeface="Times New Roman" panose="02020603050405020304" pitchFamily="18" charset="0"/>
                        <a:ea typeface="+mn-ea"/>
                        <a:cs typeface="Times New Roman" panose="02020603050405020304" pitchFamily="18" charset="0"/>
                      </a:endParaRPr>
                    </a:p>
                  </a:txBody>
                  <a:tcPr marL="91437" marR="91437" marT="45728" marB="45728"/>
                </a:tc>
                <a:tc>
                  <a:txBody>
                    <a:bodyPr/>
                    <a:lstStyle/>
                    <a:p>
                      <a:pPr marL="171450" lvl="0" indent="-171450">
                        <a:buFont typeface="Arial" panose="020B0604020202020204" pitchFamily="34" charset="0"/>
                        <a:buChar char="•"/>
                      </a:pPr>
                      <a:r>
                        <a:rPr lang="en-IN" sz="1200" b="0" kern="1200" dirty="0">
                          <a:solidFill>
                            <a:schemeClr val="tx1"/>
                          </a:solidFill>
                          <a:effectLst/>
                          <a:latin typeface="Times New Roman" panose="02020603050405020304" pitchFamily="18" charset="0"/>
                          <a:cs typeface="Times New Roman" panose="02020603050405020304" pitchFamily="18" charset="0"/>
                        </a:rPr>
                        <a:t>Natural Language Processing (NLP)</a:t>
                      </a:r>
                    </a:p>
                    <a:p>
                      <a:pPr marL="171450" lvl="0" indent="-171450">
                        <a:buFont typeface="Arial" panose="020B0604020202020204" pitchFamily="34" charset="0"/>
                        <a:buChar char="•"/>
                      </a:pPr>
                      <a:r>
                        <a:rPr lang="en-IN" sz="1200" b="0" kern="1200" dirty="0">
                          <a:solidFill>
                            <a:schemeClr val="tx1"/>
                          </a:solidFill>
                          <a:effectLst/>
                          <a:latin typeface="Times New Roman" panose="02020603050405020304" pitchFamily="18" charset="0"/>
                          <a:cs typeface="Times New Roman" panose="02020603050405020304" pitchFamily="18" charset="0"/>
                        </a:rPr>
                        <a:t>Generative AI</a:t>
                      </a:r>
                    </a:p>
                    <a:p>
                      <a:pPr marL="171450" lvl="0" indent="-171450">
                        <a:buFont typeface="Arial" panose="020B0604020202020204" pitchFamily="34" charset="0"/>
                        <a:buChar char="•"/>
                      </a:pPr>
                      <a:r>
                        <a:rPr lang="en-IN" sz="1200" b="0" kern="1200" dirty="0">
                          <a:solidFill>
                            <a:schemeClr val="tx1"/>
                          </a:solidFill>
                          <a:effectLst/>
                          <a:latin typeface="Times New Roman" panose="02020603050405020304" pitchFamily="18" charset="0"/>
                          <a:cs typeface="Times New Roman" panose="02020603050405020304" pitchFamily="18" charset="0"/>
                        </a:rPr>
                        <a:t>Data Extraction Algorithms</a:t>
                      </a:r>
                    </a:p>
                    <a:p>
                      <a:pPr marL="171450" lvl="0" indent="-171450">
                        <a:buFont typeface="Arial" panose="020B0604020202020204" pitchFamily="34" charset="0"/>
                        <a:buChar char="•"/>
                      </a:pPr>
                      <a:r>
                        <a:rPr lang="en-IN" sz="1200" b="0" kern="1200" dirty="0">
                          <a:solidFill>
                            <a:schemeClr val="tx1"/>
                          </a:solidFill>
                          <a:effectLst/>
                          <a:latin typeface="Times New Roman" panose="02020603050405020304" pitchFamily="18" charset="0"/>
                          <a:cs typeface="Times New Roman" panose="02020603050405020304" pitchFamily="18" charset="0"/>
                        </a:rPr>
                        <a:t>SQLite Database Management</a:t>
                      </a:r>
                    </a:p>
                    <a:p>
                      <a:pPr marL="171450" lvl="0" indent="-171450">
                        <a:buFont typeface="Arial" panose="020B0604020202020204" pitchFamily="34" charset="0"/>
                        <a:buChar char="•"/>
                      </a:pPr>
                      <a:r>
                        <a:rPr lang="en-IN" sz="1200" b="0" kern="1200" dirty="0">
                          <a:solidFill>
                            <a:schemeClr val="tx1"/>
                          </a:solidFill>
                          <a:effectLst/>
                          <a:latin typeface="Times New Roman" panose="02020603050405020304" pitchFamily="18" charset="0"/>
                          <a:cs typeface="Times New Roman" panose="02020603050405020304" pitchFamily="18" charset="0"/>
                        </a:rPr>
                        <a:t>Filtering Mechanism</a:t>
                      </a:r>
                    </a:p>
                    <a:p>
                      <a:pPr marL="171450" lvl="0" indent="-171450">
                        <a:buFont typeface="Arial" panose="020B0604020202020204" pitchFamily="34" charset="0"/>
                        <a:buChar char="•"/>
                      </a:pPr>
                      <a:r>
                        <a:rPr lang="en-IN" sz="1200" b="0" kern="1200" dirty="0">
                          <a:solidFill>
                            <a:schemeClr val="tx1"/>
                          </a:solidFill>
                          <a:effectLst/>
                          <a:latin typeface="Times New Roman" panose="02020603050405020304" pitchFamily="18" charset="0"/>
                          <a:cs typeface="Times New Roman" panose="02020603050405020304" pitchFamily="18" charset="0"/>
                        </a:rPr>
                        <a:t>Security Measures</a:t>
                      </a:r>
                      <a:endParaRPr lang="en-GB" sz="1200" b="0" u="none" strike="noStrike" noProof="0" dirty="0">
                        <a:solidFill>
                          <a:srgbClr val="000000"/>
                        </a:solidFill>
                        <a:latin typeface="Times New Roman" panose="02020603050405020304" pitchFamily="18" charset="0"/>
                        <a:cs typeface="Times New Roman" panose="02020603050405020304" pitchFamily="18" charset="0"/>
                      </a:endParaRPr>
                    </a:p>
                  </a:txBody>
                  <a:tcPr marL="91437" marR="91437" marT="45735" marB="45735"/>
                </a:tc>
                <a:tc>
                  <a:txBody>
                    <a:bodyPr/>
                    <a:lstStyle/>
                    <a:p>
                      <a:pPr marL="171450" indent="-171450">
                        <a:buFont typeface="Arial" panose="020B0604020202020204" pitchFamily="34" charset="0"/>
                        <a:buChar char="•"/>
                      </a:pPr>
                      <a:r>
                        <a:rPr lang="en-IN" sz="1200" kern="1200" dirty="0">
                          <a:solidFill>
                            <a:schemeClr val="tx1"/>
                          </a:solidFill>
                          <a:effectLst/>
                          <a:latin typeface="Times New Roman" panose="02020603050405020304" pitchFamily="18" charset="0"/>
                          <a:cs typeface="Times New Roman" panose="02020603050405020304" pitchFamily="18" charset="0"/>
                        </a:rPr>
                        <a:t>Accuracy of Data Extraction</a:t>
                      </a:r>
                    </a:p>
                    <a:p>
                      <a:pPr marL="171450" indent="-171450">
                        <a:buFont typeface="Arial" panose="020B0604020202020204" pitchFamily="34" charset="0"/>
                        <a:buChar char="•"/>
                      </a:pPr>
                      <a:r>
                        <a:rPr lang="en-IN" sz="1200" kern="1200" dirty="0">
                          <a:solidFill>
                            <a:schemeClr val="tx1"/>
                          </a:solidFill>
                          <a:effectLst/>
                          <a:latin typeface="Times New Roman" panose="02020603050405020304" pitchFamily="18" charset="0"/>
                          <a:cs typeface="Times New Roman" panose="02020603050405020304" pitchFamily="18" charset="0"/>
                        </a:rPr>
                        <a:t>Processing Speed</a:t>
                      </a:r>
                    </a:p>
                    <a:p>
                      <a:pPr marL="171450" indent="-171450" algn="just">
                        <a:buFont typeface="Arial" panose="020B0604020202020204" pitchFamily="34" charset="0"/>
                        <a:buChar char="•"/>
                      </a:pPr>
                      <a:endParaRPr lang="en-US" sz="1200" dirty="0">
                        <a:latin typeface="Times New Roman" panose="02020603050405020304" pitchFamily="18" charset="0"/>
                        <a:cs typeface="Times New Roman" panose="02020603050405020304" pitchFamily="18" charset="0"/>
                      </a:endParaRPr>
                    </a:p>
                  </a:txBody>
                  <a:tcPr marL="91437" marR="91437" marT="45735" marB="45735"/>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5FF0CD56-CCFD-9B7E-2B54-19DACB7476A6}"/>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25942373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9EAFEF31-79A4-C02E-AF74-118ECB6ABB5F}"/>
              </a:ext>
            </a:extLst>
          </p:cNvPr>
          <p:cNvSpPr/>
          <p:nvPr/>
        </p:nvSpPr>
        <p:spPr>
          <a:xfrm>
            <a:off x="565977" y="791077"/>
            <a:ext cx="11187043" cy="5683162"/>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TextBox 16">
            <a:extLst>
              <a:ext uri="{FF2B5EF4-FFF2-40B4-BE49-F238E27FC236}">
                <a16:creationId xmlns:a16="http://schemas.microsoft.com/office/drawing/2014/main" id="{4DFCAC29-7880-000E-6587-699F9A48E609}"/>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34858D91-A6E2-19BE-892E-F85A69FB6FBC}"/>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9" name="TextBox 8">
            <a:extLst>
              <a:ext uri="{FF2B5EF4-FFF2-40B4-BE49-F238E27FC236}">
                <a16:creationId xmlns:a16="http://schemas.microsoft.com/office/drawing/2014/main" id="{75360CB5-C725-807A-D25E-C29A3B74A0C2}"/>
              </a:ext>
            </a:extLst>
          </p:cNvPr>
          <p:cNvSpPr txBox="1"/>
          <p:nvPr/>
        </p:nvSpPr>
        <p:spPr>
          <a:xfrm>
            <a:off x="5003920" y="895354"/>
            <a:ext cx="2311156" cy="61555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400" b="1" dirty="0">
                <a:solidFill>
                  <a:srgbClr val="2E2E2E"/>
                </a:solidFill>
                <a:latin typeface="Times New Roman" panose="02020603050405020304" pitchFamily="18" charset="0"/>
                <a:ea typeface="Calibri"/>
                <a:cs typeface="Times New Roman" panose="02020603050405020304" pitchFamily="18" charset="0"/>
              </a:rPr>
              <a:t>NOVELTY</a:t>
            </a:r>
          </a:p>
        </p:txBody>
      </p:sp>
      <p:sp>
        <p:nvSpPr>
          <p:cNvPr id="7" name="Date Placeholder 6">
            <a:extLst>
              <a:ext uri="{FF2B5EF4-FFF2-40B4-BE49-F238E27FC236}">
                <a16:creationId xmlns:a16="http://schemas.microsoft.com/office/drawing/2014/main" id="{71028168-0470-AC9A-D9A1-A976B212C91C}"/>
              </a:ext>
            </a:extLst>
          </p:cNvPr>
          <p:cNvSpPr>
            <a:spLocks noGrp="1"/>
          </p:cNvSpPr>
          <p:nvPr>
            <p:ph type="dt" sz="half" idx="10"/>
          </p:nvPr>
        </p:nvSpPr>
        <p:spPr/>
        <p:txBody>
          <a:bodyPr/>
          <a:lstStyle/>
          <a:p>
            <a:fld id="{B8E054CF-8246-473C-B13B-FCF2B6CD1394}" type="datetime1">
              <a:rPr lang="en-US" smtClean="0"/>
              <a:t>4/21/2025</a:t>
            </a:fld>
            <a:endParaRPr lang="en-US"/>
          </a:p>
        </p:txBody>
      </p:sp>
      <p:sp>
        <p:nvSpPr>
          <p:cNvPr id="8" name="Slide Number Placeholder 7">
            <a:extLst>
              <a:ext uri="{FF2B5EF4-FFF2-40B4-BE49-F238E27FC236}">
                <a16:creationId xmlns:a16="http://schemas.microsoft.com/office/drawing/2014/main" id="{8DBFBD53-AA08-E2F3-2858-F4B325175994}"/>
              </a:ext>
            </a:extLst>
          </p:cNvPr>
          <p:cNvSpPr>
            <a:spLocks noGrp="1"/>
          </p:cNvSpPr>
          <p:nvPr>
            <p:ph type="sldNum" sz="quarter" idx="12"/>
          </p:nvPr>
        </p:nvSpPr>
        <p:spPr/>
        <p:txBody>
          <a:bodyPr/>
          <a:lstStyle/>
          <a:p>
            <a:fld id="{48F63A3B-78C7-47BE-AE5E-E10140E04643}" type="slidenum">
              <a:rPr lang="en-US" dirty="0"/>
              <a:t>8</a:t>
            </a:fld>
            <a:endParaRPr lang="en-US"/>
          </a:p>
        </p:txBody>
      </p:sp>
      <p:pic>
        <p:nvPicPr>
          <p:cNvPr id="3" name="Picture 2" descr="A close-up of a logo&#10;&#10;AI-generated content may be incorrect.">
            <a:extLst>
              <a:ext uri="{FF2B5EF4-FFF2-40B4-BE49-F238E27FC236}">
                <a16:creationId xmlns:a16="http://schemas.microsoft.com/office/drawing/2014/main" id="{C56FF0F0-E6DC-C27A-1740-22922D3D8108}"/>
              </a:ext>
            </a:extLst>
          </p:cNvPr>
          <p:cNvPicPr>
            <a:picLocks noChangeAspect="1"/>
          </p:cNvPicPr>
          <p:nvPr/>
        </p:nvPicPr>
        <p:blipFill>
          <a:blip r:embed="rId2"/>
          <a:stretch>
            <a:fillRect/>
          </a:stretch>
        </p:blipFill>
        <p:spPr>
          <a:xfrm>
            <a:off x="1" y="54524"/>
            <a:ext cx="2398246" cy="621059"/>
          </a:xfrm>
          <a:prstGeom prst="rect">
            <a:avLst/>
          </a:prstGeom>
        </p:spPr>
      </p:pic>
      <p:sp>
        <p:nvSpPr>
          <p:cNvPr id="6" name="TextBox 5">
            <a:extLst>
              <a:ext uri="{FF2B5EF4-FFF2-40B4-BE49-F238E27FC236}">
                <a16:creationId xmlns:a16="http://schemas.microsoft.com/office/drawing/2014/main" id="{1F4FA982-AB2D-2A1D-C2FB-3CE4305F28B6}"/>
              </a:ext>
            </a:extLst>
          </p:cNvPr>
          <p:cNvSpPr txBox="1"/>
          <p:nvPr/>
        </p:nvSpPr>
        <p:spPr>
          <a:xfrm>
            <a:off x="1385650" y="1626401"/>
            <a:ext cx="9792935" cy="2446824"/>
          </a:xfrm>
          <a:prstGeom prst="rect">
            <a:avLst/>
          </a:prstGeom>
          <a:noFill/>
        </p:spPr>
        <p:txBody>
          <a:bodyPr wrap="square" rtlCol="0">
            <a:spAutoFit/>
          </a:bodyPr>
          <a:lstStyle/>
          <a:p>
            <a:pPr marL="0" marR="0" lvl="0" indent="0" algn="just" defTabSz="914400" rtl="0" eaLnBrk="0" fontAlgn="base" latinLnBrk="0" hangingPunct="0">
              <a:lnSpc>
                <a:spcPct val="15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Traditional systems rely on static rules or generic recommendations. our use of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Retrieval-Augmented Generation (RAG)</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allows the system to dynamically pull relevant academic, career, and market data to provide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deeply personalized</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and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context-aware</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 guidance. Integrating the user’s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skills </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into the retrieval process gives students </a:t>
            </a:r>
            <a:r>
              <a:rPr lang="en-US" altLang="en-US" dirty="0">
                <a:latin typeface="Times New Roman" panose="02020603050405020304" pitchFamily="18" charset="0"/>
                <a:cs typeface="Times New Roman" panose="02020603050405020304" pitchFamily="18" charset="0"/>
              </a:rPr>
              <a:t>r</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elevant Job </a:t>
            </a:r>
            <a:r>
              <a:rPr lang="en-US" altLang="en-US" dirty="0">
                <a:latin typeface="Times New Roman" panose="02020603050405020304" pitchFamily="18" charset="0"/>
                <a:cs typeface="Times New Roman" panose="02020603050405020304" pitchFamily="18" charset="0"/>
              </a:rPr>
              <a:t>listings </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that’s relevant to </a:t>
            </a:r>
            <a:r>
              <a:rPr kumimoji="0" lang="en-US" altLang="en-US" sz="1800" b="1"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both their abilities and real-world demand</a:t>
            </a:r>
            <a:r>
              <a:rPr kumimoji="0" lang="en-US" altLang="en-US" sz="18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a:t>
            </a:r>
          </a:p>
          <a:p>
            <a:pPr algn="just"/>
            <a:endParaRPr lang="en-US"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6CEE1F26-3091-E739-97DF-FDC9C84B07E8}"/>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3295090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9EAFEF31-79A4-C02E-AF74-118ECB6ABB5F}"/>
              </a:ext>
            </a:extLst>
          </p:cNvPr>
          <p:cNvSpPr/>
          <p:nvPr/>
        </p:nvSpPr>
        <p:spPr>
          <a:xfrm>
            <a:off x="565977" y="749539"/>
            <a:ext cx="11187043" cy="5724699"/>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4DFCAC29-7880-000E-6587-699F9A48E609}"/>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34858D91-A6E2-19BE-892E-F85A69FB6FBC}"/>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9" name="TextBox 8">
            <a:extLst>
              <a:ext uri="{FF2B5EF4-FFF2-40B4-BE49-F238E27FC236}">
                <a16:creationId xmlns:a16="http://schemas.microsoft.com/office/drawing/2014/main" id="{75360CB5-C725-807A-D25E-C29A3B74A0C2}"/>
              </a:ext>
            </a:extLst>
          </p:cNvPr>
          <p:cNvSpPr txBox="1"/>
          <p:nvPr/>
        </p:nvSpPr>
        <p:spPr>
          <a:xfrm>
            <a:off x="3693168" y="806731"/>
            <a:ext cx="4999156" cy="5539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000" b="1" dirty="0">
                <a:solidFill>
                  <a:srgbClr val="2E2E2E"/>
                </a:solidFill>
                <a:latin typeface="Times New Roman" panose="02020603050405020304" pitchFamily="18" charset="0"/>
                <a:cs typeface="Times New Roman" panose="02020603050405020304" pitchFamily="18" charset="0"/>
              </a:rPr>
              <a:t>PROPOSED WORK</a:t>
            </a:r>
            <a:r>
              <a:rPr lang="en-US" sz="3000" b="1" dirty="0">
                <a:solidFill>
                  <a:srgbClr val="2E2E2E"/>
                </a:solidFill>
                <a:latin typeface="Times New Roman" panose="02020603050405020304" pitchFamily="18" charset="0"/>
                <a:ea typeface="+mn-lt"/>
                <a:cs typeface="Times New Roman" panose="02020603050405020304" pitchFamily="18" charset="0"/>
              </a:rPr>
              <a:t> PLAN</a:t>
            </a:r>
            <a:endParaRPr lang="en-US" sz="3000" b="1" dirty="0">
              <a:latin typeface="Times New Roman" panose="02020603050405020304" pitchFamily="18" charset="0"/>
              <a:cs typeface="Times New Roman" panose="02020603050405020304" pitchFamily="18" charset="0"/>
            </a:endParaRPr>
          </a:p>
        </p:txBody>
      </p:sp>
      <p:sp>
        <p:nvSpPr>
          <p:cNvPr id="7" name="Date Placeholder 6">
            <a:extLst>
              <a:ext uri="{FF2B5EF4-FFF2-40B4-BE49-F238E27FC236}">
                <a16:creationId xmlns:a16="http://schemas.microsoft.com/office/drawing/2014/main" id="{B98CA720-0D20-9C0F-D98C-FB6E15FC03C8}"/>
              </a:ext>
            </a:extLst>
          </p:cNvPr>
          <p:cNvSpPr>
            <a:spLocks noGrp="1"/>
          </p:cNvSpPr>
          <p:nvPr>
            <p:ph type="dt" sz="half" idx="10"/>
          </p:nvPr>
        </p:nvSpPr>
        <p:spPr/>
        <p:txBody>
          <a:bodyPr/>
          <a:lstStyle/>
          <a:p>
            <a:fld id="{384C25EC-F9AF-4A87-8CBD-B73BC8DAC8B6}" type="datetime1">
              <a:rPr lang="en-US" smtClean="0"/>
              <a:t>4/21/2025</a:t>
            </a:fld>
            <a:endParaRPr lang="en-US"/>
          </a:p>
        </p:txBody>
      </p:sp>
      <p:sp>
        <p:nvSpPr>
          <p:cNvPr id="8" name="Slide Number Placeholder 7">
            <a:extLst>
              <a:ext uri="{FF2B5EF4-FFF2-40B4-BE49-F238E27FC236}">
                <a16:creationId xmlns:a16="http://schemas.microsoft.com/office/drawing/2014/main" id="{C57CCC31-8355-A488-9E79-8FFAE5A9A6C2}"/>
              </a:ext>
            </a:extLst>
          </p:cNvPr>
          <p:cNvSpPr>
            <a:spLocks noGrp="1"/>
          </p:cNvSpPr>
          <p:nvPr>
            <p:ph type="sldNum" sz="quarter" idx="12"/>
          </p:nvPr>
        </p:nvSpPr>
        <p:spPr/>
        <p:txBody>
          <a:bodyPr/>
          <a:lstStyle/>
          <a:p>
            <a:fld id="{48F63A3B-78C7-47BE-AE5E-E10140E04643}" type="slidenum">
              <a:rPr lang="en-US" dirty="0"/>
              <a:t>9</a:t>
            </a:fld>
            <a:endParaRPr lang="en-US"/>
          </a:p>
        </p:txBody>
      </p:sp>
      <p:pic>
        <p:nvPicPr>
          <p:cNvPr id="3" name="Picture 2" descr="A close-up of a logo&#10;&#10;AI-generated content may be incorrect.">
            <a:extLst>
              <a:ext uri="{FF2B5EF4-FFF2-40B4-BE49-F238E27FC236}">
                <a16:creationId xmlns:a16="http://schemas.microsoft.com/office/drawing/2014/main" id="{F91A502A-93E8-191C-DBD2-28DAF7309F13}"/>
              </a:ext>
            </a:extLst>
          </p:cNvPr>
          <p:cNvPicPr>
            <a:picLocks noChangeAspect="1"/>
          </p:cNvPicPr>
          <p:nvPr/>
        </p:nvPicPr>
        <p:blipFill>
          <a:blip r:embed="rId2"/>
          <a:stretch>
            <a:fillRect/>
          </a:stretch>
        </p:blipFill>
        <p:spPr>
          <a:xfrm>
            <a:off x="1" y="54524"/>
            <a:ext cx="2503714" cy="621059"/>
          </a:xfrm>
          <a:prstGeom prst="rect">
            <a:avLst/>
          </a:prstGeom>
        </p:spPr>
      </p:pic>
      <p:graphicFrame>
        <p:nvGraphicFramePr>
          <p:cNvPr id="2" name="Diagram 1">
            <a:extLst>
              <a:ext uri="{FF2B5EF4-FFF2-40B4-BE49-F238E27FC236}">
                <a16:creationId xmlns:a16="http://schemas.microsoft.com/office/drawing/2014/main" id="{E44A7D03-3ED6-F136-4672-669304DB3C8C}"/>
              </a:ext>
            </a:extLst>
          </p:cNvPr>
          <p:cNvGraphicFramePr/>
          <p:nvPr>
            <p:extLst>
              <p:ext uri="{D42A27DB-BD31-4B8C-83A1-F6EECF244321}">
                <p14:modId xmlns:p14="http://schemas.microsoft.com/office/powerpoint/2010/main" val="701439915"/>
              </p:ext>
            </p:extLst>
          </p:nvPr>
        </p:nvGraphicFramePr>
        <p:xfrm>
          <a:off x="1075746" y="1936681"/>
          <a:ext cx="10105053" cy="330957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a:extLst>
              <a:ext uri="{FF2B5EF4-FFF2-40B4-BE49-F238E27FC236}">
                <a16:creationId xmlns:a16="http://schemas.microsoft.com/office/drawing/2014/main" id="{AFFA9252-2CA9-9555-EC5C-75450A446B0E}"/>
              </a:ext>
            </a:extLst>
          </p:cNvPr>
          <p:cNvSpPr txBox="1"/>
          <p:nvPr/>
        </p:nvSpPr>
        <p:spPr>
          <a:xfrm>
            <a:off x="1754894" y="5512358"/>
            <a:ext cx="8875703" cy="477054"/>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Sequential Workflow </a:t>
            </a:r>
          </a:p>
        </p:txBody>
      </p:sp>
      <p:sp>
        <p:nvSpPr>
          <p:cNvPr id="6" name="TextBox 5">
            <a:extLst>
              <a:ext uri="{FF2B5EF4-FFF2-40B4-BE49-F238E27FC236}">
                <a16:creationId xmlns:a16="http://schemas.microsoft.com/office/drawing/2014/main" id="{333BBDCF-DF34-6B44-7EAD-4CBCD6F5F5E1}"/>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8541240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452AF6-8D84-243A-410C-2DEAC5744E5F}"/>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7629659A-5B39-EA6E-B394-CEDCA484AB2B}"/>
              </a:ext>
            </a:extLst>
          </p:cNvPr>
          <p:cNvSpPr/>
          <p:nvPr/>
        </p:nvSpPr>
        <p:spPr>
          <a:xfrm>
            <a:off x="565977" y="749539"/>
            <a:ext cx="11187043" cy="5724699"/>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FD673C94-4A15-F3D8-E549-7938A7321204}"/>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F4FBB6FF-882C-C161-6AB7-CC7F5B7752C7}"/>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9" name="TextBox 8">
            <a:extLst>
              <a:ext uri="{FF2B5EF4-FFF2-40B4-BE49-F238E27FC236}">
                <a16:creationId xmlns:a16="http://schemas.microsoft.com/office/drawing/2014/main" id="{3FF6BEF7-5434-447A-E661-024804400A86}"/>
              </a:ext>
            </a:extLst>
          </p:cNvPr>
          <p:cNvSpPr txBox="1"/>
          <p:nvPr/>
        </p:nvSpPr>
        <p:spPr>
          <a:xfrm>
            <a:off x="3659920" y="787021"/>
            <a:ext cx="4999156" cy="5539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000" b="1" dirty="0">
                <a:latin typeface="Times New Roman" panose="02020603050405020304" pitchFamily="18" charset="0"/>
                <a:cs typeface="Times New Roman" panose="02020603050405020304" pitchFamily="18" charset="0"/>
              </a:rPr>
              <a:t>Modules</a:t>
            </a:r>
          </a:p>
        </p:txBody>
      </p:sp>
      <p:sp>
        <p:nvSpPr>
          <p:cNvPr id="7" name="Date Placeholder 6">
            <a:extLst>
              <a:ext uri="{FF2B5EF4-FFF2-40B4-BE49-F238E27FC236}">
                <a16:creationId xmlns:a16="http://schemas.microsoft.com/office/drawing/2014/main" id="{35C36FA3-9ED5-37C5-8FEC-A819A31A6B01}"/>
              </a:ext>
            </a:extLst>
          </p:cNvPr>
          <p:cNvSpPr>
            <a:spLocks noGrp="1"/>
          </p:cNvSpPr>
          <p:nvPr>
            <p:ph type="dt" sz="half" idx="10"/>
          </p:nvPr>
        </p:nvSpPr>
        <p:spPr/>
        <p:txBody>
          <a:bodyPr/>
          <a:lstStyle/>
          <a:p>
            <a:fld id="{384C25EC-F9AF-4A87-8CBD-B73BC8DAC8B6}" type="datetime1">
              <a:rPr lang="en-US" smtClean="0"/>
              <a:t>4/21/2025</a:t>
            </a:fld>
            <a:endParaRPr lang="en-US"/>
          </a:p>
        </p:txBody>
      </p:sp>
      <p:sp>
        <p:nvSpPr>
          <p:cNvPr id="8" name="Slide Number Placeholder 7">
            <a:extLst>
              <a:ext uri="{FF2B5EF4-FFF2-40B4-BE49-F238E27FC236}">
                <a16:creationId xmlns:a16="http://schemas.microsoft.com/office/drawing/2014/main" id="{8D289D14-F882-83AF-862E-07197725EC7B}"/>
              </a:ext>
            </a:extLst>
          </p:cNvPr>
          <p:cNvSpPr>
            <a:spLocks noGrp="1"/>
          </p:cNvSpPr>
          <p:nvPr>
            <p:ph type="sldNum" sz="quarter" idx="12"/>
          </p:nvPr>
        </p:nvSpPr>
        <p:spPr/>
        <p:txBody>
          <a:bodyPr/>
          <a:lstStyle/>
          <a:p>
            <a:fld id="{48F63A3B-78C7-47BE-AE5E-E10140E04643}" type="slidenum">
              <a:rPr lang="en-US" dirty="0"/>
              <a:t>10</a:t>
            </a:fld>
            <a:endParaRPr lang="en-US"/>
          </a:p>
        </p:txBody>
      </p:sp>
      <p:pic>
        <p:nvPicPr>
          <p:cNvPr id="3" name="Picture 2" descr="A close-up of a logo&#10;&#10;AI-generated content may be incorrect.">
            <a:extLst>
              <a:ext uri="{FF2B5EF4-FFF2-40B4-BE49-F238E27FC236}">
                <a16:creationId xmlns:a16="http://schemas.microsoft.com/office/drawing/2014/main" id="{9ED240B2-752B-C41D-44E3-E2DD024FB5A2}"/>
              </a:ext>
            </a:extLst>
          </p:cNvPr>
          <p:cNvPicPr>
            <a:picLocks noChangeAspect="1"/>
          </p:cNvPicPr>
          <p:nvPr/>
        </p:nvPicPr>
        <p:blipFill>
          <a:blip r:embed="rId2"/>
          <a:stretch>
            <a:fillRect/>
          </a:stretch>
        </p:blipFill>
        <p:spPr>
          <a:xfrm>
            <a:off x="1" y="54524"/>
            <a:ext cx="2503714" cy="621059"/>
          </a:xfrm>
          <a:prstGeom prst="rect">
            <a:avLst/>
          </a:prstGeom>
        </p:spPr>
      </p:pic>
      <p:grpSp>
        <p:nvGrpSpPr>
          <p:cNvPr id="28" name="Group 27">
            <a:extLst>
              <a:ext uri="{FF2B5EF4-FFF2-40B4-BE49-F238E27FC236}">
                <a16:creationId xmlns:a16="http://schemas.microsoft.com/office/drawing/2014/main" id="{D6096131-6D4A-F4EE-12BE-1081FC425066}"/>
              </a:ext>
            </a:extLst>
          </p:cNvPr>
          <p:cNvGrpSpPr/>
          <p:nvPr/>
        </p:nvGrpSpPr>
        <p:grpSpPr>
          <a:xfrm>
            <a:off x="3659920" y="5619748"/>
            <a:ext cx="5065654" cy="752508"/>
            <a:chOff x="0" y="4118786"/>
            <a:chExt cx="5065654" cy="675721"/>
          </a:xfrm>
        </p:grpSpPr>
        <p:sp>
          <p:nvSpPr>
            <p:cNvPr id="41" name="Rectangle 40">
              <a:extLst>
                <a:ext uri="{FF2B5EF4-FFF2-40B4-BE49-F238E27FC236}">
                  <a16:creationId xmlns:a16="http://schemas.microsoft.com/office/drawing/2014/main" id="{1454036F-BA4A-1F1C-67B6-81A9DEC976C2}"/>
                </a:ext>
              </a:extLst>
            </p:cNvPr>
            <p:cNvSpPr/>
            <p:nvPr/>
          </p:nvSpPr>
          <p:spPr>
            <a:xfrm>
              <a:off x="0" y="4118786"/>
              <a:ext cx="5065654" cy="675721"/>
            </a:xfrm>
            <a:prstGeom prst="rect">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sp>
        <p:sp>
          <p:nvSpPr>
            <p:cNvPr id="42" name="TextBox 41">
              <a:extLst>
                <a:ext uri="{FF2B5EF4-FFF2-40B4-BE49-F238E27FC236}">
                  <a16:creationId xmlns:a16="http://schemas.microsoft.com/office/drawing/2014/main" id="{AAFB4077-64EF-675E-E128-0F581C6F4DD0}"/>
                </a:ext>
              </a:extLst>
            </p:cNvPr>
            <p:cNvSpPr txBox="1"/>
            <p:nvPr/>
          </p:nvSpPr>
          <p:spPr>
            <a:xfrm>
              <a:off x="0" y="4118786"/>
              <a:ext cx="5065654" cy="675721"/>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35128" tIns="135128" rIns="135128" bIns="135128" numCol="1" spcCol="1270" anchor="ctr" anchorCtr="0">
              <a:noAutofit/>
            </a:bodyPr>
            <a:lstStyle/>
            <a:p>
              <a:pPr marL="0" lvl="0" indent="0" algn="ctr" defTabSz="844550">
                <a:lnSpc>
                  <a:spcPct val="90000"/>
                </a:lnSpc>
                <a:spcBef>
                  <a:spcPct val="0"/>
                </a:spcBef>
                <a:spcAft>
                  <a:spcPct val="35000"/>
                </a:spcAft>
                <a:buNone/>
              </a:pPr>
              <a:r>
                <a:rPr lang="en-US" sz="1900" kern="1200" dirty="0">
                  <a:latin typeface="Times New Roman"/>
                  <a:cs typeface="Times New Roman"/>
                </a:rPr>
                <a:t>Evaluation Module </a:t>
              </a:r>
              <a:endParaRPr lang="en-US" sz="1900" kern="1200" dirty="0"/>
            </a:p>
          </p:txBody>
        </p:sp>
      </p:grpSp>
      <p:grpSp>
        <p:nvGrpSpPr>
          <p:cNvPr id="29" name="Group 28">
            <a:extLst>
              <a:ext uri="{FF2B5EF4-FFF2-40B4-BE49-F238E27FC236}">
                <a16:creationId xmlns:a16="http://schemas.microsoft.com/office/drawing/2014/main" id="{ADF3FC91-C709-A096-7F33-1190AE5109EA}"/>
              </a:ext>
            </a:extLst>
          </p:cNvPr>
          <p:cNvGrpSpPr/>
          <p:nvPr/>
        </p:nvGrpSpPr>
        <p:grpSpPr>
          <a:xfrm>
            <a:off x="3659920" y="4549315"/>
            <a:ext cx="5065654" cy="1157356"/>
            <a:chOff x="0" y="3089663"/>
            <a:chExt cx="5065654" cy="1039259"/>
          </a:xfrm>
        </p:grpSpPr>
        <p:sp>
          <p:nvSpPr>
            <p:cNvPr id="39" name="Callout: Up Arrow 38">
              <a:extLst>
                <a:ext uri="{FF2B5EF4-FFF2-40B4-BE49-F238E27FC236}">
                  <a16:creationId xmlns:a16="http://schemas.microsoft.com/office/drawing/2014/main" id="{56F87283-625E-C3E5-ED3C-98C3E7A4B100}"/>
                </a:ext>
              </a:extLst>
            </p:cNvPr>
            <p:cNvSpPr/>
            <p:nvPr/>
          </p:nvSpPr>
          <p:spPr>
            <a:xfrm rot="10800000">
              <a:off x="0" y="3089663"/>
              <a:ext cx="5065654" cy="1039259"/>
            </a:xfrm>
            <a:prstGeom prst="upArrowCallout">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sp>
        <p:sp>
          <p:nvSpPr>
            <p:cNvPr id="40" name="Callout: Up Arrow 6">
              <a:extLst>
                <a:ext uri="{FF2B5EF4-FFF2-40B4-BE49-F238E27FC236}">
                  <a16:creationId xmlns:a16="http://schemas.microsoft.com/office/drawing/2014/main" id="{C7506A59-93FF-B3C5-2EFC-BBD454038CEA}"/>
                </a:ext>
              </a:extLst>
            </p:cNvPr>
            <p:cNvSpPr txBox="1"/>
            <p:nvPr/>
          </p:nvSpPr>
          <p:spPr>
            <a:xfrm rot="21600000">
              <a:off x="0" y="3089663"/>
              <a:ext cx="5065654" cy="67527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35128" tIns="135128" rIns="135128" bIns="135128" numCol="1" spcCol="1270" anchor="ctr" anchorCtr="0">
              <a:noAutofit/>
            </a:bodyPr>
            <a:lstStyle/>
            <a:p>
              <a:pPr marL="0" lvl="0" indent="0" algn="ctr" defTabSz="844550" rtl="0">
                <a:lnSpc>
                  <a:spcPct val="90000"/>
                </a:lnSpc>
                <a:spcBef>
                  <a:spcPct val="0"/>
                </a:spcBef>
                <a:spcAft>
                  <a:spcPct val="35000"/>
                </a:spcAft>
                <a:buNone/>
              </a:pPr>
              <a:r>
                <a:rPr lang="en-US" sz="1900" kern="1200" dirty="0">
                  <a:latin typeface="Times New Roman"/>
                  <a:cs typeface="Times New Roman"/>
                </a:rPr>
                <a:t>Retrieval Augmented Generation (RAG) Module </a:t>
              </a:r>
            </a:p>
          </p:txBody>
        </p:sp>
      </p:grpSp>
      <p:grpSp>
        <p:nvGrpSpPr>
          <p:cNvPr id="30" name="Group 29">
            <a:extLst>
              <a:ext uri="{FF2B5EF4-FFF2-40B4-BE49-F238E27FC236}">
                <a16:creationId xmlns:a16="http://schemas.microsoft.com/office/drawing/2014/main" id="{FF2333B7-A84D-DA3B-E7AC-37D49FCCB844}"/>
              </a:ext>
            </a:extLst>
          </p:cNvPr>
          <p:cNvGrpSpPr/>
          <p:nvPr/>
        </p:nvGrpSpPr>
        <p:grpSpPr>
          <a:xfrm>
            <a:off x="3659920" y="3520191"/>
            <a:ext cx="5065654" cy="1157356"/>
            <a:chOff x="0" y="2060539"/>
            <a:chExt cx="5065654" cy="1039259"/>
          </a:xfrm>
        </p:grpSpPr>
        <p:sp>
          <p:nvSpPr>
            <p:cNvPr id="37" name="Callout: Up Arrow 36">
              <a:extLst>
                <a:ext uri="{FF2B5EF4-FFF2-40B4-BE49-F238E27FC236}">
                  <a16:creationId xmlns:a16="http://schemas.microsoft.com/office/drawing/2014/main" id="{CF6A9BC1-D8D5-171B-3F15-BAEC12FABA8A}"/>
                </a:ext>
              </a:extLst>
            </p:cNvPr>
            <p:cNvSpPr/>
            <p:nvPr/>
          </p:nvSpPr>
          <p:spPr>
            <a:xfrm rot="10800000">
              <a:off x="0" y="2060539"/>
              <a:ext cx="5065654" cy="1039259"/>
            </a:xfrm>
            <a:prstGeom prst="upArrowCallout">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sp>
        <p:sp>
          <p:nvSpPr>
            <p:cNvPr id="38" name="Callout: Up Arrow 8">
              <a:extLst>
                <a:ext uri="{FF2B5EF4-FFF2-40B4-BE49-F238E27FC236}">
                  <a16:creationId xmlns:a16="http://schemas.microsoft.com/office/drawing/2014/main" id="{3E899786-1249-A63C-20F2-9CD499EE4968}"/>
                </a:ext>
              </a:extLst>
            </p:cNvPr>
            <p:cNvSpPr txBox="1"/>
            <p:nvPr/>
          </p:nvSpPr>
          <p:spPr>
            <a:xfrm rot="21600000">
              <a:off x="0" y="2060539"/>
              <a:ext cx="5065654" cy="67527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35128" tIns="135128" rIns="135128" bIns="135128" numCol="1" spcCol="1270" anchor="ctr" anchorCtr="0">
              <a:noAutofit/>
            </a:bodyPr>
            <a:lstStyle/>
            <a:p>
              <a:pPr marL="0" lvl="0" indent="0" algn="ctr" defTabSz="844550" rtl="0">
                <a:lnSpc>
                  <a:spcPct val="90000"/>
                </a:lnSpc>
                <a:spcBef>
                  <a:spcPct val="0"/>
                </a:spcBef>
                <a:spcAft>
                  <a:spcPct val="35000"/>
                </a:spcAft>
                <a:buNone/>
              </a:pPr>
              <a:r>
                <a:rPr lang="en-US" sz="1900" kern="1200" dirty="0">
                  <a:latin typeface="Times New Roman"/>
                  <a:cs typeface="Times New Roman"/>
                </a:rPr>
                <a:t>Semantic Retrieval Module </a:t>
              </a:r>
            </a:p>
          </p:txBody>
        </p:sp>
      </p:grpSp>
      <p:grpSp>
        <p:nvGrpSpPr>
          <p:cNvPr id="31" name="Group 30">
            <a:extLst>
              <a:ext uri="{FF2B5EF4-FFF2-40B4-BE49-F238E27FC236}">
                <a16:creationId xmlns:a16="http://schemas.microsoft.com/office/drawing/2014/main" id="{5318C226-1E2A-26DA-4ED5-BE5CE424C018}"/>
              </a:ext>
            </a:extLst>
          </p:cNvPr>
          <p:cNvGrpSpPr/>
          <p:nvPr/>
        </p:nvGrpSpPr>
        <p:grpSpPr>
          <a:xfrm>
            <a:off x="3659920" y="2491068"/>
            <a:ext cx="5065654" cy="1157356"/>
            <a:chOff x="0" y="1031416"/>
            <a:chExt cx="5065654" cy="1039259"/>
          </a:xfrm>
        </p:grpSpPr>
        <p:sp>
          <p:nvSpPr>
            <p:cNvPr id="35" name="Callout: Up Arrow 34">
              <a:extLst>
                <a:ext uri="{FF2B5EF4-FFF2-40B4-BE49-F238E27FC236}">
                  <a16:creationId xmlns:a16="http://schemas.microsoft.com/office/drawing/2014/main" id="{45647A56-287E-C529-82F9-B2E6C9092C8C}"/>
                </a:ext>
              </a:extLst>
            </p:cNvPr>
            <p:cNvSpPr/>
            <p:nvPr/>
          </p:nvSpPr>
          <p:spPr>
            <a:xfrm rot="10800000">
              <a:off x="0" y="1031416"/>
              <a:ext cx="5065654" cy="1039259"/>
            </a:xfrm>
            <a:prstGeom prst="upArrowCallout">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sp>
        <p:sp>
          <p:nvSpPr>
            <p:cNvPr id="36" name="Callout: Up Arrow 10">
              <a:extLst>
                <a:ext uri="{FF2B5EF4-FFF2-40B4-BE49-F238E27FC236}">
                  <a16:creationId xmlns:a16="http://schemas.microsoft.com/office/drawing/2014/main" id="{150D839B-A590-ADA5-E672-70385F47A490}"/>
                </a:ext>
              </a:extLst>
            </p:cNvPr>
            <p:cNvSpPr txBox="1"/>
            <p:nvPr/>
          </p:nvSpPr>
          <p:spPr>
            <a:xfrm rot="21600000">
              <a:off x="0" y="1031416"/>
              <a:ext cx="5065654" cy="67527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35128" tIns="135128" rIns="135128" bIns="135128" numCol="1" spcCol="1270" anchor="ctr" anchorCtr="0">
              <a:noAutofit/>
            </a:bodyPr>
            <a:lstStyle/>
            <a:p>
              <a:pPr marL="0" lvl="0" indent="0" algn="ctr" defTabSz="844550" rtl="0">
                <a:lnSpc>
                  <a:spcPct val="90000"/>
                </a:lnSpc>
                <a:spcBef>
                  <a:spcPct val="0"/>
                </a:spcBef>
                <a:spcAft>
                  <a:spcPct val="35000"/>
                </a:spcAft>
                <a:buNone/>
              </a:pPr>
              <a:r>
                <a:rPr lang="en-US" sz="1900" kern="1200" dirty="0">
                  <a:latin typeface="Times New Roman"/>
                  <a:cs typeface="Times New Roman"/>
                </a:rPr>
                <a:t>Data Preprocessing Module </a:t>
              </a:r>
            </a:p>
          </p:txBody>
        </p:sp>
      </p:grpSp>
      <p:grpSp>
        <p:nvGrpSpPr>
          <p:cNvPr id="32" name="Group 31">
            <a:extLst>
              <a:ext uri="{FF2B5EF4-FFF2-40B4-BE49-F238E27FC236}">
                <a16:creationId xmlns:a16="http://schemas.microsoft.com/office/drawing/2014/main" id="{86C10E9B-9E9C-FE5F-366B-14198CDFA6E6}"/>
              </a:ext>
            </a:extLst>
          </p:cNvPr>
          <p:cNvGrpSpPr/>
          <p:nvPr/>
        </p:nvGrpSpPr>
        <p:grpSpPr>
          <a:xfrm>
            <a:off x="3659920" y="1461945"/>
            <a:ext cx="5065654" cy="1157356"/>
            <a:chOff x="0" y="2293"/>
            <a:chExt cx="5065654" cy="1039259"/>
          </a:xfrm>
        </p:grpSpPr>
        <p:sp>
          <p:nvSpPr>
            <p:cNvPr id="33" name="Callout: Up Arrow 32">
              <a:extLst>
                <a:ext uri="{FF2B5EF4-FFF2-40B4-BE49-F238E27FC236}">
                  <a16:creationId xmlns:a16="http://schemas.microsoft.com/office/drawing/2014/main" id="{0597D628-DEBB-F41B-AE56-7A2041EA8B35}"/>
                </a:ext>
              </a:extLst>
            </p:cNvPr>
            <p:cNvSpPr/>
            <p:nvPr/>
          </p:nvSpPr>
          <p:spPr>
            <a:xfrm rot="10800000">
              <a:off x="0" y="2293"/>
              <a:ext cx="5065654" cy="1039259"/>
            </a:xfrm>
            <a:prstGeom prst="upArrowCallout">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sp>
        <p:sp>
          <p:nvSpPr>
            <p:cNvPr id="34" name="Callout: Up Arrow 12">
              <a:extLst>
                <a:ext uri="{FF2B5EF4-FFF2-40B4-BE49-F238E27FC236}">
                  <a16:creationId xmlns:a16="http://schemas.microsoft.com/office/drawing/2014/main" id="{5E67CCEA-313F-E36A-B224-280E7408A98C}"/>
                </a:ext>
              </a:extLst>
            </p:cNvPr>
            <p:cNvSpPr txBox="1"/>
            <p:nvPr/>
          </p:nvSpPr>
          <p:spPr>
            <a:xfrm rot="21600000">
              <a:off x="0" y="2293"/>
              <a:ext cx="5065654" cy="67527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135128" tIns="135128" rIns="135128" bIns="135128" numCol="1" spcCol="1270" anchor="ctr" anchorCtr="0">
              <a:noAutofit/>
            </a:bodyPr>
            <a:lstStyle/>
            <a:p>
              <a:pPr marL="0" lvl="0" indent="0" algn="ctr" defTabSz="844550" rtl="0">
                <a:lnSpc>
                  <a:spcPct val="90000"/>
                </a:lnSpc>
                <a:spcBef>
                  <a:spcPct val="0"/>
                </a:spcBef>
                <a:spcAft>
                  <a:spcPct val="35000"/>
                </a:spcAft>
                <a:buNone/>
              </a:pPr>
              <a:r>
                <a:rPr lang="en-US" sz="1900" kern="1200" dirty="0">
                  <a:latin typeface="Times New Roman"/>
                  <a:cs typeface="Times New Roman"/>
                </a:rPr>
                <a:t>User Profile and Data Collection Module </a:t>
              </a:r>
            </a:p>
          </p:txBody>
        </p:sp>
      </p:grpSp>
      <p:sp>
        <p:nvSpPr>
          <p:cNvPr id="2" name="TextBox 1">
            <a:extLst>
              <a:ext uri="{FF2B5EF4-FFF2-40B4-BE49-F238E27FC236}">
                <a16:creationId xmlns:a16="http://schemas.microsoft.com/office/drawing/2014/main" id="{B5A46FCC-708C-7F30-F58A-9A7CFDFE3527}"/>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16702563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9EAFEF31-79A4-C02E-AF74-118ECB6ABB5F}"/>
              </a:ext>
            </a:extLst>
          </p:cNvPr>
          <p:cNvSpPr/>
          <p:nvPr/>
        </p:nvSpPr>
        <p:spPr>
          <a:xfrm>
            <a:off x="361381" y="675583"/>
            <a:ext cx="11391640" cy="5815739"/>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4DFCAC29-7880-000E-6587-699F9A48E609}"/>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34858D91-A6E2-19BE-892E-F85A69FB6FBC}"/>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9" name="TextBox 8">
            <a:extLst>
              <a:ext uri="{FF2B5EF4-FFF2-40B4-BE49-F238E27FC236}">
                <a16:creationId xmlns:a16="http://schemas.microsoft.com/office/drawing/2014/main" id="{75360CB5-C725-807A-D25E-C29A3B74A0C2}"/>
              </a:ext>
            </a:extLst>
          </p:cNvPr>
          <p:cNvSpPr txBox="1"/>
          <p:nvPr/>
        </p:nvSpPr>
        <p:spPr>
          <a:xfrm>
            <a:off x="4018538" y="726758"/>
            <a:ext cx="5194864" cy="4770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500" b="1" dirty="0">
                <a:solidFill>
                  <a:srgbClr val="2E2E2E"/>
                </a:solidFill>
                <a:latin typeface="Times New Roman" panose="02020603050405020304" pitchFamily="18" charset="0"/>
                <a:ea typeface="Calibri"/>
                <a:cs typeface="Times New Roman" panose="02020603050405020304" pitchFamily="18" charset="0"/>
              </a:rPr>
              <a:t>ARCHITECTURE DIAGRAM</a:t>
            </a:r>
          </a:p>
        </p:txBody>
      </p:sp>
      <p:sp>
        <p:nvSpPr>
          <p:cNvPr id="7" name="Date Placeholder 6">
            <a:extLst>
              <a:ext uri="{FF2B5EF4-FFF2-40B4-BE49-F238E27FC236}">
                <a16:creationId xmlns:a16="http://schemas.microsoft.com/office/drawing/2014/main" id="{DE64DE95-D940-2104-59A1-8DE768318F0F}"/>
              </a:ext>
            </a:extLst>
          </p:cNvPr>
          <p:cNvSpPr>
            <a:spLocks noGrp="1"/>
          </p:cNvSpPr>
          <p:nvPr>
            <p:ph type="dt" sz="half" idx="10"/>
          </p:nvPr>
        </p:nvSpPr>
        <p:spPr/>
        <p:txBody>
          <a:bodyPr/>
          <a:lstStyle/>
          <a:p>
            <a:fld id="{49F5BBA2-DF07-4E17-AC96-F70C18ED6817}" type="datetime1">
              <a:rPr lang="en-US" smtClean="0"/>
              <a:t>4/21/2025</a:t>
            </a:fld>
            <a:endParaRPr lang="en-US" dirty="0"/>
          </a:p>
        </p:txBody>
      </p:sp>
      <p:sp>
        <p:nvSpPr>
          <p:cNvPr id="8" name="Slide Number Placeholder 7">
            <a:extLst>
              <a:ext uri="{FF2B5EF4-FFF2-40B4-BE49-F238E27FC236}">
                <a16:creationId xmlns:a16="http://schemas.microsoft.com/office/drawing/2014/main" id="{00925B76-4F95-0474-E649-4D28E313D794}"/>
              </a:ext>
            </a:extLst>
          </p:cNvPr>
          <p:cNvSpPr>
            <a:spLocks noGrp="1"/>
          </p:cNvSpPr>
          <p:nvPr>
            <p:ph type="sldNum" sz="quarter" idx="12"/>
          </p:nvPr>
        </p:nvSpPr>
        <p:spPr/>
        <p:txBody>
          <a:bodyPr/>
          <a:lstStyle/>
          <a:p>
            <a:fld id="{48F63A3B-78C7-47BE-AE5E-E10140E04643}" type="slidenum">
              <a:rPr lang="en-US" dirty="0"/>
              <a:t>11</a:t>
            </a:fld>
            <a:endParaRPr lang="en-US" dirty="0"/>
          </a:p>
        </p:txBody>
      </p:sp>
      <p:pic>
        <p:nvPicPr>
          <p:cNvPr id="2" name="Picture 1" descr="A close-up of a logo&#10;&#10;AI-generated content may be incorrect.">
            <a:extLst>
              <a:ext uri="{FF2B5EF4-FFF2-40B4-BE49-F238E27FC236}">
                <a16:creationId xmlns:a16="http://schemas.microsoft.com/office/drawing/2014/main" id="{FEAD4BA8-F927-BD74-E154-6CE220005C93}"/>
              </a:ext>
            </a:extLst>
          </p:cNvPr>
          <p:cNvPicPr>
            <a:picLocks noChangeAspect="1"/>
          </p:cNvPicPr>
          <p:nvPr/>
        </p:nvPicPr>
        <p:blipFill>
          <a:blip r:embed="rId2"/>
          <a:stretch>
            <a:fillRect/>
          </a:stretch>
        </p:blipFill>
        <p:spPr>
          <a:xfrm>
            <a:off x="1" y="54524"/>
            <a:ext cx="2503714" cy="621059"/>
          </a:xfrm>
          <a:prstGeom prst="rect">
            <a:avLst/>
          </a:prstGeom>
        </p:spPr>
      </p:pic>
      <p:pic>
        <p:nvPicPr>
          <p:cNvPr id="13" name="Content Placeholder 6">
            <a:extLst>
              <a:ext uri="{FF2B5EF4-FFF2-40B4-BE49-F238E27FC236}">
                <a16:creationId xmlns:a16="http://schemas.microsoft.com/office/drawing/2014/main" id="{7DF53248-4F6F-9958-022B-B4B59A1C2D1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19565" y="1169966"/>
            <a:ext cx="6090262" cy="5255973"/>
          </a:xfrm>
          <a:prstGeom prst="rect">
            <a:avLst/>
          </a:prstGeom>
        </p:spPr>
      </p:pic>
      <p:sp>
        <p:nvSpPr>
          <p:cNvPr id="6" name="TextBox 5">
            <a:extLst>
              <a:ext uri="{FF2B5EF4-FFF2-40B4-BE49-F238E27FC236}">
                <a16:creationId xmlns:a16="http://schemas.microsoft.com/office/drawing/2014/main" id="{2BD322F9-7D4F-EF7B-1628-C67691F9DB55}"/>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28078341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9EAFEF31-79A4-C02E-AF74-118ECB6ABB5F}"/>
              </a:ext>
            </a:extLst>
          </p:cNvPr>
          <p:cNvSpPr/>
          <p:nvPr/>
        </p:nvSpPr>
        <p:spPr>
          <a:xfrm>
            <a:off x="565977" y="721301"/>
            <a:ext cx="11187043" cy="5752938"/>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4DFCAC29-7880-000E-6587-699F9A48E609}"/>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34858D91-A6E2-19BE-892E-F85A69FB6FBC}"/>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9" name="TextBox 8">
            <a:extLst>
              <a:ext uri="{FF2B5EF4-FFF2-40B4-BE49-F238E27FC236}">
                <a16:creationId xmlns:a16="http://schemas.microsoft.com/office/drawing/2014/main" id="{75360CB5-C725-807A-D25E-C29A3B74A0C2}"/>
              </a:ext>
            </a:extLst>
          </p:cNvPr>
          <p:cNvSpPr txBox="1"/>
          <p:nvPr/>
        </p:nvSpPr>
        <p:spPr>
          <a:xfrm>
            <a:off x="1947205" y="791077"/>
            <a:ext cx="8947589" cy="5539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000" b="1" dirty="0">
                <a:solidFill>
                  <a:srgbClr val="2E2E2E"/>
                </a:solidFill>
                <a:latin typeface="Times New Roman" panose="02020603050405020304" pitchFamily="18" charset="0"/>
                <a:ea typeface="Calibri"/>
                <a:cs typeface="Times New Roman" panose="02020603050405020304" pitchFamily="18" charset="0"/>
              </a:rPr>
              <a:t>MODULE WISE DESCRIPTION</a:t>
            </a:r>
            <a:endParaRPr lang="en-US" sz="3000" dirty="0">
              <a:latin typeface="Times New Roman" panose="02020603050405020304" pitchFamily="18" charset="0"/>
              <a:cs typeface="Times New Roman" panose="02020603050405020304" pitchFamily="18" charset="0"/>
            </a:endParaRPr>
          </a:p>
        </p:txBody>
      </p:sp>
      <p:sp>
        <p:nvSpPr>
          <p:cNvPr id="7" name="Date Placeholder 6">
            <a:extLst>
              <a:ext uri="{FF2B5EF4-FFF2-40B4-BE49-F238E27FC236}">
                <a16:creationId xmlns:a16="http://schemas.microsoft.com/office/drawing/2014/main" id="{48BCC99D-3266-7C0F-0B8C-F989D46C7FEC}"/>
              </a:ext>
            </a:extLst>
          </p:cNvPr>
          <p:cNvSpPr>
            <a:spLocks noGrp="1"/>
          </p:cNvSpPr>
          <p:nvPr>
            <p:ph type="dt" sz="half" idx="10"/>
          </p:nvPr>
        </p:nvSpPr>
        <p:spPr/>
        <p:txBody>
          <a:bodyPr/>
          <a:lstStyle/>
          <a:p>
            <a:fld id="{EAE32B99-C71A-45B2-8B74-F62CE79211CD}" type="datetime1">
              <a:rPr lang="en-US" smtClean="0"/>
              <a:t>4/21/2025</a:t>
            </a:fld>
            <a:endParaRPr lang="en-US"/>
          </a:p>
        </p:txBody>
      </p:sp>
      <p:sp>
        <p:nvSpPr>
          <p:cNvPr id="2" name="Slide Number Placeholder 1">
            <a:extLst>
              <a:ext uri="{FF2B5EF4-FFF2-40B4-BE49-F238E27FC236}">
                <a16:creationId xmlns:a16="http://schemas.microsoft.com/office/drawing/2014/main" id="{F7382DCF-45C3-79CC-021E-8BD6A10B298C}"/>
              </a:ext>
            </a:extLst>
          </p:cNvPr>
          <p:cNvSpPr>
            <a:spLocks noGrp="1"/>
          </p:cNvSpPr>
          <p:nvPr>
            <p:ph type="sldNum" sz="quarter" idx="12"/>
          </p:nvPr>
        </p:nvSpPr>
        <p:spPr/>
        <p:txBody>
          <a:bodyPr/>
          <a:lstStyle/>
          <a:p>
            <a:fld id="{48F63A3B-78C7-47BE-AE5E-E10140E04643}" type="slidenum">
              <a:rPr lang="en-US" dirty="0"/>
              <a:t>12</a:t>
            </a:fld>
            <a:endParaRPr lang="en-US"/>
          </a:p>
        </p:txBody>
      </p:sp>
      <p:pic>
        <p:nvPicPr>
          <p:cNvPr id="3" name="Picture 2" descr="A close-up of a logo&#10;&#10;AI-generated content may be incorrect.">
            <a:extLst>
              <a:ext uri="{FF2B5EF4-FFF2-40B4-BE49-F238E27FC236}">
                <a16:creationId xmlns:a16="http://schemas.microsoft.com/office/drawing/2014/main" id="{31353ED8-6641-37DB-8BA2-E5301DC6B16D}"/>
              </a:ext>
            </a:extLst>
          </p:cNvPr>
          <p:cNvPicPr>
            <a:picLocks noChangeAspect="1"/>
          </p:cNvPicPr>
          <p:nvPr/>
        </p:nvPicPr>
        <p:blipFill>
          <a:blip r:embed="rId2"/>
          <a:stretch>
            <a:fillRect/>
          </a:stretch>
        </p:blipFill>
        <p:spPr>
          <a:xfrm>
            <a:off x="1" y="54524"/>
            <a:ext cx="2503714" cy="621059"/>
          </a:xfrm>
          <a:prstGeom prst="rect">
            <a:avLst/>
          </a:prstGeom>
        </p:spPr>
      </p:pic>
      <p:sp>
        <p:nvSpPr>
          <p:cNvPr id="6" name="TextBox 5">
            <a:extLst>
              <a:ext uri="{FF2B5EF4-FFF2-40B4-BE49-F238E27FC236}">
                <a16:creationId xmlns:a16="http://schemas.microsoft.com/office/drawing/2014/main" id="{CEC3BDFC-EDC4-7081-CC2C-36C74ECB4D94}"/>
              </a:ext>
            </a:extLst>
          </p:cNvPr>
          <p:cNvSpPr txBox="1"/>
          <p:nvPr/>
        </p:nvSpPr>
        <p:spPr>
          <a:xfrm>
            <a:off x="1133702" y="2111775"/>
            <a:ext cx="9924596" cy="1883657"/>
          </a:xfrm>
          <a:prstGeom prst="rect">
            <a:avLst/>
          </a:prstGeom>
          <a:noFill/>
        </p:spPr>
        <p:txBody>
          <a:bodyPr wrap="square">
            <a:spAutoFit/>
          </a:bodyPr>
          <a:lstStyle/>
          <a:p>
            <a:pPr algn="just">
              <a:lnSpc>
                <a:spcPct val="150000"/>
              </a:lnSpc>
            </a:pPr>
            <a:r>
              <a:rPr lang="en-US" sz="2000" b="1" dirty="0">
                <a:latin typeface="Times New Roman" panose="02020603050405020304" pitchFamily="18" charset="0"/>
                <a:ea typeface="Calibri"/>
                <a:cs typeface="Times New Roman" panose="02020603050405020304" pitchFamily="18" charset="0"/>
              </a:rPr>
              <a:t>User Profile and Data collection Module:</a:t>
            </a:r>
          </a:p>
          <a:p>
            <a:pPr algn="just">
              <a:lnSpc>
                <a:spcPct val="150000"/>
              </a:lnSpc>
            </a:pPr>
            <a:r>
              <a:rPr lang="en-US" sz="2000" dirty="0">
                <a:latin typeface="Times New Roman" panose="02020603050405020304" pitchFamily="18" charset="0"/>
                <a:ea typeface="+mn-lt"/>
                <a:cs typeface="Times New Roman" panose="02020603050405020304" pitchFamily="18" charset="0"/>
              </a:rPr>
              <a:t>Collects and manages comprehensive user data, including academic history, skills. This module serves as the foundation for generating personalized recommendations. </a:t>
            </a:r>
            <a:endParaRPr lang="en-US" sz="2000" dirty="0">
              <a:latin typeface="Times New Roman" panose="02020603050405020304" pitchFamily="18" charset="0"/>
              <a:ea typeface="Calibri"/>
              <a:cs typeface="Times New Roman" panose="02020603050405020304" pitchFamily="18" charset="0"/>
            </a:endParaRPr>
          </a:p>
          <a:p>
            <a:pPr algn="just">
              <a:lnSpc>
                <a:spcPct val="150000"/>
              </a:lnSpc>
            </a:pPr>
            <a:endParaRPr lang="en-US" sz="2000" b="1" dirty="0">
              <a:latin typeface="Times New Roman" panose="02020603050405020304" pitchFamily="18" charset="0"/>
              <a:ea typeface="Calibri"/>
              <a:cs typeface="Times New Roman" panose="02020603050405020304" pitchFamily="18" charset="0"/>
            </a:endParaRPr>
          </a:p>
        </p:txBody>
      </p:sp>
      <p:sp>
        <p:nvSpPr>
          <p:cNvPr id="5" name="TextBox 4">
            <a:extLst>
              <a:ext uri="{FF2B5EF4-FFF2-40B4-BE49-F238E27FC236}">
                <a16:creationId xmlns:a16="http://schemas.microsoft.com/office/drawing/2014/main" id="{C8C3FB16-02DE-9EA1-B8F5-768070EE2367}"/>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11586451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7A685-AE85-A534-FB1A-7189F7DFF53D}"/>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DAEE1424-46D8-B66A-0765-15C0764C8E79}"/>
              </a:ext>
            </a:extLst>
          </p:cNvPr>
          <p:cNvSpPr/>
          <p:nvPr/>
        </p:nvSpPr>
        <p:spPr>
          <a:xfrm>
            <a:off x="565977" y="721301"/>
            <a:ext cx="11187043" cy="5752938"/>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F1D1B540-65CE-CD64-1AB3-6EAFA5E86A31}"/>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973554A4-CCD7-8A65-E537-741C1FC0D52A}"/>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9" name="TextBox 8">
            <a:extLst>
              <a:ext uri="{FF2B5EF4-FFF2-40B4-BE49-F238E27FC236}">
                <a16:creationId xmlns:a16="http://schemas.microsoft.com/office/drawing/2014/main" id="{D057D0B6-AFC5-9959-87B1-0A346006CAB2}"/>
              </a:ext>
            </a:extLst>
          </p:cNvPr>
          <p:cNvSpPr txBox="1"/>
          <p:nvPr/>
        </p:nvSpPr>
        <p:spPr>
          <a:xfrm>
            <a:off x="1947205" y="791077"/>
            <a:ext cx="8947589" cy="5539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000" b="1" dirty="0">
                <a:solidFill>
                  <a:srgbClr val="2E2E2E"/>
                </a:solidFill>
                <a:latin typeface="Times New Roman" panose="02020603050405020304" pitchFamily="18" charset="0"/>
                <a:ea typeface="Calibri"/>
                <a:cs typeface="Times New Roman" panose="02020603050405020304" pitchFamily="18" charset="0"/>
              </a:rPr>
              <a:t>MODULE WISE DESCRIPTION</a:t>
            </a:r>
            <a:endParaRPr lang="en-US" sz="3000" dirty="0">
              <a:latin typeface="Times New Roman" panose="02020603050405020304" pitchFamily="18" charset="0"/>
              <a:cs typeface="Times New Roman" panose="02020603050405020304" pitchFamily="18" charset="0"/>
            </a:endParaRPr>
          </a:p>
        </p:txBody>
      </p:sp>
      <p:sp>
        <p:nvSpPr>
          <p:cNvPr id="7" name="Date Placeholder 6">
            <a:extLst>
              <a:ext uri="{FF2B5EF4-FFF2-40B4-BE49-F238E27FC236}">
                <a16:creationId xmlns:a16="http://schemas.microsoft.com/office/drawing/2014/main" id="{3B4F3260-2D37-5744-6A24-047684FAEBF4}"/>
              </a:ext>
            </a:extLst>
          </p:cNvPr>
          <p:cNvSpPr>
            <a:spLocks noGrp="1"/>
          </p:cNvSpPr>
          <p:nvPr>
            <p:ph type="dt" sz="half" idx="10"/>
          </p:nvPr>
        </p:nvSpPr>
        <p:spPr/>
        <p:txBody>
          <a:bodyPr/>
          <a:lstStyle/>
          <a:p>
            <a:fld id="{EAE32B99-C71A-45B2-8B74-F62CE79211CD}" type="datetime1">
              <a:rPr lang="en-US" smtClean="0"/>
              <a:t>4/21/2025</a:t>
            </a:fld>
            <a:endParaRPr lang="en-US"/>
          </a:p>
        </p:txBody>
      </p:sp>
      <p:sp>
        <p:nvSpPr>
          <p:cNvPr id="2" name="Slide Number Placeholder 1">
            <a:extLst>
              <a:ext uri="{FF2B5EF4-FFF2-40B4-BE49-F238E27FC236}">
                <a16:creationId xmlns:a16="http://schemas.microsoft.com/office/drawing/2014/main" id="{2502723F-D4D7-A2B7-A579-A4B490F94BB9}"/>
              </a:ext>
            </a:extLst>
          </p:cNvPr>
          <p:cNvSpPr>
            <a:spLocks noGrp="1"/>
          </p:cNvSpPr>
          <p:nvPr>
            <p:ph type="sldNum" sz="quarter" idx="12"/>
          </p:nvPr>
        </p:nvSpPr>
        <p:spPr/>
        <p:txBody>
          <a:bodyPr/>
          <a:lstStyle/>
          <a:p>
            <a:fld id="{48F63A3B-78C7-47BE-AE5E-E10140E04643}" type="slidenum">
              <a:rPr lang="en-US" dirty="0"/>
              <a:t>13</a:t>
            </a:fld>
            <a:endParaRPr lang="en-US"/>
          </a:p>
        </p:txBody>
      </p:sp>
      <p:pic>
        <p:nvPicPr>
          <p:cNvPr id="3" name="Picture 2" descr="A close-up of a logo&#10;&#10;AI-generated content may be incorrect.">
            <a:extLst>
              <a:ext uri="{FF2B5EF4-FFF2-40B4-BE49-F238E27FC236}">
                <a16:creationId xmlns:a16="http://schemas.microsoft.com/office/drawing/2014/main" id="{C5230759-8EB5-FBD8-DA8A-B53CCC26FA36}"/>
              </a:ext>
            </a:extLst>
          </p:cNvPr>
          <p:cNvPicPr>
            <a:picLocks noChangeAspect="1"/>
          </p:cNvPicPr>
          <p:nvPr/>
        </p:nvPicPr>
        <p:blipFill>
          <a:blip r:embed="rId2"/>
          <a:stretch>
            <a:fillRect/>
          </a:stretch>
        </p:blipFill>
        <p:spPr>
          <a:xfrm>
            <a:off x="1" y="54524"/>
            <a:ext cx="2503714" cy="621059"/>
          </a:xfrm>
          <a:prstGeom prst="rect">
            <a:avLst/>
          </a:prstGeom>
        </p:spPr>
      </p:pic>
      <p:sp>
        <p:nvSpPr>
          <p:cNvPr id="6" name="TextBox 5">
            <a:extLst>
              <a:ext uri="{FF2B5EF4-FFF2-40B4-BE49-F238E27FC236}">
                <a16:creationId xmlns:a16="http://schemas.microsoft.com/office/drawing/2014/main" id="{1BCC9CCA-5754-FA65-3D79-77A08650D570}"/>
              </a:ext>
            </a:extLst>
          </p:cNvPr>
          <p:cNvSpPr txBox="1"/>
          <p:nvPr/>
        </p:nvSpPr>
        <p:spPr>
          <a:xfrm>
            <a:off x="1323974" y="2111775"/>
            <a:ext cx="9155339" cy="1892826"/>
          </a:xfrm>
          <a:prstGeom prst="rect">
            <a:avLst/>
          </a:prstGeom>
          <a:noFill/>
        </p:spPr>
        <p:txBody>
          <a:bodyPr wrap="square">
            <a:spAutoFit/>
          </a:bodyPr>
          <a:lstStyle/>
          <a:p>
            <a:pPr algn="just">
              <a:lnSpc>
                <a:spcPct val="150000"/>
              </a:lnSpc>
            </a:pPr>
            <a:r>
              <a:rPr lang="en-US" b="1" dirty="0">
                <a:latin typeface="Times New Roman" panose="02020603050405020304" pitchFamily="18" charset="0"/>
                <a:ea typeface="Calibri"/>
                <a:cs typeface="Times New Roman" panose="02020603050405020304" pitchFamily="18" charset="0"/>
              </a:rPr>
              <a:t>Data Preprocessing Module:</a:t>
            </a:r>
          </a:p>
          <a:p>
            <a:pPr algn="just">
              <a:lnSpc>
                <a:spcPct val="150000"/>
              </a:lnSpc>
            </a:pPr>
            <a:r>
              <a:rPr lang="en-US" dirty="0">
                <a:latin typeface="Times New Roman" panose="02020603050405020304" pitchFamily="18" charset="0"/>
                <a:ea typeface="+mn-lt"/>
                <a:cs typeface="Times New Roman" panose="02020603050405020304" pitchFamily="18" charset="0"/>
              </a:rPr>
              <a:t>Processes raw user data and external datasets to prepare them for effective retrieval and analysis. It normalizes and enriches data to align with standardized formats and taxonomies</a:t>
            </a:r>
          </a:p>
          <a:p>
            <a:pPr algn="just"/>
            <a:endParaRPr lang="en-US" b="1" dirty="0">
              <a:latin typeface="Times New Roman" panose="02020603050405020304" pitchFamily="18" charset="0"/>
              <a:ea typeface="Calibri"/>
              <a:cs typeface="Times New Roman" panose="02020603050405020304" pitchFamily="18" charset="0"/>
            </a:endParaRPr>
          </a:p>
          <a:p>
            <a:pPr algn="just"/>
            <a:endParaRPr lang="en-US" b="1" dirty="0">
              <a:latin typeface="Times New Roman" panose="02020603050405020304" pitchFamily="18" charset="0"/>
              <a:ea typeface="Calibri"/>
              <a:cs typeface="Times New Roman" panose="02020603050405020304" pitchFamily="18" charset="0"/>
            </a:endParaRPr>
          </a:p>
        </p:txBody>
      </p:sp>
      <p:sp>
        <p:nvSpPr>
          <p:cNvPr id="5" name="TextBox 4">
            <a:extLst>
              <a:ext uri="{FF2B5EF4-FFF2-40B4-BE49-F238E27FC236}">
                <a16:creationId xmlns:a16="http://schemas.microsoft.com/office/drawing/2014/main" id="{4AE09EAA-BADB-3359-66CD-6B51E93F48E8}"/>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40240761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D792E3-A86E-A444-90DB-CAFC80167ACE}"/>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93D8A514-3B89-08CA-6996-FA1C2BE2E35D}"/>
              </a:ext>
            </a:extLst>
          </p:cNvPr>
          <p:cNvSpPr/>
          <p:nvPr/>
        </p:nvSpPr>
        <p:spPr>
          <a:xfrm>
            <a:off x="565977" y="721301"/>
            <a:ext cx="11187043" cy="5752938"/>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CBD20A77-AE9E-9446-703C-9833D34A8752}"/>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A7302FF6-B6FA-893B-1D76-AD5707019C97}"/>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7" name="Date Placeholder 6">
            <a:extLst>
              <a:ext uri="{FF2B5EF4-FFF2-40B4-BE49-F238E27FC236}">
                <a16:creationId xmlns:a16="http://schemas.microsoft.com/office/drawing/2014/main" id="{5721A7AA-D968-9926-C832-756522CC422B}"/>
              </a:ext>
            </a:extLst>
          </p:cNvPr>
          <p:cNvSpPr>
            <a:spLocks noGrp="1"/>
          </p:cNvSpPr>
          <p:nvPr>
            <p:ph type="dt" sz="half" idx="10"/>
          </p:nvPr>
        </p:nvSpPr>
        <p:spPr/>
        <p:txBody>
          <a:bodyPr/>
          <a:lstStyle/>
          <a:p>
            <a:fld id="{EAE32B99-C71A-45B2-8B74-F62CE79211CD}" type="datetime1">
              <a:rPr lang="en-US" smtClean="0"/>
              <a:t>4/21/2025</a:t>
            </a:fld>
            <a:endParaRPr lang="en-US"/>
          </a:p>
        </p:txBody>
      </p:sp>
      <p:sp>
        <p:nvSpPr>
          <p:cNvPr id="2" name="Slide Number Placeholder 1">
            <a:extLst>
              <a:ext uri="{FF2B5EF4-FFF2-40B4-BE49-F238E27FC236}">
                <a16:creationId xmlns:a16="http://schemas.microsoft.com/office/drawing/2014/main" id="{9D92D314-A93D-C48E-8BF0-C69B09CED2F5}"/>
              </a:ext>
            </a:extLst>
          </p:cNvPr>
          <p:cNvSpPr>
            <a:spLocks noGrp="1"/>
          </p:cNvSpPr>
          <p:nvPr>
            <p:ph type="sldNum" sz="quarter" idx="12"/>
          </p:nvPr>
        </p:nvSpPr>
        <p:spPr/>
        <p:txBody>
          <a:bodyPr/>
          <a:lstStyle/>
          <a:p>
            <a:fld id="{48F63A3B-78C7-47BE-AE5E-E10140E04643}" type="slidenum">
              <a:rPr lang="en-US" dirty="0"/>
              <a:t>14</a:t>
            </a:fld>
            <a:endParaRPr lang="en-US"/>
          </a:p>
        </p:txBody>
      </p:sp>
      <p:pic>
        <p:nvPicPr>
          <p:cNvPr id="3" name="Picture 2" descr="A close-up of a logo&#10;&#10;AI-generated content may be incorrect.">
            <a:extLst>
              <a:ext uri="{FF2B5EF4-FFF2-40B4-BE49-F238E27FC236}">
                <a16:creationId xmlns:a16="http://schemas.microsoft.com/office/drawing/2014/main" id="{8FF07EE8-201F-546C-1605-0D6C07B160DF}"/>
              </a:ext>
            </a:extLst>
          </p:cNvPr>
          <p:cNvPicPr>
            <a:picLocks noChangeAspect="1"/>
          </p:cNvPicPr>
          <p:nvPr/>
        </p:nvPicPr>
        <p:blipFill>
          <a:blip r:embed="rId2"/>
          <a:stretch>
            <a:fillRect/>
          </a:stretch>
        </p:blipFill>
        <p:spPr>
          <a:xfrm>
            <a:off x="1" y="54524"/>
            <a:ext cx="2503714" cy="621059"/>
          </a:xfrm>
          <a:prstGeom prst="rect">
            <a:avLst/>
          </a:prstGeom>
        </p:spPr>
      </p:pic>
      <p:sp>
        <p:nvSpPr>
          <p:cNvPr id="6" name="TextBox 5">
            <a:extLst>
              <a:ext uri="{FF2B5EF4-FFF2-40B4-BE49-F238E27FC236}">
                <a16:creationId xmlns:a16="http://schemas.microsoft.com/office/drawing/2014/main" id="{CEB99710-39B9-5B73-C77D-A7E5D69ABEB0}"/>
              </a:ext>
            </a:extLst>
          </p:cNvPr>
          <p:cNvSpPr txBox="1"/>
          <p:nvPr/>
        </p:nvSpPr>
        <p:spPr>
          <a:xfrm>
            <a:off x="1323974" y="2111775"/>
            <a:ext cx="9445625" cy="2585323"/>
          </a:xfrm>
          <a:prstGeom prst="rect">
            <a:avLst/>
          </a:prstGeom>
          <a:noFill/>
        </p:spPr>
        <p:txBody>
          <a:bodyPr wrap="square">
            <a:spAutoFit/>
          </a:bodyPr>
          <a:lstStyle/>
          <a:p>
            <a:pPr algn="just">
              <a:lnSpc>
                <a:spcPct val="150000"/>
              </a:lnSpc>
            </a:pPr>
            <a:r>
              <a:rPr lang="en-US" b="1" dirty="0">
                <a:latin typeface="Times New Roman" panose="02020603050405020304" pitchFamily="18" charset="0"/>
                <a:ea typeface="Calibri"/>
                <a:cs typeface="Times New Roman" panose="02020603050405020304" pitchFamily="18" charset="0"/>
              </a:rPr>
              <a:t>Semantic Retrieval Module:</a:t>
            </a:r>
          </a:p>
          <a:p>
            <a:pPr algn="just">
              <a:lnSpc>
                <a:spcPct val="150000"/>
              </a:lnSpc>
            </a:pPr>
            <a:r>
              <a:rPr lang="en-US" dirty="0">
                <a:latin typeface="Times New Roman" panose="02020603050405020304" pitchFamily="18" charset="0"/>
                <a:ea typeface="+mn-lt"/>
                <a:cs typeface="Times New Roman" panose="02020603050405020304" pitchFamily="18" charset="0"/>
              </a:rPr>
              <a:t>Retrieves relevant documents and information from the knowledge base that align with the user's profile, focusing on emerging research areas and career opportunities that match the user's expertise and interests. </a:t>
            </a:r>
            <a:endParaRPr lang="en-US" dirty="0">
              <a:latin typeface="Times New Roman" panose="02020603050405020304" pitchFamily="18" charset="0"/>
              <a:cs typeface="Times New Roman" panose="02020603050405020304" pitchFamily="18" charset="0"/>
            </a:endParaRPr>
          </a:p>
          <a:p>
            <a:pPr algn="just"/>
            <a:endParaRPr lang="en-US" b="1" dirty="0">
              <a:latin typeface="Times New Roman" panose="02020603050405020304" pitchFamily="18" charset="0"/>
              <a:ea typeface="+mn-lt"/>
              <a:cs typeface="Times New Roman" panose="02020603050405020304" pitchFamily="18" charset="0"/>
            </a:endParaRPr>
          </a:p>
          <a:p>
            <a:pPr algn="just"/>
            <a:endParaRPr lang="en-US" b="1" dirty="0">
              <a:latin typeface="Times New Roman" panose="02020603050405020304" pitchFamily="18" charset="0"/>
              <a:ea typeface="Calibri"/>
              <a:cs typeface="Times New Roman" panose="02020603050405020304" pitchFamily="18" charset="0"/>
            </a:endParaRPr>
          </a:p>
          <a:p>
            <a:pPr algn="just"/>
            <a:endParaRPr lang="en-US" b="1" dirty="0">
              <a:latin typeface="Times New Roman" panose="02020603050405020304" pitchFamily="18" charset="0"/>
              <a:ea typeface="Calibri"/>
              <a:cs typeface="Times New Roman" panose="02020603050405020304" pitchFamily="18" charset="0"/>
            </a:endParaRPr>
          </a:p>
        </p:txBody>
      </p:sp>
      <p:sp>
        <p:nvSpPr>
          <p:cNvPr id="13" name="TextBox 12">
            <a:extLst>
              <a:ext uri="{FF2B5EF4-FFF2-40B4-BE49-F238E27FC236}">
                <a16:creationId xmlns:a16="http://schemas.microsoft.com/office/drawing/2014/main" id="{B348939E-EAD9-372F-6568-30E4059BD2EA}"/>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
        <p:nvSpPr>
          <p:cNvPr id="14" name="TextBox 13">
            <a:extLst>
              <a:ext uri="{FF2B5EF4-FFF2-40B4-BE49-F238E27FC236}">
                <a16:creationId xmlns:a16="http://schemas.microsoft.com/office/drawing/2014/main" id="{A674C5E7-9743-FDAD-96B8-7F9A07F0F9E8}"/>
              </a:ext>
            </a:extLst>
          </p:cNvPr>
          <p:cNvSpPr txBox="1"/>
          <p:nvPr/>
        </p:nvSpPr>
        <p:spPr>
          <a:xfrm>
            <a:off x="1947205" y="791077"/>
            <a:ext cx="8947589" cy="5539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000" b="1" dirty="0">
                <a:solidFill>
                  <a:srgbClr val="2E2E2E"/>
                </a:solidFill>
                <a:latin typeface="Times New Roman" panose="02020603050405020304" pitchFamily="18" charset="0"/>
                <a:ea typeface="Calibri"/>
                <a:cs typeface="Times New Roman" panose="02020603050405020304" pitchFamily="18" charset="0"/>
              </a:rPr>
              <a:t>MODULE WISE DESCRIPTION</a:t>
            </a:r>
            <a:endParaRPr lang="en-US" sz="3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646869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768B4F-4860-1031-3974-BE8203511FDE}"/>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5C212735-B13A-2636-2D98-FC7CA1CF859D}"/>
              </a:ext>
            </a:extLst>
          </p:cNvPr>
          <p:cNvSpPr/>
          <p:nvPr/>
        </p:nvSpPr>
        <p:spPr>
          <a:xfrm>
            <a:off x="565977" y="721301"/>
            <a:ext cx="11187043" cy="5752938"/>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9112B68E-0598-A7E6-BEBE-021A6736B07C}"/>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A3B956C3-CCE3-EE77-751B-065753801C05}"/>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7" name="Date Placeholder 6">
            <a:extLst>
              <a:ext uri="{FF2B5EF4-FFF2-40B4-BE49-F238E27FC236}">
                <a16:creationId xmlns:a16="http://schemas.microsoft.com/office/drawing/2014/main" id="{6FCF7C8D-90EA-F487-0601-D9756028C15D}"/>
              </a:ext>
            </a:extLst>
          </p:cNvPr>
          <p:cNvSpPr>
            <a:spLocks noGrp="1"/>
          </p:cNvSpPr>
          <p:nvPr>
            <p:ph type="dt" sz="half" idx="10"/>
          </p:nvPr>
        </p:nvSpPr>
        <p:spPr/>
        <p:txBody>
          <a:bodyPr/>
          <a:lstStyle/>
          <a:p>
            <a:fld id="{EAE32B99-C71A-45B2-8B74-F62CE79211CD}" type="datetime1">
              <a:rPr lang="en-US" smtClean="0"/>
              <a:t>4/21/2025</a:t>
            </a:fld>
            <a:endParaRPr lang="en-US"/>
          </a:p>
        </p:txBody>
      </p:sp>
      <p:sp>
        <p:nvSpPr>
          <p:cNvPr id="2" name="Slide Number Placeholder 1">
            <a:extLst>
              <a:ext uri="{FF2B5EF4-FFF2-40B4-BE49-F238E27FC236}">
                <a16:creationId xmlns:a16="http://schemas.microsoft.com/office/drawing/2014/main" id="{C655C99B-1066-2709-79D4-DC3F2A1CF490}"/>
              </a:ext>
            </a:extLst>
          </p:cNvPr>
          <p:cNvSpPr>
            <a:spLocks noGrp="1"/>
          </p:cNvSpPr>
          <p:nvPr>
            <p:ph type="sldNum" sz="quarter" idx="12"/>
          </p:nvPr>
        </p:nvSpPr>
        <p:spPr/>
        <p:txBody>
          <a:bodyPr/>
          <a:lstStyle/>
          <a:p>
            <a:fld id="{48F63A3B-78C7-47BE-AE5E-E10140E04643}" type="slidenum">
              <a:rPr lang="en-US" dirty="0"/>
              <a:t>15</a:t>
            </a:fld>
            <a:endParaRPr lang="en-US"/>
          </a:p>
        </p:txBody>
      </p:sp>
      <p:pic>
        <p:nvPicPr>
          <p:cNvPr id="3" name="Picture 2" descr="A close-up of a logo&#10;&#10;AI-generated content may be incorrect.">
            <a:extLst>
              <a:ext uri="{FF2B5EF4-FFF2-40B4-BE49-F238E27FC236}">
                <a16:creationId xmlns:a16="http://schemas.microsoft.com/office/drawing/2014/main" id="{E883D077-3AA0-5735-7C0B-F347EAF2EC8E}"/>
              </a:ext>
            </a:extLst>
          </p:cNvPr>
          <p:cNvPicPr>
            <a:picLocks noChangeAspect="1"/>
          </p:cNvPicPr>
          <p:nvPr/>
        </p:nvPicPr>
        <p:blipFill>
          <a:blip r:embed="rId2"/>
          <a:stretch>
            <a:fillRect/>
          </a:stretch>
        </p:blipFill>
        <p:spPr>
          <a:xfrm>
            <a:off x="1" y="54524"/>
            <a:ext cx="2503714" cy="621059"/>
          </a:xfrm>
          <a:prstGeom prst="rect">
            <a:avLst/>
          </a:prstGeom>
        </p:spPr>
      </p:pic>
      <p:sp>
        <p:nvSpPr>
          <p:cNvPr id="6" name="TextBox 5">
            <a:extLst>
              <a:ext uri="{FF2B5EF4-FFF2-40B4-BE49-F238E27FC236}">
                <a16:creationId xmlns:a16="http://schemas.microsoft.com/office/drawing/2014/main" id="{398773AD-F481-BDA2-CE4F-B9A46F8391D4}"/>
              </a:ext>
            </a:extLst>
          </p:cNvPr>
          <p:cNvSpPr txBox="1"/>
          <p:nvPr/>
        </p:nvSpPr>
        <p:spPr>
          <a:xfrm>
            <a:off x="1323975" y="2111775"/>
            <a:ext cx="9097282" cy="2535566"/>
          </a:xfrm>
          <a:prstGeom prst="rect">
            <a:avLst/>
          </a:prstGeom>
          <a:noFill/>
        </p:spPr>
        <p:txBody>
          <a:bodyPr wrap="square">
            <a:spAutoFit/>
          </a:bodyPr>
          <a:lstStyle/>
          <a:p>
            <a:pPr algn="just">
              <a:lnSpc>
                <a:spcPct val="150000"/>
              </a:lnSpc>
            </a:pPr>
            <a:r>
              <a:rPr lang="en-US" b="1" dirty="0">
                <a:latin typeface="Times New Roman" panose="02020603050405020304" pitchFamily="18" charset="0"/>
                <a:ea typeface="Calibri"/>
                <a:cs typeface="Times New Roman" panose="02020603050405020304" pitchFamily="18" charset="0"/>
              </a:rPr>
              <a:t>Retrieval Augmented Generation Module:</a:t>
            </a:r>
          </a:p>
          <a:p>
            <a:pPr algn="just">
              <a:lnSpc>
                <a:spcPct val="150000"/>
              </a:lnSpc>
            </a:pPr>
            <a:r>
              <a:rPr lang="en-US" dirty="0">
                <a:latin typeface="Times New Roman" panose="02020603050405020304" pitchFamily="18" charset="0"/>
                <a:ea typeface="+mn-lt"/>
                <a:cs typeface="Times New Roman" panose="02020603050405020304" pitchFamily="18" charset="0"/>
              </a:rPr>
              <a:t>Integrates retrieved information with generative AI models to create personalized and context-rich recommendations for research topics or career paths. </a:t>
            </a:r>
            <a:endParaRPr lang="en-US" dirty="0">
              <a:latin typeface="Times New Roman" panose="02020603050405020304" pitchFamily="18" charset="0"/>
              <a:cs typeface="Times New Roman" panose="02020603050405020304" pitchFamily="18" charset="0"/>
            </a:endParaRPr>
          </a:p>
          <a:p>
            <a:pPr algn="just">
              <a:lnSpc>
                <a:spcPct val="150000"/>
              </a:lnSpc>
            </a:pPr>
            <a:endParaRPr lang="en-US" b="1" dirty="0">
              <a:latin typeface="Times New Roman" panose="02020603050405020304" pitchFamily="18" charset="0"/>
              <a:ea typeface="+mn-lt"/>
              <a:cs typeface="Times New Roman" panose="02020603050405020304" pitchFamily="18" charset="0"/>
            </a:endParaRPr>
          </a:p>
          <a:p>
            <a:pPr algn="just">
              <a:lnSpc>
                <a:spcPct val="150000"/>
              </a:lnSpc>
            </a:pPr>
            <a:endParaRPr lang="en-US" b="1" dirty="0">
              <a:latin typeface="Times New Roman" panose="02020603050405020304" pitchFamily="18" charset="0"/>
              <a:ea typeface="Calibri"/>
              <a:cs typeface="Times New Roman" panose="02020603050405020304" pitchFamily="18" charset="0"/>
            </a:endParaRPr>
          </a:p>
          <a:p>
            <a:pPr algn="just">
              <a:lnSpc>
                <a:spcPct val="150000"/>
              </a:lnSpc>
            </a:pPr>
            <a:endParaRPr lang="en-US" b="1" dirty="0">
              <a:latin typeface="Times New Roman" panose="02020603050405020304" pitchFamily="18" charset="0"/>
              <a:ea typeface="Calibri"/>
              <a:cs typeface="Times New Roman" panose="02020603050405020304" pitchFamily="18" charset="0"/>
            </a:endParaRPr>
          </a:p>
        </p:txBody>
      </p:sp>
      <p:sp>
        <p:nvSpPr>
          <p:cNvPr id="5" name="TextBox 4">
            <a:extLst>
              <a:ext uri="{FF2B5EF4-FFF2-40B4-BE49-F238E27FC236}">
                <a16:creationId xmlns:a16="http://schemas.microsoft.com/office/drawing/2014/main" id="{15C479E0-D99F-91AB-D74E-B88DE7F65FAF}"/>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
        <p:nvSpPr>
          <p:cNvPr id="10" name="TextBox 9">
            <a:extLst>
              <a:ext uri="{FF2B5EF4-FFF2-40B4-BE49-F238E27FC236}">
                <a16:creationId xmlns:a16="http://schemas.microsoft.com/office/drawing/2014/main" id="{A88C078E-6748-B531-BEC4-BFB3D0B22E18}"/>
              </a:ext>
            </a:extLst>
          </p:cNvPr>
          <p:cNvSpPr txBox="1"/>
          <p:nvPr/>
        </p:nvSpPr>
        <p:spPr>
          <a:xfrm>
            <a:off x="1947205" y="791077"/>
            <a:ext cx="8947589" cy="5539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000" b="1" dirty="0">
                <a:solidFill>
                  <a:srgbClr val="2E2E2E"/>
                </a:solidFill>
                <a:latin typeface="Times New Roman" panose="02020603050405020304" pitchFamily="18" charset="0"/>
                <a:ea typeface="Calibri"/>
                <a:cs typeface="Times New Roman" panose="02020603050405020304" pitchFamily="18" charset="0"/>
              </a:rPr>
              <a:t>MODULE WISE DESCRIPTION</a:t>
            </a:r>
            <a:endParaRPr lang="en-US" sz="3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364038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8A4CA-BC60-E238-6F75-EC6DD1D6085F}"/>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05DA383F-D788-C7A4-59FD-339FB66A0DF0}"/>
              </a:ext>
            </a:extLst>
          </p:cNvPr>
          <p:cNvSpPr/>
          <p:nvPr/>
        </p:nvSpPr>
        <p:spPr>
          <a:xfrm>
            <a:off x="565977" y="721301"/>
            <a:ext cx="11187043" cy="5752938"/>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1189A3E6-6D9E-9817-B797-3794FABEE441}"/>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2CD9657A-3135-1D31-B1DE-4AA514296835}"/>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9" name="TextBox 8">
            <a:extLst>
              <a:ext uri="{FF2B5EF4-FFF2-40B4-BE49-F238E27FC236}">
                <a16:creationId xmlns:a16="http://schemas.microsoft.com/office/drawing/2014/main" id="{844504A5-6B6E-D4C5-873C-2FA14C9F6BFA}"/>
              </a:ext>
            </a:extLst>
          </p:cNvPr>
          <p:cNvSpPr txBox="1"/>
          <p:nvPr/>
        </p:nvSpPr>
        <p:spPr>
          <a:xfrm>
            <a:off x="1947205" y="791077"/>
            <a:ext cx="8947589" cy="5539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000" b="1" dirty="0">
                <a:solidFill>
                  <a:srgbClr val="2E2E2E"/>
                </a:solidFill>
                <a:latin typeface="Times New Roman" panose="02020603050405020304" pitchFamily="18" charset="0"/>
                <a:ea typeface="Calibri"/>
                <a:cs typeface="Times New Roman" panose="02020603050405020304" pitchFamily="18" charset="0"/>
              </a:rPr>
              <a:t>MODULE WISE DESCRIPTION</a:t>
            </a:r>
            <a:endParaRPr lang="en-US" sz="3000" dirty="0">
              <a:latin typeface="Times New Roman" panose="02020603050405020304" pitchFamily="18" charset="0"/>
              <a:cs typeface="Times New Roman" panose="02020603050405020304" pitchFamily="18" charset="0"/>
            </a:endParaRPr>
          </a:p>
        </p:txBody>
      </p:sp>
      <p:sp>
        <p:nvSpPr>
          <p:cNvPr id="7" name="Date Placeholder 6">
            <a:extLst>
              <a:ext uri="{FF2B5EF4-FFF2-40B4-BE49-F238E27FC236}">
                <a16:creationId xmlns:a16="http://schemas.microsoft.com/office/drawing/2014/main" id="{EDF2B698-F486-FAB3-6A12-B13479CDC111}"/>
              </a:ext>
            </a:extLst>
          </p:cNvPr>
          <p:cNvSpPr>
            <a:spLocks noGrp="1"/>
          </p:cNvSpPr>
          <p:nvPr>
            <p:ph type="dt" sz="half" idx="10"/>
          </p:nvPr>
        </p:nvSpPr>
        <p:spPr/>
        <p:txBody>
          <a:bodyPr/>
          <a:lstStyle/>
          <a:p>
            <a:fld id="{EAE32B99-C71A-45B2-8B74-F62CE79211CD}" type="datetime1">
              <a:rPr lang="en-US" smtClean="0"/>
              <a:t>4/21/2025</a:t>
            </a:fld>
            <a:endParaRPr lang="en-US"/>
          </a:p>
        </p:txBody>
      </p:sp>
      <p:sp>
        <p:nvSpPr>
          <p:cNvPr id="2" name="Slide Number Placeholder 1">
            <a:extLst>
              <a:ext uri="{FF2B5EF4-FFF2-40B4-BE49-F238E27FC236}">
                <a16:creationId xmlns:a16="http://schemas.microsoft.com/office/drawing/2014/main" id="{7F39732D-9C05-625F-1701-AB8C67CC27F9}"/>
              </a:ext>
            </a:extLst>
          </p:cNvPr>
          <p:cNvSpPr>
            <a:spLocks noGrp="1"/>
          </p:cNvSpPr>
          <p:nvPr>
            <p:ph type="sldNum" sz="quarter" idx="12"/>
          </p:nvPr>
        </p:nvSpPr>
        <p:spPr/>
        <p:txBody>
          <a:bodyPr/>
          <a:lstStyle/>
          <a:p>
            <a:fld id="{48F63A3B-78C7-47BE-AE5E-E10140E04643}" type="slidenum">
              <a:rPr lang="en-US" dirty="0"/>
              <a:t>16</a:t>
            </a:fld>
            <a:endParaRPr lang="en-US"/>
          </a:p>
        </p:txBody>
      </p:sp>
      <p:pic>
        <p:nvPicPr>
          <p:cNvPr id="3" name="Picture 2" descr="A close-up of a logo&#10;&#10;AI-generated content may be incorrect.">
            <a:extLst>
              <a:ext uri="{FF2B5EF4-FFF2-40B4-BE49-F238E27FC236}">
                <a16:creationId xmlns:a16="http://schemas.microsoft.com/office/drawing/2014/main" id="{D44ADA87-33F0-DE31-C902-B2FE5E0993B1}"/>
              </a:ext>
            </a:extLst>
          </p:cNvPr>
          <p:cNvPicPr>
            <a:picLocks noChangeAspect="1"/>
          </p:cNvPicPr>
          <p:nvPr/>
        </p:nvPicPr>
        <p:blipFill>
          <a:blip r:embed="rId2"/>
          <a:stretch>
            <a:fillRect/>
          </a:stretch>
        </p:blipFill>
        <p:spPr>
          <a:xfrm>
            <a:off x="1" y="54524"/>
            <a:ext cx="2503714" cy="621059"/>
          </a:xfrm>
          <a:prstGeom prst="rect">
            <a:avLst/>
          </a:prstGeom>
        </p:spPr>
      </p:pic>
      <p:sp>
        <p:nvSpPr>
          <p:cNvPr id="6" name="TextBox 5">
            <a:extLst>
              <a:ext uri="{FF2B5EF4-FFF2-40B4-BE49-F238E27FC236}">
                <a16:creationId xmlns:a16="http://schemas.microsoft.com/office/drawing/2014/main" id="{1B83A2C7-637D-0DA6-E822-D0CA9A3C2646}"/>
              </a:ext>
            </a:extLst>
          </p:cNvPr>
          <p:cNvSpPr txBox="1"/>
          <p:nvPr/>
        </p:nvSpPr>
        <p:spPr>
          <a:xfrm>
            <a:off x="1325552" y="1855099"/>
            <a:ext cx="10190894" cy="5859553"/>
          </a:xfrm>
          <a:prstGeom prst="rect">
            <a:avLst/>
          </a:prstGeom>
          <a:noFill/>
        </p:spPr>
        <p:txBody>
          <a:bodyPr wrap="square">
            <a:spAutoFit/>
          </a:bodyPr>
          <a:lstStyle/>
          <a:p>
            <a:pPr>
              <a:lnSpc>
                <a:spcPct val="150000"/>
              </a:lnSpc>
            </a:pPr>
            <a:r>
              <a:rPr lang="en-US" b="1" dirty="0">
                <a:latin typeface="Times New Roman" panose="02020603050405020304" pitchFamily="18" charset="0"/>
                <a:ea typeface="Calibri"/>
                <a:cs typeface="Times New Roman" panose="02020603050405020304" pitchFamily="18" charset="0"/>
              </a:rPr>
              <a:t>Evaluation Module:</a:t>
            </a:r>
          </a:p>
          <a:p>
            <a:pPr marL="342900" indent="-342900">
              <a:lnSpc>
                <a:spcPct val="150000"/>
              </a:lnSpc>
              <a:buFont typeface="+mj-lt"/>
              <a:buAutoNum type="arabicPeriod"/>
            </a:pPr>
            <a:r>
              <a:rPr lang="en-US" dirty="0">
                <a:latin typeface="Times New Roman" panose="02020603050405020304" pitchFamily="18" charset="0"/>
                <a:ea typeface="+mn-lt"/>
                <a:cs typeface="Times New Roman" panose="02020603050405020304" pitchFamily="18" charset="0"/>
              </a:rPr>
              <a:t>Evaluates the generation of the generations of the models basis </a:t>
            </a:r>
            <a:r>
              <a:rPr lang="en-US" b="1" dirty="0">
                <a:latin typeface="Times New Roman" panose="02020603050405020304" pitchFamily="18" charset="0"/>
                <a:ea typeface="+mn-lt"/>
                <a:cs typeface="Times New Roman" panose="02020603050405020304" pitchFamily="18" charset="0"/>
              </a:rPr>
              <a:t>Answer Relevancy </a:t>
            </a:r>
            <a:r>
              <a:rPr lang="en-US" dirty="0">
                <a:latin typeface="Times New Roman" panose="02020603050405020304" pitchFamily="18" charset="0"/>
                <a:ea typeface="+mn-lt"/>
                <a:cs typeface="Times New Roman" panose="02020603050405020304" pitchFamily="18" charset="0"/>
              </a:rPr>
              <a:t>, </a:t>
            </a:r>
            <a:r>
              <a:rPr lang="en-US" b="1" dirty="0">
                <a:latin typeface="Times New Roman" panose="02020603050405020304" pitchFamily="18" charset="0"/>
                <a:ea typeface="+mn-lt"/>
                <a:cs typeface="Times New Roman" panose="02020603050405020304" pitchFamily="18" charset="0"/>
              </a:rPr>
              <a:t>Faithfulness</a:t>
            </a:r>
            <a:r>
              <a:rPr lang="en-US" dirty="0">
                <a:latin typeface="Times New Roman" panose="02020603050405020304" pitchFamily="18" charset="0"/>
                <a:ea typeface="+mn-lt"/>
                <a:cs typeface="Times New Roman" panose="02020603050405020304" pitchFamily="18" charset="0"/>
              </a:rPr>
              <a:t> and </a:t>
            </a:r>
            <a:r>
              <a:rPr lang="en-US" b="1" dirty="0">
                <a:latin typeface="Times New Roman" panose="02020603050405020304" pitchFamily="18" charset="0"/>
                <a:ea typeface="+mn-lt"/>
                <a:cs typeface="Times New Roman" panose="02020603050405020304" pitchFamily="18" charset="0"/>
              </a:rPr>
              <a:t>Hallucination</a:t>
            </a:r>
            <a:r>
              <a:rPr lang="en-US" dirty="0">
                <a:latin typeface="Times New Roman" panose="02020603050405020304" pitchFamily="18" charset="0"/>
                <a:ea typeface="+mn-lt"/>
                <a:cs typeface="Times New Roman" panose="02020603050405020304" pitchFamily="18" charset="0"/>
              </a:rPr>
              <a:t> Scores. </a:t>
            </a:r>
          </a:p>
          <a:p>
            <a:pPr marL="342900" indent="-342900">
              <a:lnSpc>
                <a:spcPct val="150000"/>
              </a:lnSpc>
              <a:buFont typeface="+mj-lt"/>
              <a:buAutoNum type="arabicPeriod"/>
            </a:pPr>
            <a:r>
              <a:rPr lang="en-GB" dirty="0">
                <a:latin typeface="Times New Roman" panose="02020603050405020304" pitchFamily="18" charset="0"/>
                <a:cs typeface="Times New Roman" panose="02020603050405020304" pitchFamily="18" charset="0"/>
              </a:rPr>
              <a:t>Additionally, standardized scores like </a:t>
            </a:r>
            <a:r>
              <a:rPr lang="en-GB" b="1" dirty="0">
                <a:latin typeface="Times New Roman" panose="02020603050405020304" pitchFamily="18" charset="0"/>
                <a:cs typeface="Times New Roman" panose="02020603050405020304" pitchFamily="18" charset="0"/>
              </a:rPr>
              <a:t>BLEU</a:t>
            </a:r>
            <a:r>
              <a:rPr lang="en-GB" dirty="0">
                <a:latin typeface="Times New Roman" panose="02020603050405020304" pitchFamily="18" charset="0"/>
                <a:cs typeface="Times New Roman" panose="02020603050405020304" pitchFamily="18" charset="0"/>
              </a:rPr>
              <a:t>, </a:t>
            </a:r>
            <a:r>
              <a:rPr lang="en-GB" b="1" dirty="0">
                <a:latin typeface="Times New Roman" panose="02020603050405020304" pitchFamily="18" charset="0"/>
                <a:cs typeface="Times New Roman" panose="02020603050405020304" pitchFamily="18" charset="0"/>
              </a:rPr>
              <a:t>BERT</a:t>
            </a:r>
            <a:r>
              <a:rPr lang="en-GB" dirty="0">
                <a:latin typeface="Times New Roman" panose="02020603050405020304" pitchFamily="18" charset="0"/>
                <a:cs typeface="Times New Roman" panose="02020603050405020304" pitchFamily="18" charset="0"/>
              </a:rPr>
              <a:t>, </a:t>
            </a:r>
            <a:r>
              <a:rPr lang="en-GB" b="1" dirty="0">
                <a:latin typeface="Times New Roman" panose="02020603050405020304" pitchFamily="18" charset="0"/>
                <a:cs typeface="Times New Roman" panose="02020603050405020304" pitchFamily="18" charset="0"/>
              </a:rPr>
              <a:t>SMS</a:t>
            </a:r>
            <a:r>
              <a:rPr lang="en-GB" dirty="0">
                <a:latin typeface="Times New Roman" panose="02020603050405020304" pitchFamily="18" charset="0"/>
                <a:cs typeface="Times New Roman" panose="02020603050405020304" pitchFamily="18" charset="0"/>
              </a:rPr>
              <a:t>, </a:t>
            </a:r>
            <a:r>
              <a:rPr lang="en-GB" b="1" dirty="0">
                <a:latin typeface="Times New Roman" panose="02020603050405020304" pitchFamily="18" charset="0"/>
                <a:cs typeface="Times New Roman" panose="02020603050405020304" pitchFamily="18" charset="0"/>
              </a:rPr>
              <a:t>ROUGE</a:t>
            </a:r>
            <a:r>
              <a:rPr lang="en-GB" dirty="0">
                <a:latin typeface="Times New Roman" panose="02020603050405020304" pitchFamily="18" charset="0"/>
                <a:cs typeface="Times New Roman" panose="02020603050405020304" pitchFamily="18" charset="0"/>
              </a:rPr>
              <a:t> have been used to evaluate the generations, using the generation of </a:t>
            </a:r>
            <a:r>
              <a:rPr lang="en-GB" b="1" dirty="0" err="1">
                <a:latin typeface="Times New Roman" panose="02020603050405020304" pitchFamily="18" charset="0"/>
                <a:cs typeface="Times New Roman" panose="02020603050405020304" pitchFamily="18" charset="0"/>
              </a:rPr>
              <a:t>Deepseek</a:t>
            </a:r>
            <a:r>
              <a:rPr lang="en-GB" b="1" dirty="0">
                <a:latin typeface="Times New Roman" panose="02020603050405020304" pitchFamily="18" charset="0"/>
                <a:cs typeface="Times New Roman" panose="02020603050405020304" pitchFamily="18" charset="0"/>
              </a:rPr>
              <a:t> 14B </a:t>
            </a:r>
            <a:r>
              <a:rPr lang="en-GB" dirty="0">
                <a:latin typeface="Times New Roman" panose="02020603050405020304" pitchFamily="18" charset="0"/>
                <a:cs typeface="Times New Roman" panose="02020603050405020304" pitchFamily="18" charset="0"/>
              </a:rPr>
              <a:t>model as the reference text</a:t>
            </a:r>
          </a:p>
          <a:p>
            <a:pPr>
              <a:lnSpc>
                <a:spcPct val="150000"/>
              </a:lnSpc>
            </a:pPr>
            <a:endParaRPr lang="en-GB" dirty="0">
              <a:latin typeface="Times New Roman" panose="02020603050405020304" pitchFamily="18" charset="0"/>
              <a:cs typeface="Times New Roman" panose="02020603050405020304" pitchFamily="18" charset="0"/>
            </a:endParaRPr>
          </a:p>
          <a:p>
            <a:pPr>
              <a:lnSpc>
                <a:spcPct val="150000"/>
              </a:lnSpc>
            </a:pPr>
            <a:r>
              <a:rPr lang="en-US" b="1" i="0" dirty="0">
                <a:effectLst/>
                <a:latin typeface="Times New Roman" panose="02020603050405020304" pitchFamily="18" charset="0"/>
                <a:cs typeface="Times New Roman" panose="02020603050405020304" pitchFamily="18" charset="0"/>
              </a:rPr>
              <a:t>BLEU</a:t>
            </a:r>
            <a:r>
              <a:rPr lang="en-US" b="0" i="0" dirty="0">
                <a:effectLst/>
                <a:latin typeface="Times New Roman" panose="02020603050405020304" pitchFamily="18" charset="0"/>
                <a:cs typeface="Times New Roman" panose="02020603050405020304" pitchFamily="18" charset="0"/>
              </a:rPr>
              <a:t> - Bilingual Evaluation Understudy</a:t>
            </a:r>
          </a:p>
          <a:p>
            <a:pPr>
              <a:lnSpc>
                <a:spcPct val="150000"/>
              </a:lnSpc>
            </a:pPr>
            <a:r>
              <a:rPr lang="en-US" b="1" dirty="0">
                <a:latin typeface="Times New Roman" panose="02020603050405020304" pitchFamily="18" charset="0"/>
                <a:cs typeface="Times New Roman" panose="02020603050405020304" pitchFamily="18" charset="0"/>
              </a:rPr>
              <a:t>BERT</a:t>
            </a:r>
            <a:r>
              <a:rPr lang="en-US" dirty="0">
                <a:latin typeface="Times New Roman" panose="02020603050405020304" pitchFamily="18" charset="0"/>
                <a:cs typeface="Times New Roman" panose="02020603050405020304" pitchFamily="18" charset="0"/>
              </a:rPr>
              <a:t> -</a:t>
            </a:r>
            <a:r>
              <a:rPr lang="en-US" b="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Bidirectional Encoder Representations from Transformers</a:t>
            </a:r>
          </a:p>
          <a:p>
            <a:pPr>
              <a:lnSpc>
                <a:spcPct val="150000"/>
              </a:lnSpc>
            </a:pPr>
            <a:r>
              <a:rPr lang="en-US" b="1" dirty="0">
                <a:latin typeface="Times New Roman" panose="02020603050405020304" pitchFamily="18" charset="0"/>
                <a:cs typeface="Times New Roman" panose="02020603050405020304" pitchFamily="18" charset="0"/>
              </a:rPr>
              <a:t>SMS</a:t>
            </a:r>
            <a:r>
              <a:rPr lang="en-US" dirty="0">
                <a:latin typeface="Times New Roman" panose="02020603050405020304" pitchFamily="18" charset="0"/>
                <a:cs typeface="Times New Roman" panose="02020603050405020304" pitchFamily="18" charset="0"/>
              </a:rPr>
              <a:t> - Semantic Matching Score </a:t>
            </a:r>
          </a:p>
          <a:p>
            <a:pPr>
              <a:lnSpc>
                <a:spcPct val="150000"/>
              </a:lnSpc>
            </a:pPr>
            <a:r>
              <a:rPr lang="en-GB" b="1" dirty="0">
                <a:latin typeface="Times New Roman" panose="02020603050405020304" pitchFamily="18" charset="0"/>
                <a:cs typeface="Times New Roman" panose="02020603050405020304" pitchFamily="18" charset="0"/>
              </a:rPr>
              <a:t>ROUGE</a:t>
            </a:r>
            <a:r>
              <a:rPr lang="en-US" b="1" dirty="0">
                <a:latin typeface="Times New Roman" panose="02020603050405020304" pitchFamily="18" charset="0"/>
                <a:cs typeface="Times New Roman" panose="02020603050405020304" pitchFamily="18" charset="0"/>
              </a:rPr>
              <a:t> </a:t>
            </a:r>
            <a:r>
              <a:rPr lang="en-US" dirty="0">
                <a:latin typeface="Times New Roman" panose="02020603050405020304" pitchFamily="18" charset="0"/>
                <a:cs typeface="Times New Roman" panose="02020603050405020304" pitchFamily="18" charset="0"/>
              </a:rPr>
              <a:t>-</a:t>
            </a:r>
            <a:r>
              <a:rPr lang="en-GB" dirty="0">
                <a:latin typeface="Times New Roman" panose="02020603050405020304" pitchFamily="18" charset="0"/>
                <a:cs typeface="Times New Roman" panose="02020603050405020304" pitchFamily="18" charset="0"/>
              </a:rPr>
              <a:t> Recall-Oriented Understudy for </a:t>
            </a:r>
            <a:r>
              <a:rPr lang="en-GB" dirty="0" err="1">
                <a:latin typeface="Times New Roman" panose="02020603050405020304" pitchFamily="18" charset="0"/>
                <a:cs typeface="Times New Roman" panose="02020603050405020304" pitchFamily="18" charset="0"/>
              </a:rPr>
              <a:t>Gisting</a:t>
            </a:r>
            <a:r>
              <a:rPr lang="en-GB" dirty="0">
                <a:latin typeface="Times New Roman" panose="02020603050405020304" pitchFamily="18" charset="0"/>
                <a:cs typeface="Times New Roman" panose="02020603050405020304" pitchFamily="18" charset="0"/>
              </a:rPr>
              <a:t> Evaluation</a:t>
            </a:r>
            <a:endParaRPr lang="en-US" dirty="0">
              <a:latin typeface="Times New Roman" panose="02020603050405020304" pitchFamily="18" charset="0"/>
              <a:cs typeface="Times New Roman" panose="02020603050405020304" pitchFamily="18" charset="0"/>
            </a:endParaRPr>
          </a:p>
          <a:p>
            <a:pPr>
              <a:lnSpc>
                <a:spcPct val="150000"/>
              </a:lnSpc>
            </a:pPr>
            <a:endParaRPr lang="en-US" dirty="0">
              <a:latin typeface="Times New Roman" panose="02020603050405020304" pitchFamily="18" charset="0"/>
              <a:cs typeface="Times New Roman" panose="02020603050405020304" pitchFamily="18" charset="0"/>
            </a:endParaRPr>
          </a:p>
          <a:p>
            <a:pPr>
              <a:lnSpc>
                <a:spcPct val="150000"/>
              </a:lnSpc>
            </a:pPr>
            <a:endParaRPr lang="en-US" b="1" dirty="0">
              <a:latin typeface="Times New Roman" panose="02020603050405020304" pitchFamily="18" charset="0"/>
              <a:ea typeface="+mn-lt"/>
              <a:cs typeface="Times New Roman" panose="02020603050405020304" pitchFamily="18" charset="0"/>
            </a:endParaRPr>
          </a:p>
          <a:p>
            <a:pPr>
              <a:lnSpc>
                <a:spcPct val="150000"/>
              </a:lnSpc>
            </a:pPr>
            <a:endParaRPr lang="en-US" b="1" dirty="0">
              <a:latin typeface="Times New Roman" panose="02020603050405020304" pitchFamily="18" charset="0"/>
              <a:ea typeface="Calibri"/>
              <a:cs typeface="Times New Roman" panose="02020603050405020304" pitchFamily="18" charset="0"/>
            </a:endParaRPr>
          </a:p>
          <a:p>
            <a:pPr>
              <a:lnSpc>
                <a:spcPct val="150000"/>
              </a:lnSpc>
            </a:pPr>
            <a:endParaRPr lang="en-US" b="1" dirty="0">
              <a:latin typeface="Times New Roman" panose="02020603050405020304" pitchFamily="18" charset="0"/>
              <a:ea typeface="Calibri"/>
              <a:cs typeface="Times New Roman" panose="02020603050405020304" pitchFamily="18" charset="0"/>
            </a:endParaRPr>
          </a:p>
        </p:txBody>
      </p:sp>
      <p:sp>
        <p:nvSpPr>
          <p:cNvPr id="5" name="TextBox 4">
            <a:extLst>
              <a:ext uri="{FF2B5EF4-FFF2-40B4-BE49-F238E27FC236}">
                <a16:creationId xmlns:a16="http://schemas.microsoft.com/office/drawing/2014/main" id="{5517C9C7-F939-FD14-B428-504511D3A151}"/>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18927738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624B5E-2399-3E96-AFBC-FADE4F6BAF9A}"/>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FA4ACDA6-88C1-FFFD-BAA6-62CD08A7889D}"/>
              </a:ext>
            </a:extLst>
          </p:cNvPr>
          <p:cNvSpPr/>
          <p:nvPr/>
        </p:nvSpPr>
        <p:spPr>
          <a:xfrm>
            <a:off x="565977" y="721301"/>
            <a:ext cx="11187043" cy="5752938"/>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57B66AA2-CEB7-4C9C-AE58-0CC601E84DDC}"/>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BE233A75-9094-E8B3-3495-8BB01CFCABDA}"/>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9" name="TextBox 8">
            <a:extLst>
              <a:ext uri="{FF2B5EF4-FFF2-40B4-BE49-F238E27FC236}">
                <a16:creationId xmlns:a16="http://schemas.microsoft.com/office/drawing/2014/main" id="{14BE3B92-7E07-7047-15E8-9B62D3A55FC7}"/>
              </a:ext>
            </a:extLst>
          </p:cNvPr>
          <p:cNvSpPr txBox="1"/>
          <p:nvPr/>
        </p:nvSpPr>
        <p:spPr>
          <a:xfrm>
            <a:off x="1947205" y="791077"/>
            <a:ext cx="8947589" cy="5539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000" b="1" dirty="0">
                <a:solidFill>
                  <a:srgbClr val="2E2E2E"/>
                </a:solidFill>
                <a:latin typeface="Times New Roman" panose="02020603050405020304" pitchFamily="18" charset="0"/>
                <a:ea typeface="Calibri"/>
                <a:cs typeface="Times New Roman" panose="02020603050405020304" pitchFamily="18" charset="0"/>
              </a:rPr>
              <a:t>MODULE WISE DESCRIPTION</a:t>
            </a:r>
            <a:endParaRPr lang="en-US" sz="3000" dirty="0">
              <a:latin typeface="Times New Roman" panose="02020603050405020304" pitchFamily="18" charset="0"/>
              <a:cs typeface="Times New Roman" panose="02020603050405020304" pitchFamily="18" charset="0"/>
            </a:endParaRPr>
          </a:p>
        </p:txBody>
      </p:sp>
      <p:sp>
        <p:nvSpPr>
          <p:cNvPr id="7" name="Date Placeholder 6">
            <a:extLst>
              <a:ext uri="{FF2B5EF4-FFF2-40B4-BE49-F238E27FC236}">
                <a16:creationId xmlns:a16="http://schemas.microsoft.com/office/drawing/2014/main" id="{0E9BC35E-66CB-B39C-83CA-A197EAB39AF4}"/>
              </a:ext>
            </a:extLst>
          </p:cNvPr>
          <p:cNvSpPr>
            <a:spLocks noGrp="1"/>
          </p:cNvSpPr>
          <p:nvPr>
            <p:ph type="dt" sz="half" idx="10"/>
          </p:nvPr>
        </p:nvSpPr>
        <p:spPr/>
        <p:txBody>
          <a:bodyPr/>
          <a:lstStyle/>
          <a:p>
            <a:fld id="{EAE32B99-C71A-45B2-8B74-F62CE79211CD}" type="datetime1">
              <a:rPr lang="en-US" smtClean="0"/>
              <a:t>4/21/2025</a:t>
            </a:fld>
            <a:endParaRPr lang="en-US"/>
          </a:p>
        </p:txBody>
      </p:sp>
      <p:sp>
        <p:nvSpPr>
          <p:cNvPr id="2" name="Slide Number Placeholder 1">
            <a:extLst>
              <a:ext uri="{FF2B5EF4-FFF2-40B4-BE49-F238E27FC236}">
                <a16:creationId xmlns:a16="http://schemas.microsoft.com/office/drawing/2014/main" id="{F7B6337A-EF69-97CB-51D5-1184D6E1ECDA}"/>
              </a:ext>
            </a:extLst>
          </p:cNvPr>
          <p:cNvSpPr>
            <a:spLocks noGrp="1"/>
          </p:cNvSpPr>
          <p:nvPr>
            <p:ph type="sldNum" sz="quarter" idx="12"/>
          </p:nvPr>
        </p:nvSpPr>
        <p:spPr/>
        <p:txBody>
          <a:bodyPr/>
          <a:lstStyle/>
          <a:p>
            <a:fld id="{48F63A3B-78C7-47BE-AE5E-E10140E04643}" type="slidenum">
              <a:rPr lang="en-US" dirty="0"/>
              <a:t>17</a:t>
            </a:fld>
            <a:endParaRPr lang="en-US"/>
          </a:p>
        </p:txBody>
      </p:sp>
      <p:pic>
        <p:nvPicPr>
          <p:cNvPr id="3" name="Picture 2" descr="A close-up of a logo&#10;&#10;AI-generated content may be incorrect.">
            <a:extLst>
              <a:ext uri="{FF2B5EF4-FFF2-40B4-BE49-F238E27FC236}">
                <a16:creationId xmlns:a16="http://schemas.microsoft.com/office/drawing/2014/main" id="{FBBA21EC-9C2B-A207-7F46-E261E0BB2736}"/>
              </a:ext>
            </a:extLst>
          </p:cNvPr>
          <p:cNvPicPr>
            <a:picLocks noChangeAspect="1"/>
          </p:cNvPicPr>
          <p:nvPr/>
        </p:nvPicPr>
        <p:blipFill>
          <a:blip r:embed="rId2"/>
          <a:stretch>
            <a:fillRect/>
          </a:stretch>
        </p:blipFill>
        <p:spPr>
          <a:xfrm>
            <a:off x="1" y="54524"/>
            <a:ext cx="2503714" cy="621059"/>
          </a:xfrm>
          <a:prstGeom prst="rect">
            <a:avLst/>
          </a:prstGeom>
        </p:spPr>
      </p:pic>
      <p:sp>
        <p:nvSpPr>
          <p:cNvPr id="6" name="TextBox 5">
            <a:extLst>
              <a:ext uri="{FF2B5EF4-FFF2-40B4-BE49-F238E27FC236}">
                <a16:creationId xmlns:a16="http://schemas.microsoft.com/office/drawing/2014/main" id="{2D8A6A5E-BEB4-ADC5-890E-107D59D3E40A}"/>
              </a:ext>
            </a:extLst>
          </p:cNvPr>
          <p:cNvSpPr txBox="1"/>
          <p:nvPr/>
        </p:nvSpPr>
        <p:spPr>
          <a:xfrm>
            <a:off x="1325552" y="1460569"/>
            <a:ext cx="10190894" cy="3782061"/>
          </a:xfrm>
          <a:prstGeom prst="rect">
            <a:avLst/>
          </a:prstGeom>
          <a:noFill/>
        </p:spPr>
        <p:txBody>
          <a:bodyPr wrap="square">
            <a:spAutoFit/>
          </a:bodyPr>
          <a:lstStyle/>
          <a:p>
            <a:pPr marL="342900" indent="-342900">
              <a:lnSpc>
                <a:spcPct val="150000"/>
              </a:lnSpc>
              <a:buFont typeface="+mj-lt"/>
              <a:buAutoNum type="arabicPeriod"/>
            </a:pPr>
            <a:r>
              <a:rPr lang="en-US" b="1" dirty="0">
                <a:latin typeface="Times New Roman" panose="02020603050405020304" pitchFamily="18" charset="0"/>
                <a:ea typeface="Calibri"/>
                <a:cs typeface="Times New Roman" panose="02020603050405020304" pitchFamily="18" charset="0"/>
              </a:rPr>
              <a:t>Answer Relevancy :</a:t>
            </a:r>
          </a:p>
          <a:p>
            <a:pPr>
              <a:lnSpc>
                <a:spcPct val="150000"/>
              </a:lnSpc>
            </a:pPr>
            <a:r>
              <a:rPr lang="en-GB" dirty="0">
                <a:latin typeface="Times New Roman" panose="02020603050405020304" pitchFamily="18" charset="0"/>
                <a:ea typeface="Calibri"/>
                <a:cs typeface="Times New Roman" panose="02020603050405020304" pitchFamily="18" charset="0"/>
              </a:rPr>
              <a:t>The answer relevancy metric uses LLM-as-a-judge to measure the quality of the RAG pipeline's generator by evaluating how relevant the actual output of the LLM application is compared to the provided input.</a:t>
            </a:r>
          </a:p>
          <a:p>
            <a:pPr>
              <a:lnSpc>
                <a:spcPct val="150000"/>
              </a:lnSpc>
            </a:pPr>
            <a:r>
              <a:rPr lang="en-US" b="1" dirty="0">
                <a:latin typeface="Times New Roman" panose="02020603050405020304" pitchFamily="18" charset="0"/>
                <a:ea typeface="Calibri"/>
                <a:cs typeface="Times New Roman" panose="02020603050405020304" pitchFamily="18" charset="0"/>
              </a:rPr>
              <a:t>2.   Faithfulness :</a:t>
            </a:r>
          </a:p>
          <a:p>
            <a:pPr>
              <a:lnSpc>
                <a:spcPct val="150000"/>
              </a:lnSpc>
            </a:pPr>
            <a:r>
              <a:rPr lang="en-GB" dirty="0">
                <a:latin typeface="Times New Roman" panose="02020603050405020304" pitchFamily="18" charset="0"/>
                <a:ea typeface="Calibri"/>
                <a:cs typeface="Times New Roman" panose="02020603050405020304" pitchFamily="18" charset="0"/>
              </a:rPr>
              <a:t>The faithfulness metric uses LLM-as-a-judge to measure the quality of the RAG pipeline's generator by evaluating whether the actual output factually aligns with the contents of the  retrieval context.</a:t>
            </a:r>
          </a:p>
          <a:p>
            <a:pPr>
              <a:lnSpc>
                <a:spcPct val="150000"/>
              </a:lnSpc>
            </a:pPr>
            <a:r>
              <a:rPr lang="en-GB" b="1" dirty="0">
                <a:latin typeface="Times New Roman" panose="02020603050405020304" pitchFamily="18" charset="0"/>
                <a:ea typeface="Calibri"/>
                <a:cs typeface="Times New Roman" panose="02020603050405020304" pitchFamily="18" charset="0"/>
              </a:rPr>
              <a:t>3.   Hallucination :</a:t>
            </a:r>
          </a:p>
          <a:p>
            <a:pPr>
              <a:lnSpc>
                <a:spcPct val="150000"/>
              </a:lnSpc>
            </a:pPr>
            <a:r>
              <a:rPr lang="en-GB" dirty="0">
                <a:latin typeface="Times New Roman" panose="02020603050405020304" pitchFamily="18" charset="0"/>
                <a:ea typeface="Calibri"/>
                <a:cs typeface="Times New Roman" panose="02020603050405020304" pitchFamily="18" charset="0"/>
              </a:rPr>
              <a:t>The hallucination metric uses LLM-as-a-judge to determine whether the  LLM generates factually correct information by comparing the actual output to the provided context.</a:t>
            </a:r>
            <a:endParaRPr lang="en-US" dirty="0">
              <a:latin typeface="Times New Roman" panose="02020603050405020304" pitchFamily="18" charset="0"/>
              <a:ea typeface="Calibri"/>
              <a:cs typeface="Times New Roman" panose="02020603050405020304" pitchFamily="18" charset="0"/>
            </a:endParaRPr>
          </a:p>
        </p:txBody>
      </p:sp>
      <p:sp>
        <p:nvSpPr>
          <p:cNvPr id="5" name="TextBox 4">
            <a:extLst>
              <a:ext uri="{FF2B5EF4-FFF2-40B4-BE49-F238E27FC236}">
                <a16:creationId xmlns:a16="http://schemas.microsoft.com/office/drawing/2014/main" id="{EC2C0ECE-B708-4604-894E-33BB8C7479B3}"/>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412339875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BE97C-84B3-280E-2BB0-FCD47CA15B63}"/>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3572CCCC-934B-18CA-2CB0-8A19A95D73A9}"/>
              </a:ext>
            </a:extLst>
          </p:cNvPr>
          <p:cNvSpPr/>
          <p:nvPr/>
        </p:nvSpPr>
        <p:spPr>
          <a:xfrm>
            <a:off x="565977" y="721301"/>
            <a:ext cx="11187043" cy="5752938"/>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3B0F504B-FA7B-3010-304E-C54F8F4AF919}"/>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39CDBC20-0683-200C-62EB-ECD26A6A5AB6}"/>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7" name="Date Placeholder 6">
            <a:extLst>
              <a:ext uri="{FF2B5EF4-FFF2-40B4-BE49-F238E27FC236}">
                <a16:creationId xmlns:a16="http://schemas.microsoft.com/office/drawing/2014/main" id="{E5E50882-3B9E-E7AB-7B8B-7D6BCC338E33}"/>
              </a:ext>
            </a:extLst>
          </p:cNvPr>
          <p:cNvSpPr>
            <a:spLocks noGrp="1"/>
          </p:cNvSpPr>
          <p:nvPr>
            <p:ph type="dt" sz="half" idx="10"/>
          </p:nvPr>
        </p:nvSpPr>
        <p:spPr/>
        <p:txBody>
          <a:bodyPr/>
          <a:lstStyle/>
          <a:p>
            <a:fld id="{EAE32B99-C71A-45B2-8B74-F62CE79211CD}" type="datetime1">
              <a:rPr lang="en-US" smtClean="0"/>
              <a:t>4/21/2025</a:t>
            </a:fld>
            <a:endParaRPr lang="en-US"/>
          </a:p>
        </p:txBody>
      </p:sp>
      <p:sp>
        <p:nvSpPr>
          <p:cNvPr id="2" name="Slide Number Placeholder 1">
            <a:extLst>
              <a:ext uri="{FF2B5EF4-FFF2-40B4-BE49-F238E27FC236}">
                <a16:creationId xmlns:a16="http://schemas.microsoft.com/office/drawing/2014/main" id="{A7916BB2-2260-8FA9-2866-F3E62B598C59}"/>
              </a:ext>
            </a:extLst>
          </p:cNvPr>
          <p:cNvSpPr>
            <a:spLocks noGrp="1"/>
          </p:cNvSpPr>
          <p:nvPr>
            <p:ph type="sldNum" sz="quarter" idx="12"/>
          </p:nvPr>
        </p:nvSpPr>
        <p:spPr/>
        <p:txBody>
          <a:bodyPr/>
          <a:lstStyle/>
          <a:p>
            <a:fld id="{48F63A3B-78C7-47BE-AE5E-E10140E04643}" type="slidenum">
              <a:rPr lang="en-US" dirty="0"/>
              <a:t>18</a:t>
            </a:fld>
            <a:endParaRPr lang="en-US" dirty="0"/>
          </a:p>
        </p:txBody>
      </p:sp>
      <p:pic>
        <p:nvPicPr>
          <p:cNvPr id="3" name="Picture 2" descr="A close-up of a logo&#10;&#10;AI-generated content may be incorrect.">
            <a:extLst>
              <a:ext uri="{FF2B5EF4-FFF2-40B4-BE49-F238E27FC236}">
                <a16:creationId xmlns:a16="http://schemas.microsoft.com/office/drawing/2014/main" id="{7CD9FE4E-2449-0344-4DA5-FEE4E52B4624}"/>
              </a:ext>
            </a:extLst>
          </p:cNvPr>
          <p:cNvPicPr>
            <a:picLocks noChangeAspect="1"/>
          </p:cNvPicPr>
          <p:nvPr/>
        </p:nvPicPr>
        <p:blipFill>
          <a:blip r:embed="rId2"/>
          <a:stretch>
            <a:fillRect/>
          </a:stretch>
        </p:blipFill>
        <p:spPr>
          <a:xfrm>
            <a:off x="1" y="54524"/>
            <a:ext cx="2503714" cy="621059"/>
          </a:xfrm>
          <a:prstGeom prst="rect">
            <a:avLst/>
          </a:prstGeom>
        </p:spPr>
      </p:pic>
      <p:pic>
        <p:nvPicPr>
          <p:cNvPr id="10" name="Picture 9" descr="A diagram of a layer&#10;&#10;AI-generated content may be incorrect.">
            <a:extLst>
              <a:ext uri="{FF2B5EF4-FFF2-40B4-BE49-F238E27FC236}">
                <a16:creationId xmlns:a16="http://schemas.microsoft.com/office/drawing/2014/main" id="{C49AB350-8EAE-4309-EADA-821D7401EB33}"/>
              </a:ext>
            </a:extLst>
          </p:cNvPr>
          <p:cNvPicPr>
            <a:picLocks noChangeAspect="1"/>
          </p:cNvPicPr>
          <p:nvPr/>
        </p:nvPicPr>
        <p:blipFill>
          <a:blip r:embed="rId3"/>
          <a:stretch>
            <a:fillRect/>
          </a:stretch>
        </p:blipFill>
        <p:spPr>
          <a:xfrm>
            <a:off x="7390250" y="1476620"/>
            <a:ext cx="3870244" cy="4349258"/>
          </a:xfrm>
          <a:prstGeom prst="rect">
            <a:avLst/>
          </a:prstGeom>
        </p:spPr>
      </p:pic>
      <p:sp>
        <p:nvSpPr>
          <p:cNvPr id="13" name="Content Placeholder 2">
            <a:extLst>
              <a:ext uri="{FF2B5EF4-FFF2-40B4-BE49-F238E27FC236}">
                <a16:creationId xmlns:a16="http://schemas.microsoft.com/office/drawing/2014/main" id="{9DDEC2E3-E34F-6ED3-6F70-747BC1751E88}"/>
              </a:ext>
            </a:extLst>
          </p:cNvPr>
          <p:cNvSpPr>
            <a:spLocks noGrp="1"/>
          </p:cNvSpPr>
          <p:nvPr>
            <p:ph idx="1"/>
          </p:nvPr>
        </p:nvSpPr>
        <p:spPr>
          <a:xfrm>
            <a:off x="1131589" y="1300987"/>
            <a:ext cx="5860560" cy="4957451"/>
          </a:xfrm>
        </p:spPr>
        <p:txBody>
          <a:bodyPr vert="horz" lIns="91440" tIns="45720" rIns="91440" bIns="45720" rtlCol="0" anchor="t">
            <a:normAutofit fontScale="55000" lnSpcReduction="20000"/>
          </a:bodyPr>
          <a:lstStyle/>
          <a:p>
            <a:pPr marL="0" indent="0">
              <a:buNone/>
            </a:pPr>
            <a:r>
              <a:rPr lang="en-US" sz="3600" b="1" dirty="0">
                <a:latin typeface="Times New Roman"/>
                <a:ea typeface="Calibri"/>
                <a:cs typeface="Times New Roman"/>
              </a:rPr>
              <a:t>Gemma2 </a:t>
            </a:r>
          </a:p>
          <a:p>
            <a:pPr marL="0" indent="0">
              <a:buNone/>
            </a:pPr>
            <a:r>
              <a:rPr lang="en-US" dirty="0">
                <a:latin typeface="Times New Roman"/>
                <a:ea typeface="Calibri"/>
                <a:cs typeface="Times New Roman"/>
              </a:rPr>
              <a:t>Parameters Used:</a:t>
            </a:r>
            <a:endParaRPr lang="en-US" dirty="0">
              <a:latin typeface="Times New Roman"/>
              <a:ea typeface="Calibri"/>
              <a:cs typeface="Calibri"/>
            </a:endParaRPr>
          </a:p>
          <a:p>
            <a:pPr marL="0" indent="0">
              <a:buNone/>
            </a:pPr>
            <a:r>
              <a:rPr lang="en-US" b="1" dirty="0">
                <a:latin typeface="Times New Roman"/>
                <a:ea typeface="+mn-lt"/>
                <a:cs typeface="+mn-lt"/>
              </a:rPr>
              <a:t>Model:</a:t>
            </a:r>
            <a:r>
              <a:rPr lang="en-US" dirty="0">
                <a:latin typeface="Times New Roman"/>
                <a:ea typeface="+mn-lt"/>
                <a:cs typeface="+mn-lt"/>
              </a:rPr>
              <a:t> </a:t>
            </a:r>
            <a:r>
              <a:rPr lang="en-US" dirty="0">
                <a:latin typeface="Times New Roman"/>
                <a:ea typeface="+mn-lt"/>
                <a:cs typeface="Times New Roman"/>
              </a:rPr>
              <a:t>google/gemma-2-2b-it</a:t>
            </a:r>
            <a:endParaRPr lang="en-US" dirty="0">
              <a:latin typeface="Times New Roman"/>
              <a:ea typeface="+mn-lt"/>
              <a:cs typeface="+mn-lt"/>
            </a:endParaRPr>
          </a:p>
          <a:p>
            <a:pPr marL="0" indent="0">
              <a:buNone/>
            </a:pPr>
            <a:r>
              <a:rPr lang="en-US" b="1" dirty="0">
                <a:latin typeface="Times New Roman"/>
                <a:ea typeface="+mn-lt"/>
                <a:cs typeface="+mn-lt"/>
              </a:rPr>
              <a:t>Tokenizer:</a:t>
            </a:r>
            <a:r>
              <a:rPr lang="en-US" dirty="0">
                <a:latin typeface="Times New Roman"/>
                <a:ea typeface="+mn-lt"/>
                <a:cs typeface="+mn-lt"/>
              </a:rPr>
              <a:t> </a:t>
            </a:r>
            <a:r>
              <a:rPr lang="en-US" dirty="0" err="1">
                <a:latin typeface="Times New Roman"/>
                <a:ea typeface="+mn-lt"/>
                <a:cs typeface="+mn-lt"/>
              </a:rPr>
              <a:t>AutoTokenizer</a:t>
            </a:r>
            <a:r>
              <a:rPr lang="en-US" dirty="0">
                <a:latin typeface="Times New Roman"/>
                <a:ea typeface="+mn-lt"/>
                <a:cs typeface="+mn-lt"/>
              </a:rPr>
              <a:t> associated with the Gemma-2 2B model. [3]</a:t>
            </a:r>
          </a:p>
          <a:p>
            <a:pPr marL="0" indent="0">
              <a:buNone/>
            </a:pPr>
            <a:r>
              <a:rPr lang="en-US" b="1" dirty="0">
                <a:latin typeface="Times New Roman"/>
                <a:ea typeface="+mn-lt"/>
                <a:cs typeface="+mn-lt"/>
              </a:rPr>
              <a:t>Quantization Config: </a:t>
            </a:r>
            <a:r>
              <a:rPr lang="en-US" dirty="0">
                <a:latin typeface="Times New Roman"/>
                <a:ea typeface="+mn-lt"/>
                <a:cs typeface="+mn-lt"/>
              </a:rPr>
              <a:t>Weights: </a:t>
            </a:r>
            <a:r>
              <a:rPr lang="en-US" dirty="0">
                <a:latin typeface="Times New Roman"/>
                <a:ea typeface="+mn-lt"/>
                <a:cs typeface="Times New Roman"/>
              </a:rPr>
              <a:t>int8</a:t>
            </a:r>
            <a:endParaRPr lang="en-US" dirty="0">
              <a:latin typeface="Times New Roman"/>
              <a:ea typeface="+mn-lt"/>
              <a:cs typeface="+mn-lt"/>
            </a:endParaRPr>
          </a:p>
          <a:p>
            <a:pPr marL="0" indent="0">
              <a:buNone/>
            </a:pPr>
            <a:r>
              <a:rPr lang="en-US" b="1" dirty="0">
                <a:latin typeface="Times New Roman"/>
                <a:ea typeface="+mn-lt"/>
                <a:cs typeface="+mn-lt"/>
              </a:rPr>
              <a:t>Device Map:</a:t>
            </a:r>
            <a:r>
              <a:rPr lang="en-US" dirty="0">
                <a:latin typeface="Times New Roman"/>
                <a:ea typeface="+mn-lt"/>
                <a:cs typeface="+mn-lt"/>
              </a:rPr>
              <a:t> </a:t>
            </a:r>
            <a:r>
              <a:rPr lang="en-US" dirty="0">
                <a:latin typeface="Times New Roman"/>
                <a:ea typeface="+mn-lt"/>
                <a:cs typeface="Times New Roman"/>
              </a:rPr>
              <a:t>"</a:t>
            </a:r>
            <a:r>
              <a:rPr lang="en-US" dirty="0" err="1">
                <a:latin typeface="Times New Roman"/>
                <a:ea typeface="+mn-lt"/>
                <a:cs typeface="Times New Roman"/>
              </a:rPr>
              <a:t>cuda</a:t>
            </a:r>
            <a:r>
              <a:rPr lang="en-US" dirty="0">
                <a:latin typeface="Times New Roman"/>
                <a:ea typeface="+mn-lt"/>
                <a:cs typeface="Times New Roman"/>
              </a:rPr>
              <a:t>"</a:t>
            </a:r>
            <a:r>
              <a:rPr lang="en-US" dirty="0">
                <a:latin typeface="Times New Roman"/>
                <a:ea typeface="+mn-lt"/>
                <a:cs typeface="+mn-lt"/>
              </a:rPr>
              <a:t> (layers are automatically distributed across</a:t>
            </a:r>
          </a:p>
          <a:p>
            <a:pPr marL="0" indent="0">
              <a:buNone/>
            </a:pPr>
            <a:r>
              <a:rPr lang="en-US" dirty="0">
                <a:latin typeface="Times New Roman"/>
                <a:ea typeface="+mn-lt"/>
                <a:cs typeface="+mn-lt"/>
              </a:rPr>
              <a:t> GPUs/CPU)</a:t>
            </a:r>
          </a:p>
          <a:p>
            <a:pPr marL="0" indent="0">
              <a:buNone/>
            </a:pPr>
            <a:r>
              <a:rPr lang="en-US" b="1" dirty="0">
                <a:latin typeface="Times New Roman"/>
                <a:ea typeface="+mn-lt"/>
                <a:cs typeface="+mn-lt"/>
              </a:rPr>
              <a:t>Torch Data Type:</a:t>
            </a:r>
            <a:r>
              <a:rPr lang="en-US" dirty="0">
                <a:latin typeface="Times New Roman"/>
                <a:ea typeface="+mn-lt"/>
                <a:cs typeface="+mn-lt"/>
              </a:rPr>
              <a:t> </a:t>
            </a:r>
            <a:r>
              <a:rPr lang="en-US" dirty="0">
                <a:latin typeface="Times New Roman"/>
                <a:ea typeface="+mn-lt"/>
                <a:cs typeface="Times New Roman"/>
              </a:rPr>
              <a:t>float16</a:t>
            </a:r>
            <a:r>
              <a:rPr lang="en-US" dirty="0">
                <a:latin typeface="Times New Roman"/>
                <a:ea typeface="+mn-lt"/>
                <a:cs typeface="+mn-lt"/>
              </a:rPr>
              <a:t> (except for the 4-bit quantized layers)</a:t>
            </a:r>
          </a:p>
          <a:p>
            <a:pPr marL="0" indent="0">
              <a:buNone/>
            </a:pPr>
            <a:r>
              <a:rPr lang="en-US" b="1" dirty="0">
                <a:latin typeface="Times New Roman"/>
                <a:ea typeface="+mn-lt"/>
                <a:cs typeface="+mn-lt"/>
              </a:rPr>
              <a:t>Text Generation Pipeline:</a:t>
            </a:r>
            <a:endParaRPr lang="en-US" dirty="0">
              <a:latin typeface="Times New Roman"/>
              <a:ea typeface="+mn-lt"/>
              <a:cs typeface="+mn-lt"/>
            </a:endParaRPr>
          </a:p>
          <a:p>
            <a:pPr marL="171450" indent="-171450"/>
            <a:r>
              <a:rPr lang="en-US" dirty="0" err="1">
                <a:latin typeface="Times New Roman"/>
                <a:ea typeface="+mn-lt"/>
                <a:cs typeface="Times New Roman"/>
              </a:rPr>
              <a:t>use_cache</a:t>
            </a:r>
            <a:r>
              <a:rPr lang="en-US" dirty="0">
                <a:latin typeface="Times New Roman"/>
                <a:ea typeface="+mn-lt"/>
                <a:cs typeface="Times New Roman"/>
              </a:rPr>
              <a:t>=True</a:t>
            </a:r>
            <a:endParaRPr lang="en-US" dirty="0">
              <a:latin typeface="Times New Roman"/>
              <a:ea typeface="+mn-lt"/>
              <a:cs typeface="+mn-lt"/>
            </a:endParaRPr>
          </a:p>
          <a:p>
            <a:pPr marL="171450" indent="-171450"/>
            <a:r>
              <a:rPr lang="en-US" dirty="0" err="1">
                <a:latin typeface="Times New Roman"/>
                <a:ea typeface="+mn-lt"/>
                <a:cs typeface="Times New Roman"/>
              </a:rPr>
              <a:t>max_length</a:t>
            </a:r>
            <a:r>
              <a:rPr lang="en-US" dirty="0">
                <a:latin typeface="Times New Roman"/>
                <a:ea typeface="+mn-lt"/>
                <a:cs typeface="Times New Roman"/>
              </a:rPr>
              <a:t>=5000</a:t>
            </a:r>
            <a:endParaRPr lang="en-US" dirty="0">
              <a:latin typeface="Times New Roman"/>
              <a:ea typeface="+mn-lt"/>
              <a:cs typeface="+mn-lt"/>
            </a:endParaRPr>
          </a:p>
          <a:p>
            <a:pPr marL="171450" indent="-171450"/>
            <a:r>
              <a:rPr lang="en-US" dirty="0" err="1">
                <a:latin typeface="Times New Roman"/>
                <a:ea typeface="+mn-lt"/>
                <a:cs typeface="Times New Roman"/>
              </a:rPr>
              <a:t>do_sample</a:t>
            </a:r>
            <a:r>
              <a:rPr lang="en-US" dirty="0">
                <a:latin typeface="Times New Roman"/>
                <a:ea typeface="+mn-lt"/>
                <a:cs typeface="Times New Roman"/>
              </a:rPr>
              <a:t>=True</a:t>
            </a:r>
            <a:endParaRPr lang="en-US" dirty="0">
              <a:latin typeface="Times New Roman"/>
              <a:ea typeface="+mn-lt"/>
              <a:cs typeface="+mn-lt"/>
            </a:endParaRPr>
          </a:p>
          <a:p>
            <a:pPr marL="171450" indent="-171450"/>
            <a:r>
              <a:rPr lang="en-US" dirty="0" err="1">
                <a:latin typeface="Times New Roman"/>
                <a:ea typeface="+mn-lt"/>
                <a:cs typeface="Times New Roman"/>
              </a:rPr>
              <a:t>top_k</a:t>
            </a:r>
            <a:r>
              <a:rPr lang="en-US" dirty="0">
                <a:latin typeface="Times New Roman"/>
                <a:ea typeface="+mn-lt"/>
                <a:cs typeface="Times New Roman"/>
              </a:rPr>
              <a:t>=5</a:t>
            </a:r>
            <a:endParaRPr lang="en-US" dirty="0">
              <a:latin typeface="Times New Roman"/>
              <a:ea typeface="+mn-lt"/>
              <a:cs typeface="+mn-lt"/>
            </a:endParaRPr>
          </a:p>
          <a:p>
            <a:pPr marL="171450" indent="-171450"/>
            <a:r>
              <a:rPr lang="en-US" dirty="0" err="1">
                <a:latin typeface="Times New Roman"/>
                <a:ea typeface="+mn-lt"/>
                <a:cs typeface="Times New Roman"/>
              </a:rPr>
              <a:t>num_return_sequences</a:t>
            </a:r>
            <a:r>
              <a:rPr lang="en-US" dirty="0">
                <a:latin typeface="Times New Roman"/>
                <a:ea typeface="+mn-lt"/>
                <a:cs typeface="Times New Roman"/>
              </a:rPr>
              <a:t>=1</a:t>
            </a:r>
            <a:endParaRPr lang="en-US" dirty="0">
              <a:latin typeface="Times New Roman"/>
              <a:ea typeface="+mn-lt"/>
              <a:cs typeface="+mn-lt"/>
            </a:endParaRPr>
          </a:p>
          <a:p>
            <a:pPr marL="171450" indent="-171450"/>
            <a:r>
              <a:rPr lang="en-US" dirty="0" err="1">
                <a:latin typeface="Times New Roman"/>
                <a:ea typeface="+mn-lt"/>
                <a:cs typeface="Times New Roman"/>
              </a:rPr>
              <a:t>eos_token_id</a:t>
            </a:r>
            <a:r>
              <a:rPr lang="en-US" dirty="0">
                <a:latin typeface="Times New Roman"/>
                <a:ea typeface="+mn-lt"/>
                <a:cs typeface="+mn-lt"/>
              </a:rPr>
              <a:t> and </a:t>
            </a:r>
            <a:r>
              <a:rPr lang="en-US" dirty="0" err="1">
                <a:latin typeface="Times New Roman"/>
                <a:ea typeface="+mn-lt"/>
                <a:cs typeface="Times New Roman"/>
              </a:rPr>
              <a:t>pad_token_id</a:t>
            </a:r>
            <a:r>
              <a:rPr lang="en-US" dirty="0">
                <a:latin typeface="Times New Roman"/>
                <a:ea typeface="+mn-lt"/>
                <a:cs typeface="+mn-lt"/>
              </a:rPr>
              <a:t>: From the tokenizer's </a:t>
            </a:r>
            <a:r>
              <a:rPr lang="en-US" dirty="0" err="1">
                <a:latin typeface="Times New Roman"/>
                <a:ea typeface="+mn-lt"/>
                <a:cs typeface="Times New Roman"/>
              </a:rPr>
              <a:t>eos_token_id</a:t>
            </a:r>
            <a:endParaRPr lang="en-US" dirty="0">
              <a:latin typeface="Times New Roman"/>
              <a:ea typeface="+mn-lt"/>
              <a:cs typeface="+mn-lt"/>
            </a:endParaRPr>
          </a:p>
          <a:p>
            <a:pPr marL="0" indent="0">
              <a:buNone/>
            </a:pPr>
            <a:r>
              <a:rPr lang="en-US" b="1" dirty="0">
                <a:latin typeface="Times New Roman"/>
                <a:ea typeface="+mn-lt"/>
                <a:cs typeface="+mn-lt"/>
              </a:rPr>
              <a:t>JSON Schema Enforcer:</a:t>
            </a:r>
            <a:r>
              <a:rPr lang="en-US" dirty="0">
                <a:latin typeface="Times New Roman"/>
                <a:ea typeface="+mn-lt"/>
                <a:cs typeface="+mn-lt"/>
              </a:rPr>
              <a:t> </a:t>
            </a:r>
            <a:r>
              <a:rPr lang="en-US" dirty="0" err="1">
                <a:latin typeface="Times New Roman"/>
                <a:ea typeface="+mn-lt"/>
                <a:cs typeface="Times New Roman"/>
              </a:rPr>
              <a:t>lmformatenforcer.JsonSchemaParser</a:t>
            </a:r>
            <a:r>
              <a:rPr lang="en-US" dirty="0">
                <a:latin typeface="Times New Roman"/>
                <a:ea typeface="+mn-lt"/>
                <a:cs typeface="+mn-lt"/>
              </a:rPr>
              <a:t> is used to ensure that the output conforms strictly to the expected structure.</a:t>
            </a:r>
            <a:endParaRPr lang="en-US" dirty="0">
              <a:latin typeface="Times New Roman"/>
              <a:ea typeface="Calibri"/>
              <a:cs typeface="Calibri"/>
            </a:endParaRPr>
          </a:p>
          <a:p>
            <a:endParaRPr lang="en-US" dirty="0">
              <a:latin typeface="Times New Roman"/>
              <a:ea typeface="Calibri"/>
              <a:cs typeface="Calibri"/>
            </a:endParaRPr>
          </a:p>
        </p:txBody>
      </p:sp>
      <p:sp>
        <p:nvSpPr>
          <p:cNvPr id="5" name="TextBox 4">
            <a:extLst>
              <a:ext uri="{FF2B5EF4-FFF2-40B4-BE49-F238E27FC236}">
                <a16:creationId xmlns:a16="http://schemas.microsoft.com/office/drawing/2014/main" id="{94073D4A-310C-F105-F4AF-388869DDBA6C}"/>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8510674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E0135-04C2-A9A8-5913-E7DA4F277F52}"/>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D88B41F-A481-8F5D-51F6-930F6BE6B0FE}"/>
              </a:ext>
            </a:extLst>
          </p:cNvPr>
          <p:cNvSpPr/>
          <p:nvPr/>
        </p:nvSpPr>
        <p:spPr>
          <a:xfrm>
            <a:off x="565977" y="721301"/>
            <a:ext cx="11187043" cy="5752938"/>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09AA2E14-21CE-F90E-1FD8-89F1B60ADD6B}"/>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798A72B9-8F15-26E4-6606-B5C14395DF6C}"/>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7" name="Date Placeholder 6">
            <a:extLst>
              <a:ext uri="{FF2B5EF4-FFF2-40B4-BE49-F238E27FC236}">
                <a16:creationId xmlns:a16="http://schemas.microsoft.com/office/drawing/2014/main" id="{C2F12567-084A-EE7A-791D-D93CC4FAD5CC}"/>
              </a:ext>
            </a:extLst>
          </p:cNvPr>
          <p:cNvSpPr>
            <a:spLocks noGrp="1"/>
          </p:cNvSpPr>
          <p:nvPr>
            <p:ph type="dt" sz="half" idx="10"/>
          </p:nvPr>
        </p:nvSpPr>
        <p:spPr/>
        <p:txBody>
          <a:bodyPr/>
          <a:lstStyle/>
          <a:p>
            <a:fld id="{EAE32B99-C71A-45B2-8B74-F62CE79211CD}" type="datetime1">
              <a:rPr lang="en-US" smtClean="0"/>
              <a:t>4/21/2025</a:t>
            </a:fld>
            <a:endParaRPr lang="en-US"/>
          </a:p>
        </p:txBody>
      </p:sp>
      <p:sp>
        <p:nvSpPr>
          <p:cNvPr id="2" name="Slide Number Placeholder 1">
            <a:extLst>
              <a:ext uri="{FF2B5EF4-FFF2-40B4-BE49-F238E27FC236}">
                <a16:creationId xmlns:a16="http://schemas.microsoft.com/office/drawing/2014/main" id="{1A920DC1-8175-CC3A-A805-D6889A9F1EDF}"/>
              </a:ext>
            </a:extLst>
          </p:cNvPr>
          <p:cNvSpPr>
            <a:spLocks noGrp="1"/>
          </p:cNvSpPr>
          <p:nvPr>
            <p:ph type="sldNum" sz="quarter" idx="12"/>
          </p:nvPr>
        </p:nvSpPr>
        <p:spPr/>
        <p:txBody>
          <a:bodyPr/>
          <a:lstStyle/>
          <a:p>
            <a:fld id="{48F63A3B-78C7-47BE-AE5E-E10140E04643}" type="slidenum">
              <a:rPr lang="en-US" dirty="0"/>
              <a:t>19</a:t>
            </a:fld>
            <a:endParaRPr lang="en-US" dirty="0"/>
          </a:p>
        </p:txBody>
      </p:sp>
      <p:pic>
        <p:nvPicPr>
          <p:cNvPr id="3" name="Picture 2" descr="A close-up of a logo&#10;&#10;AI-generated content may be incorrect.">
            <a:extLst>
              <a:ext uri="{FF2B5EF4-FFF2-40B4-BE49-F238E27FC236}">
                <a16:creationId xmlns:a16="http://schemas.microsoft.com/office/drawing/2014/main" id="{4B5F5BDA-8BD6-2CE3-CF8C-A1C5303E99D9}"/>
              </a:ext>
            </a:extLst>
          </p:cNvPr>
          <p:cNvPicPr>
            <a:picLocks noChangeAspect="1"/>
          </p:cNvPicPr>
          <p:nvPr/>
        </p:nvPicPr>
        <p:blipFill>
          <a:blip r:embed="rId2"/>
          <a:stretch>
            <a:fillRect/>
          </a:stretch>
        </p:blipFill>
        <p:spPr>
          <a:xfrm>
            <a:off x="1" y="54524"/>
            <a:ext cx="2503714" cy="621059"/>
          </a:xfrm>
          <a:prstGeom prst="rect">
            <a:avLst/>
          </a:prstGeom>
        </p:spPr>
      </p:pic>
      <p:sp>
        <p:nvSpPr>
          <p:cNvPr id="11" name="Content Placeholder 2">
            <a:extLst>
              <a:ext uri="{FF2B5EF4-FFF2-40B4-BE49-F238E27FC236}">
                <a16:creationId xmlns:a16="http://schemas.microsoft.com/office/drawing/2014/main" id="{FFC5F725-B8E4-D7B3-AA6D-40CAB1FC099B}"/>
              </a:ext>
            </a:extLst>
          </p:cNvPr>
          <p:cNvSpPr>
            <a:spLocks noGrp="1"/>
          </p:cNvSpPr>
          <p:nvPr>
            <p:ph idx="1"/>
          </p:nvPr>
        </p:nvSpPr>
        <p:spPr>
          <a:xfrm>
            <a:off x="960235" y="1671773"/>
            <a:ext cx="5449541" cy="3896807"/>
          </a:xfrm>
        </p:spPr>
        <p:txBody>
          <a:bodyPr vert="horz" lIns="91440" tIns="45720" rIns="91440" bIns="45720" rtlCol="0" anchor="t">
            <a:noAutofit/>
          </a:bodyPr>
          <a:lstStyle/>
          <a:p>
            <a:pPr marL="0" indent="0">
              <a:lnSpc>
                <a:spcPct val="100000"/>
              </a:lnSpc>
              <a:buNone/>
            </a:pPr>
            <a:r>
              <a:rPr lang="en-US" sz="2000" b="1" dirty="0">
                <a:latin typeface="Times New Roman"/>
                <a:ea typeface="Calibri"/>
                <a:cs typeface="Times New Roman"/>
              </a:rPr>
              <a:t>Mistral</a:t>
            </a:r>
            <a:r>
              <a:rPr lang="en-US" sz="1600" b="1" dirty="0">
                <a:latin typeface="Times New Roman"/>
                <a:ea typeface="Calibri"/>
                <a:cs typeface="Times New Roman"/>
              </a:rPr>
              <a:t>  </a:t>
            </a:r>
            <a:r>
              <a:rPr lang="en-US" sz="1600" dirty="0">
                <a:latin typeface="Times New Roman"/>
                <a:ea typeface="Calibri"/>
                <a:cs typeface="Times New Roman"/>
              </a:rPr>
              <a:t>[4]</a:t>
            </a:r>
          </a:p>
          <a:p>
            <a:pPr marL="0" indent="0">
              <a:lnSpc>
                <a:spcPct val="100000"/>
              </a:lnSpc>
              <a:buNone/>
            </a:pPr>
            <a:r>
              <a:rPr lang="en-US" sz="1500" b="1" dirty="0">
                <a:latin typeface="Times New Roman"/>
                <a:ea typeface="Calibri"/>
                <a:cs typeface="Times New Roman"/>
              </a:rPr>
              <a:t>Parameters Used:</a:t>
            </a:r>
          </a:p>
          <a:p>
            <a:pPr marL="285750" indent="-285750">
              <a:lnSpc>
                <a:spcPct val="100000"/>
              </a:lnSpc>
              <a:spcBef>
                <a:spcPts val="0"/>
              </a:spcBef>
              <a:buFont typeface="Arial,Sans-Serif"/>
              <a:buChar char="•"/>
            </a:pPr>
            <a:r>
              <a:rPr lang="en-US" sz="1500" b="1" dirty="0">
                <a:latin typeface="Times New Roman"/>
                <a:ea typeface="Calibri"/>
                <a:cs typeface="Calibri"/>
              </a:rPr>
              <a:t>Model:</a:t>
            </a:r>
            <a:r>
              <a:rPr lang="en-US" sz="1500" dirty="0">
                <a:latin typeface="Times New Roman"/>
                <a:ea typeface="Calibri"/>
                <a:cs typeface="Calibri"/>
              </a:rPr>
              <a:t> </a:t>
            </a:r>
            <a:r>
              <a:rPr lang="en-US" sz="1500" dirty="0">
                <a:latin typeface="Times New Roman"/>
                <a:ea typeface="Calibri"/>
                <a:cs typeface="Times New Roman"/>
              </a:rPr>
              <a:t>mistral </a:t>
            </a:r>
          </a:p>
          <a:p>
            <a:pPr marL="285750" indent="-285750">
              <a:lnSpc>
                <a:spcPct val="100000"/>
              </a:lnSpc>
              <a:spcBef>
                <a:spcPts val="0"/>
              </a:spcBef>
              <a:buFont typeface="Arial,Sans-Serif"/>
              <a:buChar char="•"/>
            </a:pPr>
            <a:r>
              <a:rPr lang="en-US" sz="1500" b="1" dirty="0">
                <a:latin typeface="Times New Roman"/>
                <a:ea typeface="Calibri"/>
                <a:cs typeface="Calibri"/>
              </a:rPr>
              <a:t>Prompt Structure:</a:t>
            </a:r>
            <a:endParaRPr lang="en-US" sz="1500" dirty="0">
              <a:latin typeface="Times New Roman"/>
              <a:ea typeface="Calibri"/>
              <a:cs typeface="Calibri"/>
            </a:endParaRPr>
          </a:p>
          <a:p>
            <a:pPr marL="285750" indent="-285750">
              <a:lnSpc>
                <a:spcPct val="100000"/>
              </a:lnSpc>
              <a:spcBef>
                <a:spcPts val="0"/>
              </a:spcBef>
              <a:buFont typeface="Arial,Sans-Serif"/>
              <a:buChar char="•"/>
            </a:pPr>
            <a:r>
              <a:rPr lang="en-US" sz="1500" dirty="0">
                <a:latin typeface="Times New Roman"/>
                <a:ea typeface="Calibri"/>
                <a:cs typeface="Calibri"/>
              </a:rPr>
              <a:t>Context: Top-K retrieved documents (via FAISS and </a:t>
            </a:r>
          </a:p>
          <a:p>
            <a:pPr marL="0" indent="0">
              <a:lnSpc>
                <a:spcPct val="100000"/>
              </a:lnSpc>
              <a:spcBef>
                <a:spcPts val="0"/>
              </a:spcBef>
              <a:buNone/>
            </a:pPr>
            <a:r>
              <a:rPr lang="en-US" sz="1500" dirty="0">
                <a:latin typeface="Times New Roman"/>
                <a:ea typeface="Calibri"/>
                <a:cs typeface="Calibri"/>
              </a:rPr>
              <a:t>O*NET job titles/descriptions)</a:t>
            </a:r>
          </a:p>
          <a:p>
            <a:pPr marL="285750" indent="-285750">
              <a:lnSpc>
                <a:spcPct val="100000"/>
              </a:lnSpc>
              <a:spcBef>
                <a:spcPts val="0"/>
              </a:spcBef>
              <a:buFont typeface="Arial,Sans-Serif"/>
              <a:buChar char="•"/>
            </a:pPr>
            <a:r>
              <a:rPr lang="en-US" sz="1500" dirty="0">
                <a:latin typeface="Times New Roman"/>
                <a:ea typeface="Calibri"/>
                <a:cs typeface="Calibri"/>
              </a:rPr>
              <a:t>User Profile: Includes skills and academic history.</a:t>
            </a:r>
          </a:p>
          <a:p>
            <a:pPr marL="285750" indent="-285750">
              <a:lnSpc>
                <a:spcPct val="100000"/>
              </a:lnSpc>
              <a:spcBef>
                <a:spcPts val="0"/>
              </a:spcBef>
              <a:buFont typeface="Arial,Sans-Serif"/>
              <a:buChar char="•"/>
            </a:pPr>
            <a:r>
              <a:rPr lang="en-US" sz="1500" dirty="0">
                <a:latin typeface="Times New Roman"/>
                <a:ea typeface="Calibri"/>
                <a:cs typeface="Calibri"/>
              </a:rPr>
              <a:t>Guidance Requirements:</a:t>
            </a:r>
          </a:p>
          <a:p>
            <a:pPr lvl="1">
              <a:lnSpc>
                <a:spcPct val="100000"/>
              </a:lnSpc>
              <a:spcBef>
                <a:spcPts val="0"/>
              </a:spcBef>
              <a:buFont typeface="Arial,Sans-Serif"/>
              <a:buChar char="•"/>
            </a:pPr>
            <a:r>
              <a:rPr lang="en-US" sz="1500" dirty="0">
                <a:latin typeface="Times New Roman"/>
                <a:ea typeface="Calibri"/>
                <a:cs typeface="Calibri"/>
              </a:rPr>
              <a:t>Recommended career paths (SOC codes and titles)</a:t>
            </a:r>
          </a:p>
          <a:p>
            <a:pPr lvl="1">
              <a:lnSpc>
                <a:spcPct val="100000"/>
              </a:lnSpc>
              <a:spcBef>
                <a:spcPts val="0"/>
              </a:spcBef>
              <a:buFont typeface="Arial,Sans-Serif"/>
              <a:buChar char="•"/>
            </a:pPr>
            <a:r>
              <a:rPr lang="en-US" sz="1500" dirty="0">
                <a:latin typeface="Times New Roman"/>
                <a:ea typeface="Calibri"/>
                <a:cs typeface="Calibri"/>
              </a:rPr>
              <a:t>Skill development suggestions</a:t>
            </a:r>
          </a:p>
          <a:p>
            <a:pPr lvl="1">
              <a:lnSpc>
                <a:spcPct val="100000"/>
              </a:lnSpc>
              <a:spcBef>
                <a:spcPts val="0"/>
              </a:spcBef>
              <a:buFont typeface="Arial,Sans-Serif"/>
              <a:buChar char="•"/>
            </a:pPr>
            <a:r>
              <a:rPr lang="en-US" sz="1500" dirty="0">
                <a:latin typeface="Times New Roman"/>
                <a:ea typeface="Calibri"/>
                <a:cs typeface="Calibri"/>
              </a:rPr>
              <a:t>Industries to explore</a:t>
            </a:r>
          </a:p>
          <a:p>
            <a:pPr lvl="1">
              <a:lnSpc>
                <a:spcPct val="100000"/>
              </a:lnSpc>
              <a:spcBef>
                <a:spcPts val="0"/>
              </a:spcBef>
              <a:buFont typeface="Arial,Sans-Serif"/>
              <a:buChar char="•"/>
            </a:pPr>
            <a:r>
              <a:rPr lang="en-US" sz="1500" dirty="0">
                <a:latin typeface="Times New Roman"/>
                <a:ea typeface="Calibri"/>
                <a:cs typeface="Calibri"/>
              </a:rPr>
              <a:t>Next steps for job applications</a:t>
            </a:r>
          </a:p>
          <a:p>
            <a:pPr lvl="1">
              <a:lnSpc>
                <a:spcPct val="100000"/>
              </a:lnSpc>
              <a:spcBef>
                <a:spcPts val="0"/>
              </a:spcBef>
              <a:buFont typeface="Arial,Sans-Serif"/>
              <a:buChar char="•"/>
            </a:pPr>
            <a:r>
              <a:rPr lang="en-US" sz="1500" b="1" dirty="0">
                <a:latin typeface="Times New Roman"/>
                <a:ea typeface="Calibri"/>
                <a:cs typeface="Calibri"/>
              </a:rPr>
              <a:t>Subprocess Execution:</a:t>
            </a:r>
            <a:r>
              <a:rPr lang="en-US" sz="1500" dirty="0">
                <a:latin typeface="Times New Roman"/>
                <a:ea typeface="Calibri"/>
                <a:cs typeface="Calibri"/>
              </a:rPr>
              <a:t> Mistral is executed </a:t>
            </a:r>
          </a:p>
          <a:p>
            <a:pPr marL="457200" lvl="1" indent="0">
              <a:lnSpc>
                <a:spcPct val="100000"/>
              </a:lnSpc>
              <a:spcBef>
                <a:spcPts val="0"/>
              </a:spcBef>
              <a:buNone/>
            </a:pPr>
            <a:r>
              <a:rPr lang="en-US" sz="1500" dirty="0">
                <a:latin typeface="Times New Roman"/>
                <a:ea typeface="Calibri"/>
                <a:cs typeface="Calibri"/>
              </a:rPr>
              <a:t>     using </a:t>
            </a:r>
            <a:r>
              <a:rPr lang="en-US" sz="1500" dirty="0" err="1">
                <a:latin typeface="Times New Roman"/>
                <a:ea typeface="Calibri"/>
                <a:cs typeface="Times New Roman"/>
              </a:rPr>
              <a:t>ollama</a:t>
            </a:r>
            <a:r>
              <a:rPr lang="en-US" sz="1500" dirty="0">
                <a:latin typeface="Times New Roman"/>
                <a:ea typeface="Calibri"/>
                <a:cs typeface="Calibri"/>
              </a:rPr>
              <a:t> with a specific </a:t>
            </a:r>
            <a:r>
              <a:rPr lang="en-US" sz="1500" dirty="0">
                <a:latin typeface="Times New Roman"/>
                <a:ea typeface="Calibri"/>
                <a:cs typeface="Times New Roman"/>
              </a:rPr>
              <a:t>prompt</a:t>
            </a:r>
            <a:r>
              <a:rPr lang="en-US" sz="1500" dirty="0">
                <a:latin typeface="Times New Roman"/>
                <a:ea typeface="Calibri"/>
                <a:cs typeface="Calibri"/>
              </a:rPr>
              <a:t> for personalized career      guidance generation.</a:t>
            </a:r>
            <a:endParaRPr lang="en-US" sz="1500" dirty="0">
              <a:latin typeface="Times New Roman"/>
              <a:ea typeface="Calibri"/>
              <a:cs typeface="Times New Roman"/>
            </a:endParaRPr>
          </a:p>
        </p:txBody>
      </p:sp>
      <p:pic>
        <p:nvPicPr>
          <p:cNvPr id="12" name="Picture 11" descr="A diagram of a transformer and mistral&#10;&#10;AI-generated content may be incorrect.">
            <a:extLst>
              <a:ext uri="{FF2B5EF4-FFF2-40B4-BE49-F238E27FC236}">
                <a16:creationId xmlns:a16="http://schemas.microsoft.com/office/drawing/2014/main" id="{DFDAABC3-7B71-B81F-3B44-A972F3B2A674}"/>
              </a:ext>
            </a:extLst>
          </p:cNvPr>
          <p:cNvPicPr>
            <a:picLocks noChangeAspect="1"/>
          </p:cNvPicPr>
          <p:nvPr/>
        </p:nvPicPr>
        <p:blipFill>
          <a:blip r:embed="rId3"/>
          <a:stretch>
            <a:fillRect/>
          </a:stretch>
        </p:blipFill>
        <p:spPr>
          <a:xfrm>
            <a:off x="6510308" y="856919"/>
            <a:ext cx="4843491" cy="5538734"/>
          </a:xfrm>
          <a:prstGeom prst="rect">
            <a:avLst/>
          </a:prstGeom>
        </p:spPr>
      </p:pic>
      <p:sp>
        <p:nvSpPr>
          <p:cNvPr id="5" name="TextBox 4">
            <a:extLst>
              <a:ext uri="{FF2B5EF4-FFF2-40B4-BE49-F238E27FC236}">
                <a16:creationId xmlns:a16="http://schemas.microsoft.com/office/drawing/2014/main" id="{42D960C3-CFE4-7004-14FA-6ADAC88D9FA7}"/>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31051540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3694C7-8183-A1A9-4961-DC0E4938131D}"/>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46377D49-3A46-EAA7-AD9B-1F47E531D363}"/>
              </a:ext>
            </a:extLst>
          </p:cNvPr>
          <p:cNvSpPr/>
          <p:nvPr/>
        </p:nvSpPr>
        <p:spPr>
          <a:xfrm>
            <a:off x="565977" y="721301"/>
            <a:ext cx="11187043" cy="5752938"/>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5228183A-E274-EC6E-41D8-DBF7435DA55F}"/>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F64E4DA4-875C-538A-E917-628836FC24F1}"/>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7" name="Date Placeholder 6">
            <a:extLst>
              <a:ext uri="{FF2B5EF4-FFF2-40B4-BE49-F238E27FC236}">
                <a16:creationId xmlns:a16="http://schemas.microsoft.com/office/drawing/2014/main" id="{098F5B74-5B18-C2DB-0858-F2BE739C0749}"/>
              </a:ext>
            </a:extLst>
          </p:cNvPr>
          <p:cNvSpPr>
            <a:spLocks noGrp="1"/>
          </p:cNvSpPr>
          <p:nvPr>
            <p:ph type="dt" sz="half" idx="10"/>
          </p:nvPr>
        </p:nvSpPr>
        <p:spPr/>
        <p:txBody>
          <a:bodyPr/>
          <a:lstStyle/>
          <a:p>
            <a:fld id="{EAE32B99-C71A-45B2-8B74-F62CE79211CD}" type="datetime1">
              <a:rPr lang="en-US" smtClean="0"/>
              <a:t>4/21/2025</a:t>
            </a:fld>
            <a:endParaRPr lang="en-US"/>
          </a:p>
        </p:txBody>
      </p:sp>
      <p:sp>
        <p:nvSpPr>
          <p:cNvPr id="2" name="Slide Number Placeholder 1">
            <a:extLst>
              <a:ext uri="{FF2B5EF4-FFF2-40B4-BE49-F238E27FC236}">
                <a16:creationId xmlns:a16="http://schemas.microsoft.com/office/drawing/2014/main" id="{E06A43CE-C8F6-85B5-D1B5-DFC63C037588}"/>
              </a:ext>
            </a:extLst>
          </p:cNvPr>
          <p:cNvSpPr>
            <a:spLocks noGrp="1"/>
          </p:cNvSpPr>
          <p:nvPr>
            <p:ph type="sldNum" sz="quarter" idx="12"/>
          </p:nvPr>
        </p:nvSpPr>
        <p:spPr/>
        <p:txBody>
          <a:bodyPr/>
          <a:lstStyle/>
          <a:p>
            <a:fld id="{48F63A3B-78C7-47BE-AE5E-E10140E04643}" type="slidenum">
              <a:rPr lang="en-US" dirty="0"/>
              <a:t>20</a:t>
            </a:fld>
            <a:endParaRPr lang="en-US" dirty="0"/>
          </a:p>
        </p:txBody>
      </p:sp>
      <p:pic>
        <p:nvPicPr>
          <p:cNvPr id="3" name="Picture 2" descr="A close-up of a logo&#10;&#10;AI-generated content may be incorrect.">
            <a:extLst>
              <a:ext uri="{FF2B5EF4-FFF2-40B4-BE49-F238E27FC236}">
                <a16:creationId xmlns:a16="http://schemas.microsoft.com/office/drawing/2014/main" id="{87ACD3BA-5BD2-8A60-C67B-D45559156011}"/>
              </a:ext>
            </a:extLst>
          </p:cNvPr>
          <p:cNvPicPr>
            <a:picLocks noChangeAspect="1"/>
          </p:cNvPicPr>
          <p:nvPr/>
        </p:nvPicPr>
        <p:blipFill>
          <a:blip r:embed="rId2"/>
          <a:stretch>
            <a:fillRect/>
          </a:stretch>
        </p:blipFill>
        <p:spPr>
          <a:xfrm>
            <a:off x="1" y="54524"/>
            <a:ext cx="2503714" cy="621059"/>
          </a:xfrm>
          <a:prstGeom prst="rect">
            <a:avLst/>
          </a:prstGeom>
        </p:spPr>
      </p:pic>
      <p:graphicFrame>
        <p:nvGraphicFramePr>
          <p:cNvPr id="9" name="Table 8">
            <a:extLst>
              <a:ext uri="{FF2B5EF4-FFF2-40B4-BE49-F238E27FC236}">
                <a16:creationId xmlns:a16="http://schemas.microsoft.com/office/drawing/2014/main" id="{68F37F06-065B-B991-166E-0A966719AB8F}"/>
              </a:ext>
            </a:extLst>
          </p:cNvPr>
          <p:cNvGraphicFramePr>
            <a:graphicFrameLocks noGrp="1"/>
          </p:cNvGraphicFramePr>
          <p:nvPr>
            <p:extLst>
              <p:ext uri="{D42A27DB-BD31-4B8C-83A1-F6EECF244321}">
                <p14:modId xmlns:p14="http://schemas.microsoft.com/office/powerpoint/2010/main" val="486102289"/>
              </p:ext>
            </p:extLst>
          </p:nvPr>
        </p:nvGraphicFramePr>
        <p:xfrm>
          <a:off x="3886200" y="1582151"/>
          <a:ext cx="4191000" cy="1483360"/>
        </p:xfrm>
        <a:graphic>
          <a:graphicData uri="http://schemas.openxmlformats.org/drawingml/2006/table">
            <a:tbl>
              <a:tblPr firstRow="1" bandRow="1">
                <a:tableStyleId>{5C22544A-7EE6-4342-B048-85BDC9FD1C3A}</a:tableStyleId>
              </a:tblPr>
              <a:tblGrid>
                <a:gridCol w="2095500">
                  <a:extLst>
                    <a:ext uri="{9D8B030D-6E8A-4147-A177-3AD203B41FA5}">
                      <a16:colId xmlns:a16="http://schemas.microsoft.com/office/drawing/2014/main" val="1421114364"/>
                    </a:ext>
                  </a:extLst>
                </a:gridCol>
                <a:gridCol w="2095500">
                  <a:extLst>
                    <a:ext uri="{9D8B030D-6E8A-4147-A177-3AD203B41FA5}">
                      <a16:colId xmlns:a16="http://schemas.microsoft.com/office/drawing/2014/main" val="2123581800"/>
                    </a:ext>
                  </a:extLst>
                </a:gridCol>
              </a:tblGrid>
              <a:tr h="370840">
                <a:tc>
                  <a:txBody>
                    <a:bodyPr/>
                    <a:lstStyle/>
                    <a:p>
                      <a:r>
                        <a:rPr lang="en-US" dirty="0">
                          <a:latin typeface="Times New Roman" panose="02020603050405020304" pitchFamily="18" charset="0"/>
                          <a:cs typeface="Times New Roman" panose="02020603050405020304" pitchFamily="18" charset="0"/>
                        </a:rPr>
                        <a:t>Metric</a:t>
                      </a:r>
                    </a:p>
                  </a:txBody>
                  <a:tcPr/>
                </a:tc>
                <a:tc>
                  <a:txBody>
                    <a:bodyPr/>
                    <a:lstStyle/>
                    <a:p>
                      <a:r>
                        <a:rPr lang="en-US" dirty="0">
                          <a:latin typeface="Times New Roman" panose="02020603050405020304" pitchFamily="18" charset="0"/>
                          <a:cs typeface="Times New Roman" panose="02020603050405020304" pitchFamily="18" charset="0"/>
                        </a:rPr>
                        <a:t>Score </a:t>
                      </a:r>
                    </a:p>
                  </a:txBody>
                  <a:tcPr/>
                </a:tc>
                <a:extLst>
                  <a:ext uri="{0D108BD9-81ED-4DB2-BD59-A6C34878D82A}">
                    <a16:rowId xmlns:a16="http://schemas.microsoft.com/office/drawing/2014/main" val="3385429016"/>
                  </a:ext>
                </a:extLst>
              </a:tr>
              <a:tr h="370840">
                <a:tc>
                  <a:txBody>
                    <a:bodyPr/>
                    <a:lstStyle/>
                    <a:p>
                      <a:r>
                        <a:rPr lang="en-US" dirty="0">
                          <a:latin typeface="Times New Roman" panose="02020603050405020304" pitchFamily="18" charset="0"/>
                          <a:cs typeface="Times New Roman" panose="02020603050405020304" pitchFamily="18" charset="0"/>
                        </a:rPr>
                        <a:t>Answer Relevancy</a:t>
                      </a:r>
                    </a:p>
                  </a:txBody>
                  <a:tcPr/>
                </a:tc>
                <a:tc>
                  <a:txBody>
                    <a:bodyPr/>
                    <a:lstStyle/>
                    <a:p>
                      <a:pPr lvl="0">
                        <a:buNone/>
                      </a:pPr>
                      <a:r>
                        <a:rPr lang="en-US" dirty="0">
                          <a:latin typeface="Times New Roman"/>
                          <a:cs typeface="Times New Roman"/>
                        </a:rPr>
                        <a:t>0.9494</a:t>
                      </a:r>
                    </a:p>
                  </a:txBody>
                  <a:tcPr/>
                </a:tc>
                <a:extLst>
                  <a:ext uri="{0D108BD9-81ED-4DB2-BD59-A6C34878D82A}">
                    <a16:rowId xmlns:a16="http://schemas.microsoft.com/office/drawing/2014/main" val="878695791"/>
                  </a:ext>
                </a:extLst>
              </a:tr>
              <a:tr h="370840">
                <a:tc>
                  <a:txBody>
                    <a:bodyPr/>
                    <a:lstStyle/>
                    <a:p>
                      <a:r>
                        <a:rPr lang="en-US" dirty="0">
                          <a:latin typeface="Times New Roman" panose="02020603050405020304" pitchFamily="18" charset="0"/>
                          <a:cs typeface="Times New Roman" panose="02020603050405020304" pitchFamily="18" charset="0"/>
                        </a:rPr>
                        <a:t>Faithfulness</a:t>
                      </a:r>
                    </a:p>
                  </a:txBody>
                  <a:tcPr/>
                </a:tc>
                <a:tc>
                  <a:txBody>
                    <a:bodyPr/>
                    <a:lstStyle/>
                    <a:p>
                      <a:pPr lvl="0">
                        <a:buNone/>
                      </a:pPr>
                      <a:r>
                        <a:rPr lang="en-US" dirty="0">
                          <a:latin typeface="Times New Roman"/>
                          <a:cs typeface="Times New Roman"/>
                        </a:rPr>
                        <a:t>0.9671</a:t>
                      </a:r>
                      <a:endParaRPr lang="en-US" dirty="0"/>
                    </a:p>
                  </a:txBody>
                  <a:tcPr/>
                </a:tc>
                <a:extLst>
                  <a:ext uri="{0D108BD9-81ED-4DB2-BD59-A6C34878D82A}">
                    <a16:rowId xmlns:a16="http://schemas.microsoft.com/office/drawing/2014/main" val="1981129934"/>
                  </a:ext>
                </a:extLst>
              </a:tr>
              <a:tr h="370840">
                <a:tc>
                  <a:txBody>
                    <a:bodyPr/>
                    <a:lstStyle/>
                    <a:p>
                      <a:r>
                        <a:rPr lang="en-US" dirty="0">
                          <a:latin typeface="Times New Roman" panose="02020603050405020304" pitchFamily="18" charset="0"/>
                          <a:cs typeface="Times New Roman" panose="02020603050405020304" pitchFamily="18" charset="0"/>
                        </a:rPr>
                        <a:t>Hallucination</a:t>
                      </a:r>
                    </a:p>
                  </a:txBody>
                  <a:tcPr/>
                </a:tc>
                <a:tc>
                  <a:txBody>
                    <a:bodyPr/>
                    <a:lstStyle/>
                    <a:p>
                      <a:pPr lvl="0">
                        <a:buNone/>
                      </a:pPr>
                      <a:r>
                        <a:rPr lang="en-US" dirty="0">
                          <a:latin typeface="Times New Roman"/>
                          <a:cs typeface="Times New Roman"/>
                        </a:rPr>
                        <a:t>0.0666</a:t>
                      </a:r>
                    </a:p>
                  </a:txBody>
                  <a:tcPr/>
                </a:tc>
                <a:extLst>
                  <a:ext uri="{0D108BD9-81ED-4DB2-BD59-A6C34878D82A}">
                    <a16:rowId xmlns:a16="http://schemas.microsoft.com/office/drawing/2014/main" val="3199715695"/>
                  </a:ext>
                </a:extLst>
              </a:tr>
            </a:tbl>
          </a:graphicData>
        </a:graphic>
      </p:graphicFrame>
      <p:sp>
        <p:nvSpPr>
          <p:cNvPr id="10" name="Content Placeholder 2">
            <a:extLst>
              <a:ext uri="{FF2B5EF4-FFF2-40B4-BE49-F238E27FC236}">
                <a16:creationId xmlns:a16="http://schemas.microsoft.com/office/drawing/2014/main" id="{538E1F43-0317-80E2-8D85-D46CBAE4251A}"/>
              </a:ext>
            </a:extLst>
          </p:cNvPr>
          <p:cNvSpPr txBox="1">
            <a:spLocks/>
          </p:cNvSpPr>
          <p:nvPr/>
        </p:nvSpPr>
        <p:spPr>
          <a:xfrm>
            <a:off x="2095500" y="3207793"/>
            <a:ext cx="8001000" cy="2224024"/>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r>
              <a:rPr lang="en-US" sz="1700" b="1" dirty="0">
                <a:latin typeface="Times New Roman" panose="02020603050405020304" pitchFamily="18" charset="0"/>
                <a:cs typeface="Times New Roman" panose="02020603050405020304" pitchFamily="18" charset="0"/>
              </a:rPr>
              <a:t>Metrics for Gemma 2 2B</a:t>
            </a:r>
          </a:p>
          <a:p>
            <a:pPr marL="0" indent="0" algn="just">
              <a:buNone/>
            </a:pPr>
            <a:r>
              <a:rPr lang="en-US" sz="1700" b="1" dirty="0">
                <a:latin typeface="Times New Roman" panose="02020603050405020304" pitchFamily="18" charset="0"/>
                <a:cs typeface="Times New Roman" panose="02020603050405020304" pitchFamily="18" charset="0"/>
              </a:rPr>
              <a:t>Explanation :</a:t>
            </a:r>
          </a:p>
          <a:p>
            <a:pPr algn="just">
              <a:buFont typeface="+mj-lt"/>
              <a:buAutoNum type="arabicPeriod"/>
            </a:pPr>
            <a:r>
              <a:rPr lang="en-US" sz="1700" b="1" dirty="0">
                <a:latin typeface="Times New Roman" panose="02020603050405020304" pitchFamily="18" charset="0"/>
                <a:cs typeface="Times New Roman" panose="02020603050405020304" pitchFamily="18" charset="0"/>
              </a:rPr>
              <a:t>Answer Relevancy : </a:t>
            </a:r>
            <a:r>
              <a:rPr lang="en-GB" sz="1700" dirty="0">
                <a:latin typeface="Times New Roman" panose="02020603050405020304" pitchFamily="18" charset="0"/>
                <a:cs typeface="Times New Roman" panose="02020603050405020304" pitchFamily="18" charset="0"/>
              </a:rPr>
              <a:t>The Score is </a:t>
            </a:r>
            <a:r>
              <a:rPr lang="en-GB" sz="1700" dirty="0">
                <a:latin typeface="Times New Roman"/>
                <a:cs typeface="Times New Roman"/>
              </a:rPr>
              <a:t>0.9494</a:t>
            </a:r>
            <a:r>
              <a:rPr lang="en-GB" sz="1700" dirty="0">
                <a:latin typeface="Times New Roman" panose="02020603050405020304" pitchFamily="18" charset="0"/>
                <a:cs typeface="Times New Roman" panose="02020603050405020304" pitchFamily="18" charset="0"/>
              </a:rPr>
              <a:t> because the user profile provides enough context to recommend specific career paths or suggest skill development. </a:t>
            </a:r>
          </a:p>
          <a:p>
            <a:pPr algn="just">
              <a:buFont typeface="+mj-lt"/>
              <a:buAutoNum type="arabicPeriod"/>
            </a:pPr>
            <a:r>
              <a:rPr lang="en-GB" sz="1700" b="1" dirty="0">
                <a:latin typeface="Times New Roman" panose="02020603050405020304" pitchFamily="18" charset="0"/>
                <a:cs typeface="Times New Roman" panose="02020603050405020304" pitchFamily="18" charset="0"/>
              </a:rPr>
              <a:t>Faithfulness :</a:t>
            </a:r>
            <a:r>
              <a:rPr lang="en-GB" sz="1700" dirty="0">
                <a:latin typeface="Times New Roman" panose="02020603050405020304" pitchFamily="18" charset="0"/>
                <a:cs typeface="Times New Roman" panose="02020603050405020304" pitchFamily="18" charset="0"/>
              </a:rPr>
              <a:t>The faithfulness score is 0.9671 because the actual outputs perfectly align with the retrieval context</a:t>
            </a:r>
          </a:p>
          <a:p>
            <a:pPr algn="just">
              <a:buFont typeface="+mj-lt"/>
              <a:buAutoNum type="arabicPeriod"/>
            </a:pPr>
            <a:r>
              <a:rPr lang="en-GB" sz="1700" b="1" dirty="0">
                <a:latin typeface="Times New Roman" panose="02020603050405020304" pitchFamily="18" charset="0"/>
                <a:cs typeface="Times New Roman" panose="02020603050405020304" pitchFamily="18" charset="0"/>
              </a:rPr>
              <a:t>Hallucination :</a:t>
            </a:r>
            <a:r>
              <a:rPr lang="en-GB" sz="1700" dirty="0">
                <a:latin typeface="Times New Roman" panose="02020603050405020304" pitchFamily="18" charset="0"/>
                <a:cs typeface="Times New Roman" panose="02020603050405020304" pitchFamily="18" charset="0"/>
              </a:rPr>
              <a:t> The Hallucination score is 0.0666 because there is no discrepancy between the generated output and provided con-text</a:t>
            </a:r>
            <a:endParaRPr lang="en-US" sz="1700" dirty="0">
              <a:latin typeface="Times New Roman" panose="02020603050405020304" pitchFamily="18" charset="0"/>
              <a:cs typeface="Times New Roman" panose="02020603050405020304" pitchFamily="18" charset="0"/>
            </a:endParaRPr>
          </a:p>
        </p:txBody>
      </p:sp>
      <p:sp>
        <p:nvSpPr>
          <p:cNvPr id="13" name="Title 1">
            <a:extLst>
              <a:ext uri="{FF2B5EF4-FFF2-40B4-BE49-F238E27FC236}">
                <a16:creationId xmlns:a16="http://schemas.microsoft.com/office/drawing/2014/main" id="{05FA02D2-3AB1-7E48-1F4E-83E117AD7706}"/>
              </a:ext>
            </a:extLst>
          </p:cNvPr>
          <p:cNvSpPr>
            <a:spLocks noGrp="1"/>
          </p:cNvSpPr>
          <p:nvPr>
            <p:ph type="title"/>
          </p:nvPr>
        </p:nvSpPr>
        <p:spPr>
          <a:xfrm>
            <a:off x="1866900" y="1197583"/>
            <a:ext cx="8229600" cy="457200"/>
          </a:xfrm>
        </p:spPr>
        <p:txBody>
          <a:bodyPr>
            <a:noAutofit/>
          </a:bodyPr>
          <a:lstStyle/>
          <a:p>
            <a:pPr algn="ctr"/>
            <a:r>
              <a:rPr lang="en-US" sz="2500" b="1" dirty="0">
                <a:latin typeface="Times New Roman" pitchFamily="18" charset="0"/>
                <a:cs typeface="Times New Roman" pitchFamily="18" charset="0"/>
              </a:rPr>
              <a:t>RESULT ANALYSIS</a:t>
            </a:r>
            <a:br>
              <a:rPr lang="en-US" sz="2500" b="1" dirty="0">
                <a:latin typeface="Times New Roman" pitchFamily="18" charset="0"/>
                <a:cs typeface="Times New Roman" pitchFamily="18" charset="0"/>
              </a:rPr>
            </a:br>
            <a:br>
              <a:rPr lang="en-US" sz="2500" b="1" dirty="0">
                <a:latin typeface="Times New Roman" pitchFamily="18" charset="0"/>
                <a:cs typeface="Times New Roman" pitchFamily="18" charset="0"/>
              </a:rPr>
            </a:br>
            <a:endParaRPr lang="en-US" sz="2500" b="1" dirty="0"/>
          </a:p>
        </p:txBody>
      </p:sp>
      <p:sp>
        <p:nvSpPr>
          <p:cNvPr id="11" name="TextBox 10">
            <a:extLst>
              <a:ext uri="{FF2B5EF4-FFF2-40B4-BE49-F238E27FC236}">
                <a16:creationId xmlns:a16="http://schemas.microsoft.com/office/drawing/2014/main" id="{7880947D-9F0A-8FED-B821-F76DD1142E14}"/>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35154249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E40934-0962-5F32-2EE0-F75446452909}"/>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9AED5898-A7A3-0EA9-51E9-193A9B0E1B31}"/>
              </a:ext>
            </a:extLst>
          </p:cNvPr>
          <p:cNvSpPr/>
          <p:nvPr/>
        </p:nvSpPr>
        <p:spPr>
          <a:xfrm>
            <a:off x="565977" y="721301"/>
            <a:ext cx="11187043" cy="5752938"/>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2E9C7766-164C-4024-3865-B94870520492}"/>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D7F6C49D-7D69-755E-BFBC-53B5CE65B1A8}"/>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7" name="Date Placeholder 6">
            <a:extLst>
              <a:ext uri="{FF2B5EF4-FFF2-40B4-BE49-F238E27FC236}">
                <a16:creationId xmlns:a16="http://schemas.microsoft.com/office/drawing/2014/main" id="{9661DD63-CAE0-F1D6-8189-CAD5812B062C}"/>
              </a:ext>
            </a:extLst>
          </p:cNvPr>
          <p:cNvSpPr>
            <a:spLocks noGrp="1"/>
          </p:cNvSpPr>
          <p:nvPr>
            <p:ph type="dt" sz="half" idx="10"/>
          </p:nvPr>
        </p:nvSpPr>
        <p:spPr/>
        <p:txBody>
          <a:bodyPr/>
          <a:lstStyle/>
          <a:p>
            <a:fld id="{EAE32B99-C71A-45B2-8B74-F62CE79211CD}" type="datetime1">
              <a:rPr lang="en-US" smtClean="0"/>
              <a:t>4/21/2025</a:t>
            </a:fld>
            <a:endParaRPr lang="en-US"/>
          </a:p>
        </p:txBody>
      </p:sp>
      <p:sp>
        <p:nvSpPr>
          <p:cNvPr id="2" name="Slide Number Placeholder 1">
            <a:extLst>
              <a:ext uri="{FF2B5EF4-FFF2-40B4-BE49-F238E27FC236}">
                <a16:creationId xmlns:a16="http://schemas.microsoft.com/office/drawing/2014/main" id="{5E0AE0F5-730D-F36F-D0CE-996E76A6CCE4}"/>
              </a:ext>
            </a:extLst>
          </p:cNvPr>
          <p:cNvSpPr>
            <a:spLocks noGrp="1"/>
          </p:cNvSpPr>
          <p:nvPr>
            <p:ph type="sldNum" sz="quarter" idx="12"/>
          </p:nvPr>
        </p:nvSpPr>
        <p:spPr/>
        <p:txBody>
          <a:bodyPr/>
          <a:lstStyle/>
          <a:p>
            <a:fld id="{48F63A3B-78C7-47BE-AE5E-E10140E04643}" type="slidenum">
              <a:rPr lang="en-US" dirty="0"/>
              <a:t>21</a:t>
            </a:fld>
            <a:endParaRPr lang="en-US" dirty="0"/>
          </a:p>
        </p:txBody>
      </p:sp>
      <p:pic>
        <p:nvPicPr>
          <p:cNvPr id="3" name="Picture 2" descr="A close-up of a logo&#10;&#10;AI-generated content may be incorrect.">
            <a:extLst>
              <a:ext uri="{FF2B5EF4-FFF2-40B4-BE49-F238E27FC236}">
                <a16:creationId xmlns:a16="http://schemas.microsoft.com/office/drawing/2014/main" id="{440659AB-0E21-E1A0-6C36-CCBEDC529B93}"/>
              </a:ext>
            </a:extLst>
          </p:cNvPr>
          <p:cNvPicPr>
            <a:picLocks noChangeAspect="1"/>
          </p:cNvPicPr>
          <p:nvPr/>
        </p:nvPicPr>
        <p:blipFill>
          <a:blip r:embed="rId2"/>
          <a:stretch>
            <a:fillRect/>
          </a:stretch>
        </p:blipFill>
        <p:spPr>
          <a:xfrm>
            <a:off x="1" y="54524"/>
            <a:ext cx="2503714" cy="621059"/>
          </a:xfrm>
          <a:prstGeom prst="rect">
            <a:avLst/>
          </a:prstGeom>
        </p:spPr>
      </p:pic>
      <p:sp>
        <p:nvSpPr>
          <p:cNvPr id="13" name="Title 1">
            <a:extLst>
              <a:ext uri="{FF2B5EF4-FFF2-40B4-BE49-F238E27FC236}">
                <a16:creationId xmlns:a16="http://schemas.microsoft.com/office/drawing/2014/main" id="{D9814155-16E3-8006-71D4-D520483A8161}"/>
              </a:ext>
            </a:extLst>
          </p:cNvPr>
          <p:cNvSpPr>
            <a:spLocks noGrp="1"/>
          </p:cNvSpPr>
          <p:nvPr>
            <p:ph type="title"/>
          </p:nvPr>
        </p:nvSpPr>
        <p:spPr>
          <a:xfrm>
            <a:off x="1866900" y="1210728"/>
            <a:ext cx="8229600" cy="457200"/>
          </a:xfrm>
        </p:spPr>
        <p:txBody>
          <a:bodyPr>
            <a:noAutofit/>
          </a:bodyPr>
          <a:lstStyle/>
          <a:p>
            <a:pPr algn="ctr"/>
            <a:r>
              <a:rPr lang="en-US" sz="2500" b="1" dirty="0">
                <a:latin typeface="Times New Roman" pitchFamily="18" charset="0"/>
                <a:cs typeface="Times New Roman" pitchFamily="18" charset="0"/>
              </a:rPr>
              <a:t>RESULT ANALYSIS</a:t>
            </a:r>
            <a:br>
              <a:rPr lang="en-US" sz="2500" b="1" dirty="0">
                <a:latin typeface="Times New Roman" pitchFamily="18" charset="0"/>
                <a:cs typeface="Times New Roman" pitchFamily="18" charset="0"/>
              </a:rPr>
            </a:br>
            <a:br>
              <a:rPr lang="en-US" sz="2500" b="1" dirty="0">
                <a:latin typeface="Times New Roman" pitchFamily="18" charset="0"/>
                <a:cs typeface="Times New Roman" pitchFamily="18" charset="0"/>
              </a:rPr>
            </a:br>
            <a:endParaRPr lang="en-US" sz="2500" b="1" dirty="0"/>
          </a:p>
        </p:txBody>
      </p:sp>
      <p:sp>
        <p:nvSpPr>
          <p:cNvPr id="14" name="Content Placeholder 2">
            <a:extLst>
              <a:ext uri="{FF2B5EF4-FFF2-40B4-BE49-F238E27FC236}">
                <a16:creationId xmlns:a16="http://schemas.microsoft.com/office/drawing/2014/main" id="{07463B31-81FD-E027-9397-281582A1777C}"/>
              </a:ext>
            </a:extLst>
          </p:cNvPr>
          <p:cNvSpPr txBox="1">
            <a:spLocks/>
          </p:cNvSpPr>
          <p:nvPr/>
        </p:nvSpPr>
        <p:spPr>
          <a:xfrm>
            <a:off x="1559139" y="3261821"/>
            <a:ext cx="9073721" cy="2224024"/>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r>
              <a:rPr lang="en-US" sz="1700" b="1" dirty="0">
                <a:latin typeface="Times New Roman" panose="02020603050405020304" pitchFamily="18" charset="0"/>
                <a:cs typeface="Times New Roman" panose="02020603050405020304" pitchFamily="18" charset="0"/>
              </a:rPr>
              <a:t>Metrics for Mistral</a:t>
            </a:r>
          </a:p>
          <a:p>
            <a:pPr marL="0" indent="0" algn="just">
              <a:buNone/>
            </a:pPr>
            <a:r>
              <a:rPr lang="en-US" sz="1700" b="1" dirty="0">
                <a:latin typeface="Times New Roman" panose="02020603050405020304" pitchFamily="18" charset="0"/>
                <a:cs typeface="Times New Roman" panose="02020603050405020304" pitchFamily="18" charset="0"/>
              </a:rPr>
              <a:t>Explanation :</a:t>
            </a:r>
          </a:p>
          <a:p>
            <a:pPr algn="just">
              <a:buFont typeface="+mj-lt"/>
              <a:buAutoNum type="arabicPeriod"/>
            </a:pPr>
            <a:r>
              <a:rPr lang="en-US" sz="1700" b="1" dirty="0">
                <a:latin typeface="Times New Roman" panose="02020603050405020304" pitchFamily="18" charset="0"/>
                <a:cs typeface="Times New Roman" panose="02020603050405020304" pitchFamily="18" charset="0"/>
              </a:rPr>
              <a:t>Answer Relevancy : </a:t>
            </a:r>
            <a:r>
              <a:rPr lang="en-GB" sz="1700" dirty="0">
                <a:latin typeface="Times New Roman" panose="02020603050405020304" pitchFamily="18" charset="0"/>
                <a:cs typeface="Times New Roman" panose="02020603050405020304" pitchFamily="18" charset="0"/>
              </a:rPr>
              <a:t>The Score is 0.9907 because although the Provided context Gives a Comprehensive list of Healthcare occupations , it doesn’t offer any specific guidance on how to </a:t>
            </a:r>
            <a:r>
              <a:rPr lang="en-GB" sz="1700" dirty="0" err="1">
                <a:latin typeface="Times New Roman" panose="02020603050405020304" pitchFamily="18" charset="0"/>
                <a:cs typeface="Times New Roman" panose="02020603050405020304" pitchFamily="18" charset="0"/>
              </a:rPr>
              <a:t>levarage</a:t>
            </a:r>
            <a:r>
              <a:rPr lang="en-GB" sz="1700" dirty="0">
                <a:latin typeface="Times New Roman" panose="02020603050405020304" pitchFamily="18" charset="0"/>
                <a:cs typeface="Times New Roman" panose="02020603050405020304" pitchFamily="18" charset="0"/>
              </a:rPr>
              <a:t> the user’s skills and interests to deter-mine their ideal career path</a:t>
            </a:r>
          </a:p>
          <a:p>
            <a:pPr algn="just">
              <a:buFont typeface="+mj-lt"/>
              <a:buAutoNum type="arabicPeriod"/>
            </a:pPr>
            <a:r>
              <a:rPr lang="en-GB" sz="1700" b="1" dirty="0">
                <a:latin typeface="Times New Roman" panose="02020603050405020304" pitchFamily="18" charset="0"/>
                <a:cs typeface="Times New Roman" panose="02020603050405020304" pitchFamily="18" charset="0"/>
              </a:rPr>
              <a:t>Faithfulness :</a:t>
            </a:r>
            <a:r>
              <a:rPr lang="en-GB" sz="1700" dirty="0">
                <a:latin typeface="Times New Roman" panose="02020603050405020304" pitchFamily="18" charset="0"/>
                <a:cs typeface="Times New Roman" panose="02020603050405020304" pitchFamily="18" charset="0"/>
              </a:rPr>
              <a:t>The score is 0.9852 because the provided output utilises the retrieval context by reflecting the required skills for the SOC codes listed, specifically patient assessment and HIPAA compliance</a:t>
            </a:r>
          </a:p>
          <a:p>
            <a:pPr algn="just">
              <a:buFont typeface="+mj-lt"/>
              <a:buAutoNum type="arabicPeriod"/>
            </a:pPr>
            <a:r>
              <a:rPr lang="en-GB" sz="1700" b="1" dirty="0">
                <a:latin typeface="Times New Roman" panose="02020603050405020304" pitchFamily="18" charset="0"/>
                <a:cs typeface="Times New Roman" panose="02020603050405020304" pitchFamily="18" charset="0"/>
              </a:rPr>
              <a:t>Hallucination :</a:t>
            </a:r>
            <a:r>
              <a:rPr lang="en-GB" sz="1700" dirty="0">
                <a:latin typeface="Times New Roman" panose="02020603050405020304" pitchFamily="18" charset="0"/>
                <a:cs typeface="Times New Roman" panose="02020603050405020304" pitchFamily="18" charset="0"/>
              </a:rPr>
              <a:t> The score is </a:t>
            </a:r>
            <a:r>
              <a:rPr lang="en-GB" sz="1700" dirty="0">
                <a:latin typeface="Times New Roman"/>
                <a:cs typeface="Times New Roman"/>
              </a:rPr>
              <a:t>0.0476</a:t>
            </a:r>
            <a:r>
              <a:rPr lang="en-GB" sz="1700" dirty="0">
                <a:latin typeface="Times New Roman" panose="02020603050405020304" pitchFamily="18" charset="0"/>
                <a:cs typeface="Times New Roman" panose="02020603050405020304" pitchFamily="18" charset="0"/>
              </a:rPr>
              <a:t> due to factual alignments, and almost no hallucination</a:t>
            </a:r>
            <a:endParaRPr lang="en-US" sz="1700" dirty="0">
              <a:latin typeface="Times New Roman" panose="02020603050405020304" pitchFamily="18" charset="0"/>
              <a:cs typeface="Times New Roman" panose="02020603050405020304" pitchFamily="18" charset="0"/>
            </a:endParaRPr>
          </a:p>
        </p:txBody>
      </p:sp>
      <p:graphicFrame>
        <p:nvGraphicFramePr>
          <p:cNvPr id="15" name="Table 14">
            <a:extLst>
              <a:ext uri="{FF2B5EF4-FFF2-40B4-BE49-F238E27FC236}">
                <a16:creationId xmlns:a16="http://schemas.microsoft.com/office/drawing/2014/main" id="{CB189297-BA3C-7A3C-1A77-BC5E61B2DEBB}"/>
              </a:ext>
            </a:extLst>
          </p:cNvPr>
          <p:cNvGraphicFramePr>
            <a:graphicFrameLocks noGrp="1"/>
          </p:cNvGraphicFramePr>
          <p:nvPr>
            <p:extLst>
              <p:ext uri="{D42A27DB-BD31-4B8C-83A1-F6EECF244321}">
                <p14:modId xmlns:p14="http://schemas.microsoft.com/office/powerpoint/2010/main" val="3074056533"/>
              </p:ext>
            </p:extLst>
          </p:nvPr>
        </p:nvGraphicFramePr>
        <p:xfrm>
          <a:off x="3886200" y="1531225"/>
          <a:ext cx="4191000" cy="1483360"/>
        </p:xfrm>
        <a:graphic>
          <a:graphicData uri="http://schemas.openxmlformats.org/drawingml/2006/table">
            <a:tbl>
              <a:tblPr firstRow="1" bandRow="1">
                <a:tableStyleId>{5C22544A-7EE6-4342-B048-85BDC9FD1C3A}</a:tableStyleId>
              </a:tblPr>
              <a:tblGrid>
                <a:gridCol w="2095500">
                  <a:extLst>
                    <a:ext uri="{9D8B030D-6E8A-4147-A177-3AD203B41FA5}">
                      <a16:colId xmlns:a16="http://schemas.microsoft.com/office/drawing/2014/main" val="1421114364"/>
                    </a:ext>
                  </a:extLst>
                </a:gridCol>
                <a:gridCol w="2095500">
                  <a:extLst>
                    <a:ext uri="{9D8B030D-6E8A-4147-A177-3AD203B41FA5}">
                      <a16:colId xmlns:a16="http://schemas.microsoft.com/office/drawing/2014/main" val="2123581800"/>
                    </a:ext>
                  </a:extLst>
                </a:gridCol>
              </a:tblGrid>
              <a:tr h="370840">
                <a:tc>
                  <a:txBody>
                    <a:bodyPr/>
                    <a:lstStyle/>
                    <a:p>
                      <a:r>
                        <a:rPr lang="en-US" dirty="0">
                          <a:latin typeface="Times New Roman" panose="02020603050405020304" pitchFamily="18" charset="0"/>
                          <a:cs typeface="Times New Roman" panose="02020603050405020304" pitchFamily="18" charset="0"/>
                        </a:rPr>
                        <a:t>Metric</a:t>
                      </a:r>
                    </a:p>
                  </a:txBody>
                  <a:tcPr/>
                </a:tc>
                <a:tc>
                  <a:txBody>
                    <a:bodyPr/>
                    <a:lstStyle/>
                    <a:p>
                      <a:r>
                        <a:rPr lang="en-US" dirty="0">
                          <a:latin typeface="Times New Roman" panose="02020603050405020304" pitchFamily="18" charset="0"/>
                          <a:cs typeface="Times New Roman" panose="02020603050405020304" pitchFamily="18" charset="0"/>
                        </a:rPr>
                        <a:t>Score </a:t>
                      </a:r>
                    </a:p>
                  </a:txBody>
                  <a:tcPr/>
                </a:tc>
                <a:extLst>
                  <a:ext uri="{0D108BD9-81ED-4DB2-BD59-A6C34878D82A}">
                    <a16:rowId xmlns:a16="http://schemas.microsoft.com/office/drawing/2014/main" val="3385429016"/>
                  </a:ext>
                </a:extLst>
              </a:tr>
              <a:tr h="370840">
                <a:tc>
                  <a:txBody>
                    <a:bodyPr/>
                    <a:lstStyle/>
                    <a:p>
                      <a:r>
                        <a:rPr lang="en-US" dirty="0">
                          <a:latin typeface="Times New Roman" panose="02020603050405020304" pitchFamily="18" charset="0"/>
                          <a:cs typeface="Times New Roman" panose="02020603050405020304" pitchFamily="18" charset="0"/>
                        </a:rPr>
                        <a:t>Answer Relevancy</a:t>
                      </a:r>
                    </a:p>
                  </a:txBody>
                  <a:tcPr/>
                </a:tc>
                <a:tc>
                  <a:txBody>
                    <a:bodyPr/>
                    <a:lstStyle/>
                    <a:p>
                      <a:r>
                        <a:rPr lang="en-US" dirty="0">
                          <a:latin typeface="Times New Roman"/>
                          <a:cs typeface="Times New Roman"/>
                        </a:rPr>
                        <a:t>0.9907</a:t>
                      </a:r>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878695791"/>
                  </a:ext>
                </a:extLst>
              </a:tr>
              <a:tr h="370840">
                <a:tc>
                  <a:txBody>
                    <a:bodyPr/>
                    <a:lstStyle/>
                    <a:p>
                      <a:r>
                        <a:rPr lang="en-US" dirty="0">
                          <a:latin typeface="Times New Roman" panose="02020603050405020304" pitchFamily="18" charset="0"/>
                          <a:cs typeface="Times New Roman" panose="02020603050405020304" pitchFamily="18" charset="0"/>
                        </a:rPr>
                        <a:t>Faithfulness</a:t>
                      </a:r>
                    </a:p>
                  </a:txBody>
                  <a:tcPr/>
                </a:tc>
                <a:tc>
                  <a:txBody>
                    <a:bodyPr/>
                    <a:lstStyle/>
                    <a:p>
                      <a:r>
                        <a:rPr lang="en-US" dirty="0">
                          <a:latin typeface="Times New Roman"/>
                          <a:cs typeface="Times New Roman"/>
                        </a:rPr>
                        <a:t>0.9852</a:t>
                      </a:r>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81129934"/>
                  </a:ext>
                </a:extLst>
              </a:tr>
              <a:tr h="370840">
                <a:tc>
                  <a:txBody>
                    <a:bodyPr/>
                    <a:lstStyle/>
                    <a:p>
                      <a:r>
                        <a:rPr lang="en-US" dirty="0">
                          <a:latin typeface="Times New Roman" panose="02020603050405020304" pitchFamily="18" charset="0"/>
                          <a:cs typeface="Times New Roman" panose="02020603050405020304" pitchFamily="18" charset="0"/>
                        </a:rPr>
                        <a:t>Hallucination</a:t>
                      </a:r>
                    </a:p>
                  </a:txBody>
                  <a:tcPr/>
                </a:tc>
                <a:tc>
                  <a:txBody>
                    <a:bodyPr/>
                    <a:lstStyle/>
                    <a:p>
                      <a:r>
                        <a:rPr lang="en-US" dirty="0">
                          <a:latin typeface="Times New Roman"/>
                          <a:cs typeface="Times New Roman"/>
                        </a:rPr>
                        <a:t>0.0476</a:t>
                      </a:r>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199715695"/>
                  </a:ext>
                </a:extLst>
              </a:tr>
            </a:tbl>
          </a:graphicData>
        </a:graphic>
      </p:graphicFrame>
      <p:sp>
        <p:nvSpPr>
          <p:cNvPr id="5" name="TextBox 4">
            <a:extLst>
              <a:ext uri="{FF2B5EF4-FFF2-40B4-BE49-F238E27FC236}">
                <a16:creationId xmlns:a16="http://schemas.microsoft.com/office/drawing/2014/main" id="{307A480F-99D7-3D25-4A44-E01F87965CCD}"/>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240766146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BC4EC2-1E4E-EB35-5F6C-F17A7AB00A56}"/>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A8E92FFF-52C8-2D73-E6BE-5ED09D5A68E0}"/>
              </a:ext>
            </a:extLst>
          </p:cNvPr>
          <p:cNvSpPr/>
          <p:nvPr/>
        </p:nvSpPr>
        <p:spPr>
          <a:xfrm>
            <a:off x="565977" y="721301"/>
            <a:ext cx="11187043" cy="5752938"/>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2A741A8F-0023-7A1B-8775-BD101724DA6D}"/>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15013F5D-8107-A7C9-9C01-1123B281749C}"/>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7" name="Date Placeholder 6">
            <a:extLst>
              <a:ext uri="{FF2B5EF4-FFF2-40B4-BE49-F238E27FC236}">
                <a16:creationId xmlns:a16="http://schemas.microsoft.com/office/drawing/2014/main" id="{3B39A659-B351-F8A7-B568-19735D7A3226}"/>
              </a:ext>
            </a:extLst>
          </p:cNvPr>
          <p:cNvSpPr>
            <a:spLocks noGrp="1"/>
          </p:cNvSpPr>
          <p:nvPr>
            <p:ph type="dt" sz="half" idx="10"/>
          </p:nvPr>
        </p:nvSpPr>
        <p:spPr/>
        <p:txBody>
          <a:bodyPr/>
          <a:lstStyle/>
          <a:p>
            <a:fld id="{EAE32B99-C71A-45B2-8B74-F62CE79211CD}" type="datetime1">
              <a:rPr lang="en-US" smtClean="0"/>
              <a:t>4/21/2025</a:t>
            </a:fld>
            <a:endParaRPr lang="en-US"/>
          </a:p>
        </p:txBody>
      </p:sp>
      <p:sp>
        <p:nvSpPr>
          <p:cNvPr id="2" name="Slide Number Placeholder 1">
            <a:extLst>
              <a:ext uri="{FF2B5EF4-FFF2-40B4-BE49-F238E27FC236}">
                <a16:creationId xmlns:a16="http://schemas.microsoft.com/office/drawing/2014/main" id="{D7C124D3-F49B-0DBE-C94F-2DC6A5BA2151}"/>
              </a:ext>
            </a:extLst>
          </p:cNvPr>
          <p:cNvSpPr>
            <a:spLocks noGrp="1"/>
          </p:cNvSpPr>
          <p:nvPr>
            <p:ph type="sldNum" sz="quarter" idx="12"/>
          </p:nvPr>
        </p:nvSpPr>
        <p:spPr/>
        <p:txBody>
          <a:bodyPr/>
          <a:lstStyle/>
          <a:p>
            <a:fld id="{48F63A3B-78C7-47BE-AE5E-E10140E04643}" type="slidenum">
              <a:rPr lang="en-US" dirty="0"/>
              <a:t>22</a:t>
            </a:fld>
            <a:endParaRPr lang="en-US" dirty="0"/>
          </a:p>
        </p:txBody>
      </p:sp>
      <p:pic>
        <p:nvPicPr>
          <p:cNvPr id="3" name="Picture 2" descr="A close-up of a logo&#10;&#10;AI-generated content may be incorrect.">
            <a:extLst>
              <a:ext uri="{FF2B5EF4-FFF2-40B4-BE49-F238E27FC236}">
                <a16:creationId xmlns:a16="http://schemas.microsoft.com/office/drawing/2014/main" id="{8D2ECF7F-D6AA-EF69-3BF7-7E1FEDB0213A}"/>
              </a:ext>
            </a:extLst>
          </p:cNvPr>
          <p:cNvPicPr>
            <a:picLocks noChangeAspect="1"/>
          </p:cNvPicPr>
          <p:nvPr/>
        </p:nvPicPr>
        <p:blipFill>
          <a:blip r:embed="rId2"/>
          <a:stretch>
            <a:fillRect/>
          </a:stretch>
        </p:blipFill>
        <p:spPr>
          <a:xfrm>
            <a:off x="1" y="54524"/>
            <a:ext cx="2503714" cy="621059"/>
          </a:xfrm>
          <a:prstGeom prst="rect">
            <a:avLst/>
          </a:prstGeom>
        </p:spPr>
      </p:pic>
      <p:sp>
        <p:nvSpPr>
          <p:cNvPr id="13" name="Title 1">
            <a:extLst>
              <a:ext uri="{FF2B5EF4-FFF2-40B4-BE49-F238E27FC236}">
                <a16:creationId xmlns:a16="http://schemas.microsoft.com/office/drawing/2014/main" id="{81C3AED4-BB89-BD5D-1D33-31666FA17522}"/>
              </a:ext>
            </a:extLst>
          </p:cNvPr>
          <p:cNvSpPr>
            <a:spLocks noGrp="1"/>
          </p:cNvSpPr>
          <p:nvPr>
            <p:ph type="title"/>
          </p:nvPr>
        </p:nvSpPr>
        <p:spPr>
          <a:xfrm>
            <a:off x="1866900" y="1210728"/>
            <a:ext cx="8229600" cy="457200"/>
          </a:xfrm>
        </p:spPr>
        <p:txBody>
          <a:bodyPr>
            <a:noAutofit/>
          </a:bodyPr>
          <a:lstStyle/>
          <a:p>
            <a:pPr algn="ctr"/>
            <a:r>
              <a:rPr lang="en-US" sz="2500" b="1" dirty="0">
                <a:latin typeface="Times New Roman" pitchFamily="18" charset="0"/>
                <a:cs typeface="Times New Roman" pitchFamily="18" charset="0"/>
              </a:rPr>
              <a:t>RESULT ANALYSIS</a:t>
            </a:r>
            <a:br>
              <a:rPr lang="en-US" sz="2500" b="1" dirty="0">
                <a:latin typeface="Times New Roman" pitchFamily="18" charset="0"/>
                <a:cs typeface="Times New Roman" pitchFamily="18" charset="0"/>
              </a:rPr>
            </a:br>
            <a:br>
              <a:rPr lang="en-US" sz="2500" b="1" dirty="0">
                <a:latin typeface="Times New Roman" pitchFamily="18" charset="0"/>
                <a:cs typeface="Times New Roman" pitchFamily="18" charset="0"/>
              </a:rPr>
            </a:br>
            <a:endParaRPr lang="en-US" sz="2500" b="1" dirty="0"/>
          </a:p>
        </p:txBody>
      </p:sp>
      <p:graphicFrame>
        <p:nvGraphicFramePr>
          <p:cNvPr id="5" name="Table 4">
            <a:extLst>
              <a:ext uri="{FF2B5EF4-FFF2-40B4-BE49-F238E27FC236}">
                <a16:creationId xmlns:a16="http://schemas.microsoft.com/office/drawing/2014/main" id="{1AF2154E-3E93-96AE-9A54-81F6BC0FFD4E}"/>
              </a:ext>
            </a:extLst>
          </p:cNvPr>
          <p:cNvGraphicFramePr>
            <a:graphicFrameLocks noGrp="1"/>
          </p:cNvGraphicFramePr>
          <p:nvPr>
            <p:extLst>
              <p:ext uri="{D42A27DB-BD31-4B8C-83A1-F6EECF244321}">
                <p14:modId xmlns:p14="http://schemas.microsoft.com/office/powerpoint/2010/main" val="437459718"/>
              </p:ext>
            </p:extLst>
          </p:nvPr>
        </p:nvGraphicFramePr>
        <p:xfrm>
          <a:off x="4000499" y="1652762"/>
          <a:ext cx="4191000" cy="1483360"/>
        </p:xfrm>
        <a:graphic>
          <a:graphicData uri="http://schemas.openxmlformats.org/drawingml/2006/table">
            <a:tbl>
              <a:tblPr firstRow="1" bandRow="1">
                <a:tableStyleId>{5C22544A-7EE6-4342-B048-85BDC9FD1C3A}</a:tableStyleId>
              </a:tblPr>
              <a:tblGrid>
                <a:gridCol w="2095500">
                  <a:extLst>
                    <a:ext uri="{9D8B030D-6E8A-4147-A177-3AD203B41FA5}">
                      <a16:colId xmlns:a16="http://schemas.microsoft.com/office/drawing/2014/main" val="1421114364"/>
                    </a:ext>
                  </a:extLst>
                </a:gridCol>
                <a:gridCol w="2095500">
                  <a:extLst>
                    <a:ext uri="{9D8B030D-6E8A-4147-A177-3AD203B41FA5}">
                      <a16:colId xmlns:a16="http://schemas.microsoft.com/office/drawing/2014/main" val="2123581800"/>
                    </a:ext>
                  </a:extLst>
                </a:gridCol>
              </a:tblGrid>
              <a:tr h="370840">
                <a:tc>
                  <a:txBody>
                    <a:bodyPr/>
                    <a:lstStyle/>
                    <a:p>
                      <a:r>
                        <a:rPr lang="en-US" dirty="0">
                          <a:latin typeface="Times New Roman" panose="02020603050405020304" pitchFamily="18" charset="0"/>
                          <a:cs typeface="Times New Roman" panose="02020603050405020304" pitchFamily="18" charset="0"/>
                        </a:rPr>
                        <a:t>Metric</a:t>
                      </a:r>
                    </a:p>
                  </a:txBody>
                  <a:tcPr/>
                </a:tc>
                <a:tc>
                  <a:txBody>
                    <a:bodyPr/>
                    <a:lstStyle/>
                    <a:p>
                      <a:r>
                        <a:rPr lang="en-US" dirty="0">
                          <a:latin typeface="Times New Roman" panose="02020603050405020304" pitchFamily="18" charset="0"/>
                          <a:cs typeface="Times New Roman" panose="02020603050405020304" pitchFamily="18" charset="0"/>
                        </a:rPr>
                        <a:t>Score </a:t>
                      </a:r>
                    </a:p>
                  </a:txBody>
                  <a:tcPr/>
                </a:tc>
                <a:extLst>
                  <a:ext uri="{0D108BD9-81ED-4DB2-BD59-A6C34878D82A}">
                    <a16:rowId xmlns:a16="http://schemas.microsoft.com/office/drawing/2014/main" val="3385429016"/>
                  </a:ext>
                </a:extLst>
              </a:tr>
              <a:tr h="370840">
                <a:tc>
                  <a:txBody>
                    <a:bodyPr/>
                    <a:lstStyle/>
                    <a:p>
                      <a:r>
                        <a:rPr lang="en-US" dirty="0">
                          <a:latin typeface="Times New Roman" panose="02020603050405020304" pitchFamily="18" charset="0"/>
                          <a:cs typeface="Times New Roman" panose="02020603050405020304" pitchFamily="18" charset="0"/>
                        </a:rPr>
                        <a:t>Answer Relevancy</a:t>
                      </a:r>
                    </a:p>
                  </a:txBody>
                  <a:tcPr/>
                </a:tc>
                <a:tc>
                  <a:txBody>
                    <a:bodyPr/>
                    <a:lstStyle/>
                    <a:p>
                      <a:r>
                        <a:rPr lang="en-US" dirty="0">
                          <a:latin typeface="Times New Roman"/>
                          <a:cs typeface="Times New Roman"/>
                        </a:rPr>
                        <a:t>0.9881</a:t>
                      </a:r>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878695791"/>
                  </a:ext>
                </a:extLst>
              </a:tr>
              <a:tr h="370840">
                <a:tc>
                  <a:txBody>
                    <a:bodyPr/>
                    <a:lstStyle/>
                    <a:p>
                      <a:r>
                        <a:rPr lang="en-US" dirty="0">
                          <a:latin typeface="Times New Roman" panose="02020603050405020304" pitchFamily="18" charset="0"/>
                          <a:cs typeface="Times New Roman" panose="02020603050405020304" pitchFamily="18" charset="0"/>
                        </a:rPr>
                        <a:t>Faithfulness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u="none" strike="noStrike" noProof="0" dirty="0">
                          <a:solidFill>
                            <a:srgbClr val="000000"/>
                          </a:solidFill>
                          <a:latin typeface="Times New Roman"/>
                        </a:rPr>
                        <a:t>0.9701</a:t>
                      </a:r>
                    </a:p>
                  </a:txBody>
                  <a:tcPr/>
                </a:tc>
                <a:extLst>
                  <a:ext uri="{0D108BD9-81ED-4DB2-BD59-A6C34878D82A}">
                    <a16:rowId xmlns:a16="http://schemas.microsoft.com/office/drawing/2014/main" val="1981129934"/>
                  </a:ext>
                </a:extLst>
              </a:tr>
              <a:tr h="370840">
                <a:tc>
                  <a:txBody>
                    <a:bodyPr/>
                    <a:lstStyle/>
                    <a:p>
                      <a:r>
                        <a:rPr lang="en-US" dirty="0">
                          <a:latin typeface="Times New Roman" panose="02020603050405020304" pitchFamily="18" charset="0"/>
                          <a:cs typeface="Times New Roman" panose="02020603050405020304" pitchFamily="18" charset="0"/>
                        </a:rPr>
                        <a:t>Hallucination</a:t>
                      </a:r>
                    </a:p>
                  </a:txBody>
                  <a:tcPr/>
                </a:tc>
                <a:tc>
                  <a:txBody>
                    <a:bodyPr/>
                    <a:lstStyle/>
                    <a:p>
                      <a:r>
                        <a:rPr lang="en-US" dirty="0">
                          <a:latin typeface="Times New Roman"/>
                          <a:cs typeface="Times New Roman"/>
                        </a:rPr>
                        <a:t>0.02</a:t>
                      </a:r>
                      <a:endParaRPr lang="en-US"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199715695"/>
                  </a:ext>
                </a:extLst>
              </a:tr>
            </a:tbl>
          </a:graphicData>
        </a:graphic>
      </p:graphicFrame>
      <p:sp>
        <p:nvSpPr>
          <p:cNvPr id="6" name="Content Placeholder 2">
            <a:extLst>
              <a:ext uri="{FF2B5EF4-FFF2-40B4-BE49-F238E27FC236}">
                <a16:creationId xmlns:a16="http://schemas.microsoft.com/office/drawing/2014/main" id="{5769410B-ACC9-5273-2153-C31B89D5EF51}"/>
              </a:ext>
            </a:extLst>
          </p:cNvPr>
          <p:cNvSpPr txBox="1">
            <a:spLocks/>
          </p:cNvSpPr>
          <p:nvPr/>
        </p:nvSpPr>
        <p:spPr>
          <a:xfrm>
            <a:off x="1617197" y="3383358"/>
            <a:ext cx="8957605" cy="2224024"/>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r>
              <a:rPr lang="en-US" sz="1700" b="1" dirty="0">
                <a:latin typeface="Times New Roman" panose="02020603050405020304" pitchFamily="18" charset="0"/>
                <a:cs typeface="Times New Roman" panose="02020603050405020304" pitchFamily="18" charset="0"/>
              </a:rPr>
              <a:t>Metrics for Gemma 2 9B</a:t>
            </a:r>
          </a:p>
          <a:p>
            <a:pPr marL="0" indent="0" algn="just">
              <a:buNone/>
            </a:pPr>
            <a:r>
              <a:rPr lang="en-US" sz="1700" b="1" dirty="0">
                <a:latin typeface="Times New Roman" panose="02020603050405020304" pitchFamily="18" charset="0"/>
                <a:cs typeface="Times New Roman" panose="02020603050405020304" pitchFamily="18" charset="0"/>
              </a:rPr>
              <a:t>Explanation :</a:t>
            </a:r>
          </a:p>
          <a:p>
            <a:pPr algn="just">
              <a:buFont typeface="+mj-lt"/>
              <a:buAutoNum type="arabicPeriod"/>
            </a:pPr>
            <a:r>
              <a:rPr lang="en-US" sz="1700" b="1" dirty="0">
                <a:latin typeface="Times New Roman" panose="02020603050405020304" pitchFamily="18" charset="0"/>
                <a:cs typeface="Times New Roman" panose="02020603050405020304" pitchFamily="18" charset="0"/>
              </a:rPr>
              <a:t>Answer Relevancy : </a:t>
            </a:r>
            <a:r>
              <a:rPr lang="en-GB" sz="1700" dirty="0">
                <a:latin typeface="Times New Roman" panose="02020603050405020304" pitchFamily="18" charset="0"/>
                <a:cs typeface="Times New Roman" panose="02020603050405020304" pitchFamily="18" charset="0"/>
              </a:rPr>
              <a:t>The Score is 0.9881 because the user profile does not specify any aca-demic or Vocational qualifications and does not have any specific career goals . Therefore, it’s challenging to provide a personalized career path. However , based on the skills men-</a:t>
            </a:r>
            <a:r>
              <a:rPr lang="en-GB" sz="1700" dirty="0" err="1">
                <a:latin typeface="Times New Roman" panose="02020603050405020304" pitchFamily="18" charset="0"/>
                <a:cs typeface="Times New Roman" panose="02020603050405020304" pitchFamily="18" charset="0"/>
              </a:rPr>
              <a:t>tioned</a:t>
            </a:r>
            <a:r>
              <a:rPr lang="en-GB" sz="1700" dirty="0">
                <a:latin typeface="Times New Roman" panose="02020603050405020304" pitchFamily="18" charset="0"/>
                <a:cs typeface="Times New Roman" panose="02020603050405020304" pitchFamily="18" charset="0"/>
              </a:rPr>
              <a:t>, the AI career advisor can offer suggestions for exploration and development , such as suggesting relevant courses , certifications or net-working opportunities within the </a:t>
            </a:r>
            <a:r>
              <a:rPr lang="en-GB" sz="1700" dirty="0" err="1">
                <a:latin typeface="Times New Roman" panose="02020603050405020304" pitchFamily="18" charset="0"/>
                <a:cs typeface="Times New Roman" panose="02020603050405020304" pitchFamily="18" charset="0"/>
              </a:rPr>
              <a:t>the</a:t>
            </a:r>
            <a:r>
              <a:rPr lang="en-GB" sz="1700" dirty="0">
                <a:latin typeface="Times New Roman" panose="02020603050405020304" pitchFamily="18" charset="0"/>
                <a:cs typeface="Times New Roman" panose="02020603050405020304" pitchFamily="18" charset="0"/>
              </a:rPr>
              <a:t> healthcare field</a:t>
            </a:r>
          </a:p>
          <a:p>
            <a:pPr algn="just">
              <a:buFont typeface="+mj-lt"/>
              <a:buAutoNum type="arabicPeriod"/>
            </a:pPr>
            <a:r>
              <a:rPr lang="en-GB" sz="1700" b="1" dirty="0">
                <a:latin typeface="Times New Roman" panose="02020603050405020304" pitchFamily="18" charset="0"/>
                <a:cs typeface="Times New Roman" panose="02020603050405020304" pitchFamily="18" charset="0"/>
              </a:rPr>
              <a:t>Faithfulness :</a:t>
            </a:r>
            <a:r>
              <a:rPr lang="en-GB" sz="1700" dirty="0">
                <a:latin typeface="Times New Roman" panose="02020603050405020304" pitchFamily="18" charset="0"/>
                <a:cs typeface="Times New Roman" panose="02020603050405020304" pitchFamily="18" charset="0"/>
              </a:rPr>
              <a:t>The faithfulness score is 0.9701 because there are no contradictions .</a:t>
            </a:r>
          </a:p>
          <a:p>
            <a:pPr algn="just">
              <a:buFont typeface="+mj-lt"/>
              <a:buAutoNum type="arabicPeriod"/>
            </a:pPr>
            <a:r>
              <a:rPr lang="en-GB" sz="1700" b="1" dirty="0">
                <a:latin typeface="Times New Roman" panose="02020603050405020304" pitchFamily="18" charset="0"/>
                <a:cs typeface="Times New Roman" panose="02020603050405020304" pitchFamily="18" charset="0"/>
              </a:rPr>
              <a:t>Hallucination :</a:t>
            </a:r>
            <a:r>
              <a:rPr lang="en-GB" sz="1700" dirty="0">
                <a:latin typeface="Times New Roman" panose="02020603050405020304" pitchFamily="18" charset="0"/>
                <a:cs typeface="Times New Roman" panose="02020603050405020304" pitchFamily="18" charset="0"/>
              </a:rPr>
              <a:t> The score is 0.02 because no hallucination information was found </a:t>
            </a:r>
            <a:endParaRPr lang="en-US" sz="1700" dirty="0">
              <a:latin typeface="Times New Roman" panose="02020603050405020304" pitchFamily="18" charset="0"/>
              <a:cs typeface="Times New Roman" panose="02020603050405020304" pitchFamily="18" charset="0"/>
            </a:endParaRPr>
          </a:p>
        </p:txBody>
      </p:sp>
      <p:sp>
        <p:nvSpPr>
          <p:cNvPr id="9" name="TextBox 8">
            <a:extLst>
              <a:ext uri="{FF2B5EF4-FFF2-40B4-BE49-F238E27FC236}">
                <a16:creationId xmlns:a16="http://schemas.microsoft.com/office/drawing/2014/main" id="{96497C3A-EDBE-D1E2-1FDC-668818E084F8}"/>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41438033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E2086-25F8-C0FC-F6F3-274D7AB8BEBA}"/>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B5E1B4CE-8A25-4851-EBFC-E8F2F3819F92}"/>
              </a:ext>
            </a:extLst>
          </p:cNvPr>
          <p:cNvSpPr/>
          <p:nvPr/>
        </p:nvSpPr>
        <p:spPr>
          <a:xfrm>
            <a:off x="565977" y="721301"/>
            <a:ext cx="11187043" cy="5752938"/>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44F86F82-2B7D-571D-16C2-8A1E8B6EBF5D}"/>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72CAF973-1B27-3397-F5F9-BAAFDB1297B8}"/>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7" name="Date Placeholder 6">
            <a:extLst>
              <a:ext uri="{FF2B5EF4-FFF2-40B4-BE49-F238E27FC236}">
                <a16:creationId xmlns:a16="http://schemas.microsoft.com/office/drawing/2014/main" id="{99FB41FC-9725-B567-B543-0D1C847EB15A}"/>
              </a:ext>
            </a:extLst>
          </p:cNvPr>
          <p:cNvSpPr>
            <a:spLocks noGrp="1"/>
          </p:cNvSpPr>
          <p:nvPr>
            <p:ph type="dt" sz="half" idx="10"/>
          </p:nvPr>
        </p:nvSpPr>
        <p:spPr/>
        <p:txBody>
          <a:bodyPr/>
          <a:lstStyle/>
          <a:p>
            <a:fld id="{EAE32B99-C71A-45B2-8B74-F62CE79211CD}" type="datetime1">
              <a:rPr lang="en-US" smtClean="0"/>
              <a:t>4/21/2025</a:t>
            </a:fld>
            <a:endParaRPr lang="en-US"/>
          </a:p>
        </p:txBody>
      </p:sp>
      <p:sp>
        <p:nvSpPr>
          <p:cNvPr id="2" name="Slide Number Placeholder 1">
            <a:extLst>
              <a:ext uri="{FF2B5EF4-FFF2-40B4-BE49-F238E27FC236}">
                <a16:creationId xmlns:a16="http://schemas.microsoft.com/office/drawing/2014/main" id="{F7AB6DD2-7E3A-20DA-45A7-FA48AEE7258A}"/>
              </a:ext>
            </a:extLst>
          </p:cNvPr>
          <p:cNvSpPr>
            <a:spLocks noGrp="1"/>
          </p:cNvSpPr>
          <p:nvPr>
            <p:ph type="sldNum" sz="quarter" idx="12"/>
          </p:nvPr>
        </p:nvSpPr>
        <p:spPr/>
        <p:txBody>
          <a:bodyPr/>
          <a:lstStyle/>
          <a:p>
            <a:fld id="{48F63A3B-78C7-47BE-AE5E-E10140E04643}" type="slidenum">
              <a:rPr lang="en-US" dirty="0"/>
              <a:t>23</a:t>
            </a:fld>
            <a:endParaRPr lang="en-US" dirty="0"/>
          </a:p>
        </p:txBody>
      </p:sp>
      <p:pic>
        <p:nvPicPr>
          <p:cNvPr id="3" name="Picture 2" descr="A close-up of a logo&#10;&#10;AI-generated content may be incorrect.">
            <a:extLst>
              <a:ext uri="{FF2B5EF4-FFF2-40B4-BE49-F238E27FC236}">
                <a16:creationId xmlns:a16="http://schemas.microsoft.com/office/drawing/2014/main" id="{D1A1F9BC-55D5-E95B-6322-69CE0C7B40FD}"/>
              </a:ext>
            </a:extLst>
          </p:cNvPr>
          <p:cNvPicPr>
            <a:picLocks noChangeAspect="1"/>
          </p:cNvPicPr>
          <p:nvPr/>
        </p:nvPicPr>
        <p:blipFill>
          <a:blip r:embed="rId2"/>
          <a:stretch>
            <a:fillRect/>
          </a:stretch>
        </p:blipFill>
        <p:spPr>
          <a:xfrm>
            <a:off x="1" y="54524"/>
            <a:ext cx="2503714" cy="621059"/>
          </a:xfrm>
          <a:prstGeom prst="rect">
            <a:avLst/>
          </a:prstGeom>
        </p:spPr>
      </p:pic>
      <p:sp>
        <p:nvSpPr>
          <p:cNvPr id="13" name="Title 1">
            <a:extLst>
              <a:ext uri="{FF2B5EF4-FFF2-40B4-BE49-F238E27FC236}">
                <a16:creationId xmlns:a16="http://schemas.microsoft.com/office/drawing/2014/main" id="{45AC4ACB-9A40-74C9-9D45-59D45A9DB260}"/>
              </a:ext>
            </a:extLst>
          </p:cNvPr>
          <p:cNvSpPr>
            <a:spLocks noGrp="1"/>
          </p:cNvSpPr>
          <p:nvPr>
            <p:ph type="title"/>
          </p:nvPr>
        </p:nvSpPr>
        <p:spPr>
          <a:xfrm>
            <a:off x="1866900" y="1210728"/>
            <a:ext cx="8229600" cy="457200"/>
          </a:xfrm>
        </p:spPr>
        <p:txBody>
          <a:bodyPr>
            <a:noAutofit/>
          </a:bodyPr>
          <a:lstStyle/>
          <a:p>
            <a:pPr algn="ctr"/>
            <a:r>
              <a:rPr lang="en-US" sz="2500" b="1" dirty="0">
                <a:latin typeface="Times New Roman" pitchFamily="18" charset="0"/>
                <a:cs typeface="Times New Roman" pitchFamily="18" charset="0"/>
              </a:rPr>
              <a:t>RESULT ANALYSIS</a:t>
            </a:r>
            <a:br>
              <a:rPr lang="en-US" sz="2500" b="1" dirty="0">
                <a:latin typeface="Times New Roman" pitchFamily="18" charset="0"/>
                <a:cs typeface="Times New Roman" pitchFamily="18" charset="0"/>
              </a:rPr>
            </a:br>
            <a:br>
              <a:rPr lang="en-US" sz="2500" b="1" dirty="0">
                <a:latin typeface="Times New Roman" pitchFamily="18" charset="0"/>
                <a:cs typeface="Times New Roman" pitchFamily="18" charset="0"/>
              </a:rPr>
            </a:br>
            <a:endParaRPr lang="en-US" sz="2500" b="1" dirty="0"/>
          </a:p>
        </p:txBody>
      </p:sp>
      <p:graphicFrame>
        <p:nvGraphicFramePr>
          <p:cNvPr id="9" name="Table 8">
            <a:extLst>
              <a:ext uri="{FF2B5EF4-FFF2-40B4-BE49-F238E27FC236}">
                <a16:creationId xmlns:a16="http://schemas.microsoft.com/office/drawing/2014/main" id="{692ACCD0-1477-F504-465D-11094DDAE7A3}"/>
              </a:ext>
            </a:extLst>
          </p:cNvPr>
          <p:cNvGraphicFramePr>
            <a:graphicFrameLocks noGrp="1"/>
          </p:cNvGraphicFramePr>
          <p:nvPr>
            <p:extLst>
              <p:ext uri="{D42A27DB-BD31-4B8C-83A1-F6EECF244321}">
                <p14:modId xmlns:p14="http://schemas.microsoft.com/office/powerpoint/2010/main" val="1890856855"/>
              </p:ext>
            </p:extLst>
          </p:nvPr>
        </p:nvGraphicFramePr>
        <p:xfrm>
          <a:off x="2895600" y="1439328"/>
          <a:ext cx="6172200" cy="2103120"/>
        </p:xfrm>
        <a:graphic>
          <a:graphicData uri="http://schemas.openxmlformats.org/drawingml/2006/table">
            <a:tbl>
              <a:tblPr firstRow="1" bandRow="1">
                <a:tableStyleId>{5C22544A-7EE6-4342-B048-85BDC9FD1C3A}</a:tableStyleId>
              </a:tblPr>
              <a:tblGrid>
                <a:gridCol w="1543050">
                  <a:extLst>
                    <a:ext uri="{9D8B030D-6E8A-4147-A177-3AD203B41FA5}">
                      <a16:colId xmlns:a16="http://schemas.microsoft.com/office/drawing/2014/main" val="653553148"/>
                    </a:ext>
                  </a:extLst>
                </a:gridCol>
                <a:gridCol w="1543050">
                  <a:extLst>
                    <a:ext uri="{9D8B030D-6E8A-4147-A177-3AD203B41FA5}">
                      <a16:colId xmlns:a16="http://schemas.microsoft.com/office/drawing/2014/main" val="1421114364"/>
                    </a:ext>
                  </a:extLst>
                </a:gridCol>
                <a:gridCol w="1543050">
                  <a:extLst>
                    <a:ext uri="{9D8B030D-6E8A-4147-A177-3AD203B41FA5}">
                      <a16:colId xmlns:a16="http://schemas.microsoft.com/office/drawing/2014/main" val="2123581800"/>
                    </a:ext>
                  </a:extLst>
                </a:gridCol>
                <a:gridCol w="1543050">
                  <a:extLst>
                    <a:ext uri="{9D8B030D-6E8A-4147-A177-3AD203B41FA5}">
                      <a16:colId xmlns:a16="http://schemas.microsoft.com/office/drawing/2014/main" val="1882977259"/>
                    </a:ext>
                  </a:extLst>
                </a:gridCol>
              </a:tblGrid>
              <a:tr h="61558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imes New Roman" panose="02020603050405020304" pitchFamily="18" charset="0"/>
                          <a:cs typeface="Times New Roman" panose="02020603050405020304" pitchFamily="18" charset="0"/>
                        </a:rPr>
                        <a:t>Metric</a:t>
                      </a:r>
                    </a:p>
                    <a:p>
                      <a:endParaRPr lang="en-US" dirty="0">
                        <a:latin typeface="Times New Roman" panose="02020603050405020304" pitchFamily="18" charset="0"/>
                        <a:cs typeface="Times New Roman" panose="02020603050405020304" pitchFamily="18" charset="0"/>
                      </a:endParaRPr>
                    </a:p>
                  </a:txBody>
                  <a:tcPr/>
                </a:tc>
                <a:tc>
                  <a:txBody>
                    <a:bodyPr/>
                    <a:lstStyle/>
                    <a:p>
                      <a:r>
                        <a:rPr lang="en-US" dirty="0">
                          <a:latin typeface="Times New Roman" panose="02020603050405020304" pitchFamily="18" charset="0"/>
                          <a:cs typeface="Times New Roman" panose="02020603050405020304" pitchFamily="18" charset="0"/>
                        </a:rPr>
                        <a:t>Gemma 2 2B</a:t>
                      </a:r>
                    </a:p>
                  </a:txBody>
                  <a:tcPr/>
                </a:tc>
                <a:tc>
                  <a:txBody>
                    <a:bodyPr/>
                    <a:lstStyle/>
                    <a:p>
                      <a:r>
                        <a:rPr lang="en-US" dirty="0">
                          <a:latin typeface="Times New Roman" panose="02020603050405020304" pitchFamily="18" charset="0"/>
                          <a:cs typeface="Times New Roman" panose="02020603050405020304" pitchFamily="18" charset="0"/>
                        </a:rPr>
                        <a:t>Gemma 2 9B</a:t>
                      </a:r>
                    </a:p>
                  </a:txBody>
                  <a:tcPr/>
                </a:tc>
                <a:tc>
                  <a:txBody>
                    <a:bodyPr/>
                    <a:lstStyle/>
                    <a:p>
                      <a:r>
                        <a:rPr lang="en-US" dirty="0">
                          <a:latin typeface="Times New Roman" panose="02020603050405020304" pitchFamily="18" charset="0"/>
                          <a:cs typeface="Times New Roman" panose="02020603050405020304" pitchFamily="18" charset="0"/>
                        </a:rPr>
                        <a:t>Mistral</a:t>
                      </a:r>
                    </a:p>
                  </a:txBody>
                  <a:tcPr/>
                </a:tc>
                <a:extLst>
                  <a:ext uri="{0D108BD9-81ED-4DB2-BD59-A6C34878D82A}">
                    <a16:rowId xmlns:a16="http://schemas.microsoft.com/office/drawing/2014/main" val="3385429016"/>
                  </a:ext>
                </a:extLst>
              </a:tr>
              <a:tr h="351762">
                <a:tc>
                  <a:txBody>
                    <a:bodyPr/>
                    <a:lstStyle/>
                    <a:p>
                      <a:r>
                        <a:rPr lang="en-US" dirty="0">
                          <a:latin typeface="Times New Roman" panose="02020603050405020304" pitchFamily="18" charset="0"/>
                          <a:cs typeface="Times New Roman" panose="02020603050405020304" pitchFamily="18" charset="0"/>
                        </a:rPr>
                        <a:t>BLEU</a:t>
                      </a:r>
                    </a:p>
                  </a:txBody>
                  <a:tcPr/>
                </a:tc>
                <a:tc>
                  <a:txBody>
                    <a:bodyPr/>
                    <a:lstStyle/>
                    <a:p>
                      <a:r>
                        <a:rPr lang="en-US" dirty="0">
                          <a:latin typeface="Times New Roman" panose="02020603050405020304" pitchFamily="18" charset="0"/>
                          <a:cs typeface="Times New Roman" panose="02020603050405020304" pitchFamily="18" charset="0"/>
                        </a:rPr>
                        <a:t>0.07</a:t>
                      </a:r>
                    </a:p>
                  </a:txBody>
                  <a:tcPr/>
                </a:tc>
                <a:tc>
                  <a:txBody>
                    <a:bodyPr/>
                    <a:lstStyle/>
                    <a:p>
                      <a:r>
                        <a:rPr lang="en-US" dirty="0">
                          <a:latin typeface="Times New Roman" panose="02020603050405020304" pitchFamily="18" charset="0"/>
                          <a:cs typeface="Times New Roman" panose="02020603050405020304" pitchFamily="18" charset="0"/>
                        </a:rPr>
                        <a:t>0.08</a:t>
                      </a:r>
                    </a:p>
                  </a:txBody>
                  <a:tcPr/>
                </a:tc>
                <a:tc>
                  <a:txBody>
                    <a:bodyPr/>
                    <a:lstStyle/>
                    <a:p>
                      <a:r>
                        <a:rPr lang="en-US" dirty="0">
                          <a:latin typeface="Times New Roman" panose="02020603050405020304" pitchFamily="18" charset="0"/>
                          <a:cs typeface="Times New Roman" panose="02020603050405020304" pitchFamily="18" charset="0"/>
                        </a:rPr>
                        <a:t>0.17</a:t>
                      </a:r>
                    </a:p>
                  </a:txBody>
                  <a:tcPr/>
                </a:tc>
                <a:extLst>
                  <a:ext uri="{0D108BD9-81ED-4DB2-BD59-A6C34878D82A}">
                    <a16:rowId xmlns:a16="http://schemas.microsoft.com/office/drawing/2014/main" val="878695791"/>
                  </a:ext>
                </a:extLst>
              </a:tr>
              <a:tr h="351762">
                <a:tc>
                  <a:txBody>
                    <a:bodyPr/>
                    <a:lstStyle/>
                    <a:p>
                      <a:r>
                        <a:rPr lang="en-US" dirty="0">
                          <a:latin typeface="Times New Roman" panose="02020603050405020304" pitchFamily="18" charset="0"/>
                          <a:cs typeface="Times New Roman" panose="02020603050405020304" pitchFamily="18" charset="0"/>
                        </a:rPr>
                        <a:t>ROUGE</a:t>
                      </a:r>
                    </a:p>
                  </a:txBody>
                  <a:tcPr/>
                </a:tc>
                <a:tc>
                  <a:txBody>
                    <a:bodyPr/>
                    <a:lstStyle/>
                    <a:p>
                      <a:r>
                        <a:rPr lang="en-US" dirty="0">
                          <a:latin typeface="Times New Roman" panose="02020603050405020304" pitchFamily="18" charset="0"/>
                          <a:cs typeface="Times New Roman" panose="02020603050405020304" pitchFamily="18" charset="0"/>
                        </a:rPr>
                        <a:t>0.21</a:t>
                      </a:r>
                    </a:p>
                  </a:txBody>
                  <a:tcPr/>
                </a:tc>
                <a:tc>
                  <a:txBody>
                    <a:bodyPr/>
                    <a:lstStyle/>
                    <a:p>
                      <a:r>
                        <a:rPr lang="en-US" dirty="0">
                          <a:latin typeface="Times New Roman" panose="02020603050405020304" pitchFamily="18" charset="0"/>
                          <a:cs typeface="Times New Roman" panose="02020603050405020304" pitchFamily="18" charset="0"/>
                        </a:rPr>
                        <a:t>0.24</a:t>
                      </a:r>
                    </a:p>
                  </a:txBody>
                  <a:tcPr/>
                </a:tc>
                <a:tc>
                  <a:txBody>
                    <a:bodyPr/>
                    <a:lstStyle/>
                    <a:p>
                      <a:r>
                        <a:rPr lang="en-US" dirty="0">
                          <a:latin typeface="Times New Roman" panose="02020603050405020304" pitchFamily="18" charset="0"/>
                          <a:cs typeface="Times New Roman" panose="02020603050405020304" pitchFamily="18" charset="0"/>
                        </a:rPr>
                        <a:t>0.25</a:t>
                      </a:r>
                    </a:p>
                  </a:txBody>
                  <a:tcPr/>
                </a:tc>
                <a:extLst>
                  <a:ext uri="{0D108BD9-81ED-4DB2-BD59-A6C34878D82A}">
                    <a16:rowId xmlns:a16="http://schemas.microsoft.com/office/drawing/2014/main" val="1981129934"/>
                  </a:ext>
                </a:extLst>
              </a:tr>
              <a:tr h="351762">
                <a:tc>
                  <a:txBody>
                    <a:bodyPr/>
                    <a:lstStyle/>
                    <a:p>
                      <a:r>
                        <a:rPr lang="en-US" dirty="0">
                          <a:latin typeface="Times New Roman" panose="02020603050405020304" pitchFamily="18" charset="0"/>
                          <a:cs typeface="Times New Roman" panose="02020603050405020304" pitchFamily="18" charset="0"/>
                        </a:rPr>
                        <a:t>BERT</a:t>
                      </a:r>
                    </a:p>
                  </a:txBody>
                  <a:tcPr/>
                </a:tc>
                <a:tc>
                  <a:txBody>
                    <a:bodyPr/>
                    <a:lstStyle/>
                    <a:p>
                      <a:r>
                        <a:rPr lang="en-US" dirty="0">
                          <a:latin typeface="Times New Roman" panose="02020603050405020304" pitchFamily="18" charset="0"/>
                          <a:cs typeface="Times New Roman" panose="02020603050405020304" pitchFamily="18" charset="0"/>
                        </a:rPr>
                        <a:t>0.85</a:t>
                      </a:r>
                    </a:p>
                  </a:txBody>
                  <a:tcPr/>
                </a:tc>
                <a:tc>
                  <a:txBody>
                    <a:bodyPr/>
                    <a:lstStyle/>
                    <a:p>
                      <a:r>
                        <a:rPr lang="en-US" dirty="0">
                          <a:latin typeface="Times New Roman" panose="02020603050405020304" pitchFamily="18" charset="0"/>
                          <a:cs typeface="Times New Roman" panose="02020603050405020304" pitchFamily="18" charset="0"/>
                        </a:rPr>
                        <a:t>0.85</a:t>
                      </a:r>
                    </a:p>
                  </a:txBody>
                  <a:tcPr/>
                </a:tc>
                <a:tc>
                  <a:txBody>
                    <a:bodyPr/>
                    <a:lstStyle/>
                    <a:p>
                      <a:r>
                        <a:rPr lang="en-US" dirty="0">
                          <a:latin typeface="Times New Roman" panose="02020603050405020304" pitchFamily="18" charset="0"/>
                          <a:cs typeface="Times New Roman" panose="02020603050405020304" pitchFamily="18" charset="0"/>
                        </a:rPr>
                        <a:t>0.87</a:t>
                      </a:r>
                    </a:p>
                  </a:txBody>
                  <a:tcPr/>
                </a:tc>
                <a:extLst>
                  <a:ext uri="{0D108BD9-81ED-4DB2-BD59-A6C34878D82A}">
                    <a16:rowId xmlns:a16="http://schemas.microsoft.com/office/drawing/2014/main" val="3199715695"/>
                  </a:ext>
                </a:extLst>
              </a:tr>
              <a:tr h="351762">
                <a:tc>
                  <a:txBody>
                    <a:bodyPr/>
                    <a:lstStyle/>
                    <a:p>
                      <a:r>
                        <a:rPr lang="en-US" dirty="0">
                          <a:latin typeface="Times New Roman" panose="02020603050405020304" pitchFamily="18" charset="0"/>
                          <a:cs typeface="Times New Roman" panose="02020603050405020304" pitchFamily="18" charset="0"/>
                        </a:rPr>
                        <a:t>SMS</a:t>
                      </a:r>
                    </a:p>
                  </a:txBody>
                  <a:tcPr/>
                </a:tc>
                <a:tc>
                  <a:txBody>
                    <a:bodyPr/>
                    <a:lstStyle/>
                    <a:p>
                      <a:r>
                        <a:rPr lang="en-US" dirty="0">
                          <a:latin typeface="Times New Roman" panose="02020603050405020304" pitchFamily="18" charset="0"/>
                          <a:cs typeface="Times New Roman" panose="02020603050405020304" pitchFamily="18" charset="0"/>
                        </a:rPr>
                        <a:t>0.77</a:t>
                      </a:r>
                    </a:p>
                  </a:txBody>
                  <a:tcPr/>
                </a:tc>
                <a:tc>
                  <a:txBody>
                    <a:bodyPr/>
                    <a:lstStyle/>
                    <a:p>
                      <a:r>
                        <a:rPr lang="en-US" dirty="0">
                          <a:latin typeface="Times New Roman" panose="02020603050405020304" pitchFamily="18" charset="0"/>
                          <a:cs typeface="Times New Roman" panose="02020603050405020304" pitchFamily="18" charset="0"/>
                        </a:rPr>
                        <a:t>0.79</a:t>
                      </a:r>
                    </a:p>
                  </a:txBody>
                  <a:tcPr/>
                </a:tc>
                <a:tc>
                  <a:txBody>
                    <a:bodyPr/>
                    <a:lstStyle/>
                    <a:p>
                      <a:r>
                        <a:rPr lang="en-US" dirty="0">
                          <a:latin typeface="Times New Roman" panose="02020603050405020304" pitchFamily="18" charset="0"/>
                          <a:cs typeface="Times New Roman" panose="02020603050405020304" pitchFamily="18" charset="0"/>
                        </a:rPr>
                        <a:t>0.87</a:t>
                      </a:r>
                    </a:p>
                  </a:txBody>
                  <a:tcPr/>
                </a:tc>
                <a:extLst>
                  <a:ext uri="{0D108BD9-81ED-4DB2-BD59-A6C34878D82A}">
                    <a16:rowId xmlns:a16="http://schemas.microsoft.com/office/drawing/2014/main" val="1893556998"/>
                  </a:ext>
                </a:extLst>
              </a:tr>
            </a:tbl>
          </a:graphicData>
        </a:graphic>
      </p:graphicFrame>
      <p:sp>
        <p:nvSpPr>
          <p:cNvPr id="10" name="Content Placeholder 2">
            <a:extLst>
              <a:ext uri="{FF2B5EF4-FFF2-40B4-BE49-F238E27FC236}">
                <a16:creationId xmlns:a16="http://schemas.microsoft.com/office/drawing/2014/main" id="{6F4297BB-59D8-3B5C-ADDC-63F89C1A6CDA}"/>
              </a:ext>
            </a:extLst>
          </p:cNvPr>
          <p:cNvSpPr txBox="1">
            <a:spLocks/>
          </p:cNvSpPr>
          <p:nvPr/>
        </p:nvSpPr>
        <p:spPr>
          <a:xfrm>
            <a:off x="2158997" y="3765389"/>
            <a:ext cx="8001000" cy="2224024"/>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r>
              <a:rPr lang="en-US" sz="1700" b="1" dirty="0">
                <a:latin typeface="Times New Roman" panose="02020603050405020304" pitchFamily="18" charset="0"/>
                <a:cs typeface="Times New Roman" panose="02020603050405020304" pitchFamily="18" charset="0"/>
              </a:rPr>
              <a:t>Performance Metrics Comparison Across Models</a:t>
            </a:r>
          </a:p>
          <a:p>
            <a:pPr algn="just">
              <a:buFont typeface="+mj-lt"/>
              <a:buAutoNum type="arabicPeriod"/>
            </a:pPr>
            <a:r>
              <a:rPr lang="en-GB" sz="1700" dirty="0">
                <a:latin typeface="Times New Roman" panose="02020603050405020304" pitchFamily="18" charset="0"/>
                <a:cs typeface="Times New Roman" panose="02020603050405020304" pitchFamily="18" charset="0"/>
              </a:rPr>
              <a:t>The observed results indicate that Mistral outperforms both the Gemma models.</a:t>
            </a:r>
            <a:endParaRPr lang="en-US" sz="1700" dirty="0">
              <a:latin typeface="Times New Roman" panose="02020603050405020304" pitchFamily="18" charset="0"/>
              <a:cs typeface="Times New Roman" panose="02020603050405020304" pitchFamily="18" charset="0"/>
            </a:endParaRPr>
          </a:p>
          <a:p>
            <a:pPr algn="just">
              <a:buFont typeface="+mj-lt"/>
              <a:buAutoNum type="arabicPeriod"/>
            </a:pPr>
            <a:r>
              <a:rPr lang="en-GB" sz="1700" dirty="0">
                <a:latin typeface="Times New Roman" panose="02020603050405020304" pitchFamily="18" charset="0"/>
                <a:cs typeface="Times New Roman" panose="02020603050405020304" pitchFamily="18" charset="0"/>
              </a:rPr>
              <a:t>All three models display a very high score of BERT and SMS which indicates a high good semantic similarity. The BLEU and ROUGE scores indicates scope for improvement in fluency and recall. </a:t>
            </a:r>
            <a:endParaRPr lang="en-US" sz="1700"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27100CD4-5EE3-F353-B380-BA9204511C16}"/>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6416139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209AE-89BE-3795-7DDD-F656D1D4B358}"/>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0FB9A02F-3F28-56EB-168B-55F7BEC9ACBE}"/>
              </a:ext>
            </a:extLst>
          </p:cNvPr>
          <p:cNvSpPr/>
          <p:nvPr/>
        </p:nvSpPr>
        <p:spPr>
          <a:xfrm>
            <a:off x="565977" y="721301"/>
            <a:ext cx="11187043" cy="5752938"/>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E51EAD73-3BF1-D53D-772B-22D4EE588D46}"/>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87D470B5-A6FD-6310-A4E3-1774AB2547F9}"/>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7" name="Date Placeholder 6">
            <a:extLst>
              <a:ext uri="{FF2B5EF4-FFF2-40B4-BE49-F238E27FC236}">
                <a16:creationId xmlns:a16="http://schemas.microsoft.com/office/drawing/2014/main" id="{0E972EC2-9D9F-94F7-9373-9574EFF105D7}"/>
              </a:ext>
            </a:extLst>
          </p:cNvPr>
          <p:cNvSpPr>
            <a:spLocks noGrp="1"/>
          </p:cNvSpPr>
          <p:nvPr>
            <p:ph type="dt" sz="half" idx="10"/>
          </p:nvPr>
        </p:nvSpPr>
        <p:spPr/>
        <p:txBody>
          <a:bodyPr/>
          <a:lstStyle/>
          <a:p>
            <a:fld id="{EAE32B99-C71A-45B2-8B74-F62CE79211CD}" type="datetime1">
              <a:rPr lang="en-US" smtClean="0"/>
              <a:t>4/21/2025</a:t>
            </a:fld>
            <a:endParaRPr lang="en-US"/>
          </a:p>
        </p:txBody>
      </p:sp>
      <p:sp>
        <p:nvSpPr>
          <p:cNvPr id="2" name="Slide Number Placeholder 1">
            <a:extLst>
              <a:ext uri="{FF2B5EF4-FFF2-40B4-BE49-F238E27FC236}">
                <a16:creationId xmlns:a16="http://schemas.microsoft.com/office/drawing/2014/main" id="{B482CA7E-1E6C-71BD-8D94-38CBBFB8E88B}"/>
              </a:ext>
            </a:extLst>
          </p:cNvPr>
          <p:cNvSpPr>
            <a:spLocks noGrp="1"/>
          </p:cNvSpPr>
          <p:nvPr>
            <p:ph type="sldNum" sz="quarter" idx="12"/>
          </p:nvPr>
        </p:nvSpPr>
        <p:spPr/>
        <p:txBody>
          <a:bodyPr/>
          <a:lstStyle/>
          <a:p>
            <a:fld id="{48F63A3B-78C7-47BE-AE5E-E10140E04643}" type="slidenum">
              <a:rPr lang="en-US" dirty="0"/>
              <a:t>24</a:t>
            </a:fld>
            <a:endParaRPr lang="en-US" dirty="0"/>
          </a:p>
        </p:txBody>
      </p:sp>
      <p:pic>
        <p:nvPicPr>
          <p:cNvPr id="3" name="Picture 2" descr="A close-up of a logo&#10;&#10;AI-generated content may be incorrect.">
            <a:extLst>
              <a:ext uri="{FF2B5EF4-FFF2-40B4-BE49-F238E27FC236}">
                <a16:creationId xmlns:a16="http://schemas.microsoft.com/office/drawing/2014/main" id="{B05A60A7-03E4-EBE6-E3A1-A09206DBE1DC}"/>
              </a:ext>
            </a:extLst>
          </p:cNvPr>
          <p:cNvPicPr>
            <a:picLocks noChangeAspect="1"/>
          </p:cNvPicPr>
          <p:nvPr/>
        </p:nvPicPr>
        <p:blipFill>
          <a:blip r:embed="rId2"/>
          <a:stretch>
            <a:fillRect/>
          </a:stretch>
        </p:blipFill>
        <p:spPr>
          <a:xfrm>
            <a:off x="1" y="54524"/>
            <a:ext cx="2503714" cy="621059"/>
          </a:xfrm>
          <a:prstGeom prst="rect">
            <a:avLst/>
          </a:prstGeom>
        </p:spPr>
      </p:pic>
      <p:sp>
        <p:nvSpPr>
          <p:cNvPr id="12" name="Title 1">
            <a:extLst>
              <a:ext uri="{FF2B5EF4-FFF2-40B4-BE49-F238E27FC236}">
                <a16:creationId xmlns:a16="http://schemas.microsoft.com/office/drawing/2014/main" id="{AE8EA318-EEAF-1351-4BEC-058C1C19E707}"/>
              </a:ext>
            </a:extLst>
          </p:cNvPr>
          <p:cNvSpPr txBox="1">
            <a:spLocks/>
          </p:cNvSpPr>
          <p:nvPr/>
        </p:nvSpPr>
        <p:spPr>
          <a:xfrm>
            <a:off x="1752600" y="1177389"/>
            <a:ext cx="8229600" cy="457200"/>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500" b="1" dirty="0">
                <a:latin typeface="Times New Roman" pitchFamily="18" charset="0"/>
                <a:cs typeface="Times New Roman" pitchFamily="18" charset="0"/>
              </a:rPr>
              <a:t>RESULT ANALYSIS</a:t>
            </a:r>
            <a:br>
              <a:rPr lang="en-US" sz="2500" b="1" dirty="0">
                <a:latin typeface="Times New Roman" pitchFamily="18" charset="0"/>
                <a:cs typeface="Times New Roman" pitchFamily="18" charset="0"/>
              </a:rPr>
            </a:br>
            <a:r>
              <a:rPr lang="en-US" sz="2500" b="1" dirty="0">
                <a:latin typeface="Times New Roman" pitchFamily="18" charset="0"/>
                <a:cs typeface="Times New Roman" pitchFamily="18" charset="0"/>
              </a:rPr>
              <a:t>Gemma 2 2B Model Training </a:t>
            </a:r>
            <a:br>
              <a:rPr lang="en-US" sz="2500" b="1" dirty="0">
                <a:latin typeface="Times New Roman" pitchFamily="18" charset="0"/>
                <a:cs typeface="Times New Roman" pitchFamily="18" charset="0"/>
              </a:rPr>
            </a:br>
            <a:endParaRPr lang="en-US" sz="2500" b="1" dirty="0"/>
          </a:p>
        </p:txBody>
      </p:sp>
      <p:pic>
        <p:nvPicPr>
          <p:cNvPr id="14" name="Content Placeholder 19">
            <a:extLst>
              <a:ext uri="{FF2B5EF4-FFF2-40B4-BE49-F238E27FC236}">
                <a16:creationId xmlns:a16="http://schemas.microsoft.com/office/drawing/2014/main" id="{D1F25BE0-6913-C798-7F47-78194930A7EB}"/>
              </a:ext>
            </a:extLst>
          </p:cNvPr>
          <p:cNvPicPr>
            <a:picLocks noGrp="1" noChangeAspect="1"/>
          </p:cNvPicPr>
          <p:nvPr>
            <p:ph idx="1"/>
          </p:nvPr>
        </p:nvPicPr>
        <p:blipFill>
          <a:blip r:embed="rId3"/>
          <a:stretch>
            <a:fillRect/>
          </a:stretch>
        </p:blipFill>
        <p:spPr>
          <a:xfrm>
            <a:off x="2027723" y="1559670"/>
            <a:ext cx="8049748" cy="4429743"/>
          </a:xfrm>
        </p:spPr>
      </p:pic>
      <p:sp>
        <p:nvSpPr>
          <p:cNvPr id="5" name="TextBox 4">
            <a:extLst>
              <a:ext uri="{FF2B5EF4-FFF2-40B4-BE49-F238E27FC236}">
                <a16:creationId xmlns:a16="http://schemas.microsoft.com/office/drawing/2014/main" id="{F9A1001F-E349-8141-B870-EEDBEFFD4C40}"/>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31986040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602336-E8F1-99D5-F8DB-BC83C3FDC573}"/>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ABF7565F-3C9E-F695-F23B-E2437266E4E1}"/>
              </a:ext>
            </a:extLst>
          </p:cNvPr>
          <p:cNvSpPr/>
          <p:nvPr/>
        </p:nvSpPr>
        <p:spPr>
          <a:xfrm>
            <a:off x="565977" y="810555"/>
            <a:ext cx="11187043" cy="5663683"/>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D2FFE63E-9B72-AC27-B197-2AD307684BF3}"/>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F7ACC13A-21EF-6ED6-D17A-708BF4519D0E}"/>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9" name="TextBox 8">
            <a:extLst>
              <a:ext uri="{FF2B5EF4-FFF2-40B4-BE49-F238E27FC236}">
                <a16:creationId xmlns:a16="http://schemas.microsoft.com/office/drawing/2014/main" id="{4B8D000F-7ED7-37F0-9ED8-2B2E4DD8C924}"/>
              </a:ext>
            </a:extLst>
          </p:cNvPr>
          <p:cNvSpPr txBox="1"/>
          <p:nvPr/>
        </p:nvSpPr>
        <p:spPr>
          <a:xfrm>
            <a:off x="1685702" y="856272"/>
            <a:ext cx="8947589"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200" b="1" dirty="0">
                <a:solidFill>
                  <a:srgbClr val="2E2E2E"/>
                </a:solidFill>
                <a:latin typeface="Times New Roman" panose="02020603050405020304" pitchFamily="18" charset="0"/>
                <a:ea typeface="Calibri"/>
                <a:cs typeface="Times New Roman" panose="02020603050405020304" pitchFamily="18" charset="0"/>
              </a:rPr>
              <a:t>CONCLUSION </a:t>
            </a:r>
            <a:endParaRPr lang="en-US" sz="3600" dirty="0">
              <a:latin typeface="Times New Roman" panose="02020603050405020304" pitchFamily="18" charset="0"/>
              <a:cs typeface="Times New Roman" panose="02020603050405020304" pitchFamily="18" charset="0"/>
            </a:endParaRPr>
          </a:p>
        </p:txBody>
      </p:sp>
      <p:sp>
        <p:nvSpPr>
          <p:cNvPr id="7" name="Date Placeholder 6">
            <a:extLst>
              <a:ext uri="{FF2B5EF4-FFF2-40B4-BE49-F238E27FC236}">
                <a16:creationId xmlns:a16="http://schemas.microsoft.com/office/drawing/2014/main" id="{4F6C202F-F069-C64A-C8D4-E0D223405086}"/>
              </a:ext>
            </a:extLst>
          </p:cNvPr>
          <p:cNvSpPr>
            <a:spLocks noGrp="1"/>
          </p:cNvSpPr>
          <p:nvPr>
            <p:ph type="dt" sz="half" idx="10"/>
          </p:nvPr>
        </p:nvSpPr>
        <p:spPr/>
        <p:txBody>
          <a:bodyPr/>
          <a:lstStyle/>
          <a:p>
            <a:fld id="{8C6B16C0-AF62-4469-AFD7-70098A69D550}" type="datetime1">
              <a:rPr lang="en-US" smtClean="0"/>
              <a:t>4/21/2025</a:t>
            </a:fld>
            <a:endParaRPr lang="en-US"/>
          </a:p>
        </p:txBody>
      </p:sp>
      <p:sp>
        <p:nvSpPr>
          <p:cNvPr id="2" name="Slide Number Placeholder 1">
            <a:extLst>
              <a:ext uri="{FF2B5EF4-FFF2-40B4-BE49-F238E27FC236}">
                <a16:creationId xmlns:a16="http://schemas.microsoft.com/office/drawing/2014/main" id="{D989AAB0-E8CD-FBB7-462E-B4CE0691BD61}"/>
              </a:ext>
            </a:extLst>
          </p:cNvPr>
          <p:cNvSpPr>
            <a:spLocks noGrp="1"/>
          </p:cNvSpPr>
          <p:nvPr>
            <p:ph type="sldNum" sz="quarter" idx="12"/>
          </p:nvPr>
        </p:nvSpPr>
        <p:spPr/>
        <p:txBody>
          <a:bodyPr/>
          <a:lstStyle/>
          <a:p>
            <a:fld id="{48F63A3B-78C7-47BE-AE5E-E10140E04643}" type="slidenum">
              <a:rPr lang="en-US" dirty="0"/>
              <a:t>25</a:t>
            </a:fld>
            <a:endParaRPr lang="en-US"/>
          </a:p>
        </p:txBody>
      </p:sp>
      <p:pic>
        <p:nvPicPr>
          <p:cNvPr id="3" name="Picture 2" descr="A close-up of a logo&#10;&#10;AI-generated content may be incorrect.">
            <a:extLst>
              <a:ext uri="{FF2B5EF4-FFF2-40B4-BE49-F238E27FC236}">
                <a16:creationId xmlns:a16="http://schemas.microsoft.com/office/drawing/2014/main" id="{36B626A6-CEE9-4DD2-1824-55ADDB3FE4C3}"/>
              </a:ext>
            </a:extLst>
          </p:cNvPr>
          <p:cNvPicPr>
            <a:picLocks noChangeAspect="1"/>
          </p:cNvPicPr>
          <p:nvPr/>
        </p:nvPicPr>
        <p:blipFill>
          <a:blip r:embed="rId2"/>
          <a:stretch>
            <a:fillRect/>
          </a:stretch>
        </p:blipFill>
        <p:spPr>
          <a:xfrm>
            <a:off x="1" y="54524"/>
            <a:ext cx="2503714" cy="621059"/>
          </a:xfrm>
          <a:prstGeom prst="rect">
            <a:avLst/>
          </a:prstGeom>
        </p:spPr>
      </p:pic>
      <p:sp>
        <p:nvSpPr>
          <p:cNvPr id="8" name="TextBox 7">
            <a:extLst>
              <a:ext uri="{FF2B5EF4-FFF2-40B4-BE49-F238E27FC236}">
                <a16:creationId xmlns:a16="http://schemas.microsoft.com/office/drawing/2014/main" id="{A4D62DDF-C15B-7458-9193-49E76391CCA6}"/>
              </a:ext>
            </a:extLst>
          </p:cNvPr>
          <p:cNvSpPr txBox="1"/>
          <p:nvPr/>
        </p:nvSpPr>
        <p:spPr>
          <a:xfrm>
            <a:off x="1701179" y="1556541"/>
            <a:ext cx="9121513" cy="1894749"/>
          </a:xfrm>
          <a:prstGeom prst="rect">
            <a:avLst/>
          </a:prstGeom>
          <a:noFill/>
        </p:spPr>
        <p:txBody>
          <a:bodyPr wrap="square">
            <a:spAutoFit/>
          </a:bodyPr>
          <a:lstStyle/>
          <a:p>
            <a:pPr algn="just">
              <a:lnSpc>
                <a:spcPct val="150000"/>
              </a:lnSpc>
            </a:pPr>
            <a:r>
              <a:rPr lang="en-US" sz="1600" dirty="0">
                <a:latin typeface="Times New Roman" panose="02020603050405020304" pitchFamily="18" charset="0"/>
                <a:cs typeface="Times New Roman" panose="02020603050405020304" pitchFamily="18" charset="0"/>
              </a:rPr>
              <a:t>While the existing framework provides a good foundation for local LLM execution, future revisions should prioritize performance optimization, dataset growth, and infrastructure improvements to increase efficiency and usability.  By improving the BLEURT scores, upgrading job role databases, expanding the resume parsing dataset, and investigating cloud-based LLM hosting, we can provide a more powerful and responsive system that can react to the continuously changing employment market.</a:t>
            </a:r>
          </a:p>
        </p:txBody>
      </p:sp>
      <p:sp>
        <p:nvSpPr>
          <p:cNvPr id="6" name="TextBox 5">
            <a:extLst>
              <a:ext uri="{FF2B5EF4-FFF2-40B4-BE49-F238E27FC236}">
                <a16:creationId xmlns:a16="http://schemas.microsoft.com/office/drawing/2014/main" id="{5A880BF5-4291-BB8F-8ED5-A50DD7C62E58}"/>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112034078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1AEDF-36B1-295D-56EF-C0E27235A58F}"/>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2EA75B7-8876-69DD-FB15-1FDF9753D4FD}"/>
              </a:ext>
            </a:extLst>
          </p:cNvPr>
          <p:cNvSpPr/>
          <p:nvPr/>
        </p:nvSpPr>
        <p:spPr>
          <a:xfrm>
            <a:off x="565975" y="822478"/>
            <a:ext cx="11187043" cy="5617966"/>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323CFAB5-F041-70C7-B896-B4BC0741E8CC}"/>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A3BDD129-D03F-C5F4-6C0F-48F31501AB0E}"/>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9" name="TextBox 8">
            <a:extLst>
              <a:ext uri="{FF2B5EF4-FFF2-40B4-BE49-F238E27FC236}">
                <a16:creationId xmlns:a16="http://schemas.microsoft.com/office/drawing/2014/main" id="{C7A46B35-5732-A12B-4EFD-5AE7BDD0FC1F}"/>
              </a:ext>
            </a:extLst>
          </p:cNvPr>
          <p:cNvSpPr txBox="1"/>
          <p:nvPr/>
        </p:nvSpPr>
        <p:spPr>
          <a:xfrm>
            <a:off x="1875103" y="901990"/>
            <a:ext cx="8947589" cy="5539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900" b="1" dirty="0">
                <a:solidFill>
                  <a:srgbClr val="2E2E2E"/>
                </a:solidFill>
                <a:latin typeface="Times New Roman" panose="02020603050405020304" pitchFamily="18" charset="0"/>
                <a:ea typeface="Calibri"/>
                <a:cs typeface="Times New Roman" panose="02020603050405020304" pitchFamily="18" charset="0"/>
              </a:rPr>
              <a:t>FUTURE ENHANCEMENT </a:t>
            </a:r>
            <a:endParaRPr lang="en-US" sz="2900" dirty="0">
              <a:latin typeface="Times New Roman" panose="02020603050405020304" pitchFamily="18" charset="0"/>
              <a:cs typeface="Times New Roman" panose="02020603050405020304" pitchFamily="18" charset="0"/>
            </a:endParaRPr>
          </a:p>
        </p:txBody>
      </p:sp>
      <p:sp>
        <p:nvSpPr>
          <p:cNvPr id="7" name="Date Placeholder 6">
            <a:extLst>
              <a:ext uri="{FF2B5EF4-FFF2-40B4-BE49-F238E27FC236}">
                <a16:creationId xmlns:a16="http://schemas.microsoft.com/office/drawing/2014/main" id="{14E3D83B-3E6B-6B61-026E-BBF7C1874BAD}"/>
              </a:ext>
            </a:extLst>
          </p:cNvPr>
          <p:cNvSpPr>
            <a:spLocks noGrp="1"/>
          </p:cNvSpPr>
          <p:nvPr>
            <p:ph type="dt" sz="half" idx="10"/>
          </p:nvPr>
        </p:nvSpPr>
        <p:spPr/>
        <p:txBody>
          <a:bodyPr/>
          <a:lstStyle/>
          <a:p>
            <a:fld id="{D968DE35-5A63-4D32-B4FA-AAC33C743205}" type="datetime1">
              <a:rPr lang="en-US" smtClean="0"/>
              <a:t>4/21/2025</a:t>
            </a:fld>
            <a:endParaRPr lang="en-US"/>
          </a:p>
        </p:txBody>
      </p:sp>
      <p:sp>
        <p:nvSpPr>
          <p:cNvPr id="2" name="Slide Number Placeholder 1">
            <a:extLst>
              <a:ext uri="{FF2B5EF4-FFF2-40B4-BE49-F238E27FC236}">
                <a16:creationId xmlns:a16="http://schemas.microsoft.com/office/drawing/2014/main" id="{67F2D0A2-2D0F-E2DE-02D8-F3C2216C702F}"/>
              </a:ext>
            </a:extLst>
          </p:cNvPr>
          <p:cNvSpPr>
            <a:spLocks noGrp="1"/>
          </p:cNvSpPr>
          <p:nvPr>
            <p:ph type="sldNum" sz="quarter" idx="12"/>
          </p:nvPr>
        </p:nvSpPr>
        <p:spPr/>
        <p:txBody>
          <a:bodyPr/>
          <a:lstStyle/>
          <a:p>
            <a:fld id="{48F63A3B-78C7-47BE-AE5E-E10140E04643}" type="slidenum">
              <a:rPr lang="en-US" dirty="0"/>
              <a:t>26</a:t>
            </a:fld>
            <a:endParaRPr lang="en-US"/>
          </a:p>
        </p:txBody>
      </p:sp>
      <p:pic>
        <p:nvPicPr>
          <p:cNvPr id="3" name="Picture 2" descr="A close-up of a logo&#10;&#10;AI-generated content may be incorrect.">
            <a:extLst>
              <a:ext uri="{FF2B5EF4-FFF2-40B4-BE49-F238E27FC236}">
                <a16:creationId xmlns:a16="http://schemas.microsoft.com/office/drawing/2014/main" id="{69D15949-5536-0089-4BCB-E5F97438C18B}"/>
              </a:ext>
            </a:extLst>
          </p:cNvPr>
          <p:cNvPicPr>
            <a:picLocks noChangeAspect="1"/>
          </p:cNvPicPr>
          <p:nvPr/>
        </p:nvPicPr>
        <p:blipFill>
          <a:blip r:embed="rId2"/>
          <a:stretch>
            <a:fillRect/>
          </a:stretch>
        </p:blipFill>
        <p:spPr>
          <a:xfrm>
            <a:off x="1" y="54524"/>
            <a:ext cx="2503714" cy="621059"/>
          </a:xfrm>
          <a:prstGeom prst="rect">
            <a:avLst/>
          </a:prstGeom>
        </p:spPr>
      </p:pic>
      <p:sp>
        <p:nvSpPr>
          <p:cNvPr id="11" name="TextBox 10">
            <a:extLst>
              <a:ext uri="{FF2B5EF4-FFF2-40B4-BE49-F238E27FC236}">
                <a16:creationId xmlns:a16="http://schemas.microsoft.com/office/drawing/2014/main" id="{5181627D-D897-2A88-877E-3BEEE422C5F1}"/>
              </a:ext>
            </a:extLst>
          </p:cNvPr>
          <p:cNvSpPr txBox="1"/>
          <p:nvPr/>
        </p:nvSpPr>
        <p:spPr>
          <a:xfrm>
            <a:off x="1443374" y="1244359"/>
            <a:ext cx="10145745" cy="5770811"/>
          </a:xfrm>
          <a:prstGeom prst="rect">
            <a:avLst/>
          </a:prstGeom>
          <a:noFill/>
        </p:spPr>
        <p:txBody>
          <a:bodyPr wrap="square">
            <a:spAutoFit/>
          </a:bodyPr>
          <a:lstStyle/>
          <a:p>
            <a:pPr marL="4000500" lvl="8" indent="-342900" algn="just">
              <a:lnSpc>
                <a:spcPct val="150000"/>
              </a:lnSpc>
              <a:buFont typeface="+mj-lt"/>
              <a:buAutoNum type="arabicPeriod"/>
            </a:pPr>
            <a:r>
              <a:rPr lang="en-GB" b="0" i="0" dirty="0">
                <a:effectLst/>
                <a:latin typeface="Times New Roman" panose="02020603050405020304" pitchFamily="18" charset="0"/>
                <a:cs typeface="Times New Roman" panose="02020603050405020304" pitchFamily="18" charset="0"/>
              </a:rPr>
              <a:t>Gemma 2 9B</a:t>
            </a:r>
            <a:endParaRPr lang="en-GB" dirty="0">
              <a:latin typeface="Times New Roman" panose="02020603050405020304" pitchFamily="18" charset="0"/>
              <a:cs typeface="Times New Roman" panose="02020603050405020304" pitchFamily="18" charset="0"/>
            </a:endParaRPr>
          </a:p>
          <a:p>
            <a:pPr marL="4000500" lvl="8" indent="-342900" algn="just">
              <a:lnSpc>
                <a:spcPct val="150000"/>
              </a:lnSpc>
              <a:buFont typeface="+mj-lt"/>
              <a:buAutoNum type="arabicPeriod"/>
            </a:pPr>
            <a:r>
              <a:rPr lang="en-GB" b="0" i="0" dirty="0">
                <a:effectLst/>
                <a:latin typeface="Times New Roman" panose="02020603050405020304" pitchFamily="18" charset="0"/>
                <a:cs typeface="Times New Roman" panose="02020603050405020304" pitchFamily="18" charset="0"/>
              </a:rPr>
              <a:t>Gemma 2 2B</a:t>
            </a:r>
            <a:endParaRPr lang="en-GB" dirty="0">
              <a:latin typeface="Times New Roman" panose="02020603050405020304" pitchFamily="18" charset="0"/>
              <a:cs typeface="Times New Roman" panose="02020603050405020304" pitchFamily="18" charset="0"/>
            </a:endParaRPr>
          </a:p>
          <a:p>
            <a:pPr marL="4000500" lvl="8" indent="-342900" algn="just">
              <a:lnSpc>
                <a:spcPct val="150000"/>
              </a:lnSpc>
              <a:buFont typeface="+mj-lt"/>
              <a:buAutoNum type="arabicPeriod"/>
            </a:pPr>
            <a:r>
              <a:rPr lang="en-GB" b="0" i="0" dirty="0">
                <a:effectLst/>
                <a:latin typeface="Times New Roman" panose="02020603050405020304" pitchFamily="18" charset="0"/>
                <a:cs typeface="Times New Roman" panose="02020603050405020304" pitchFamily="18" charset="0"/>
              </a:rPr>
              <a:t>Mistral 7B </a:t>
            </a:r>
          </a:p>
          <a:p>
            <a:pPr algn="just"/>
            <a:r>
              <a:rPr lang="en-GB" b="0" i="0" dirty="0">
                <a:effectLst/>
                <a:latin typeface="Times New Roman" panose="02020603050405020304" pitchFamily="18" charset="0"/>
                <a:cs typeface="Times New Roman" panose="02020603050405020304" pitchFamily="18" charset="0"/>
              </a:rPr>
              <a:t>All three models show a high degree of semantic similarity to the recently published state-of-the-art </a:t>
            </a:r>
            <a:r>
              <a:rPr lang="en-GB" b="1" i="0" dirty="0">
                <a:effectLst/>
                <a:latin typeface="Times New Roman" panose="02020603050405020304" pitchFamily="18" charset="0"/>
                <a:cs typeface="Times New Roman" panose="02020603050405020304" pitchFamily="18" charset="0"/>
              </a:rPr>
              <a:t>Deepseek-R1 14B </a:t>
            </a:r>
            <a:r>
              <a:rPr lang="en-GB" b="0" i="0" dirty="0">
                <a:effectLst/>
                <a:latin typeface="Times New Roman" panose="02020603050405020304" pitchFamily="18" charset="0"/>
                <a:cs typeface="Times New Roman" panose="02020603050405020304" pitchFamily="18" charset="0"/>
              </a:rPr>
              <a:t>model, according to our evaluation. This implies that our optimized solution can produce results that are comparable across a range of benchmark tests, even with the variances in architecture and parameter scales.</a:t>
            </a:r>
          </a:p>
          <a:p>
            <a:pPr algn="just"/>
            <a:endParaRPr lang="en-GB" dirty="0">
              <a:latin typeface="Times New Roman" panose="02020603050405020304" pitchFamily="18" charset="0"/>
              <a:cs typeface="Times New Roman" panose="02020603050405020304" pitchFamily="18" charset="0"/>
            </a:endParaRPr>
          </a:p>
          <a:p>
            <a:pPr algn="just"/>
            <a:r>
              <a:rPr lang="en-GB" b="1" i="0" dirty="0">
                <a:effectLst/>
                <a:latin typeface="Times New Roman" panose="02020603050405020304" pitchFamily="18" charset="0"/>
                <a:cs typeface="Times New Roman" panose="02020603050405020304" pitchFamily="18" charset="0"/>
              </a:rPr>
              <a:t>Opportunities for Performance and Optimization</a:t>
            </a:r>
            <a:r>
              <a:rPr lang="en-GB" b="1" dirty="0">
                <a:latin typeface="Times New Roman" panose="02020603050405020304" pitchFamily="18" charset="0"/>
                <a:cs typeface="Times New Roman" panose="02020603050405020304" pitchFamily="18" charset="0"/>
              </a:rPr>
              <a:t> </a:t>
            </a:r>
            <a:r>
              <a:rPr lang="en-GB" i="0" dirty="0">
                <a:effectLst/>
                <a:latin typeface="Times New Roman" panose="02020603050405020304" pitchFamily="18" charset="0"/>
                <a:cs typeface="Times New Roman" panose="02020603050405020304" pitchFamily="18" charset="0"/>
              </a:rPr>
              <a:t>: </a:t>
            </a:r>
            <a:r>
              <a:rPr lang="en-GB" b="0" i="0" dirty="0">
                <a:effectLst/>
                <a:latin typeface="Times New Roman" panose="02020603050405020304" pitchFamily="18" charset="0"/>
                <a:cs typeface="Times New Roman" panose="02020603050405020304" pitchFamily="18" charset="0"/>
              </a:rPr>
              <a:t>Even while the existing architecture produces encouraging results, it can still be </a:t>
            </a:r>
            <a:r>
              <a:rPr lang="en-GB" b="1" i="0" dirty="0">
                <a:effectLst/>
                <a:latin typeface="Times New Roman" panose="02020603050405020304" pitchFamily="18" charset="0"/>
                <a:cs typeface="Times New Roman" panose="02020603050405020304" pitchFamily="18" charset="0"/>
              </a:rPr>
              <a:t>improved </a:t>
            </a:r>
            <a:r>
              <a:rPr lang="en-GB" i="0" dirty="0">
                <a:effectLst/>
                <a:latin typeface="Times New Roman" panose="02020603050405020304" pitchFamily="18" charset="0"/>
                <a:cs typeface="Times New Roman" panose="02020603050405020304" pitchFamily="18" charset="0"/>
              </a:rPr>
              <a:t>.</a:t>
            </a:r>
            <a:r>
              <a:rPr lang="en-GB" b="0" i="0" dirty="0">
                <a:effectLst/>
                <a:latin typeface="Times New Roman" panose="02020603050405020304" pitchFamily="18" charset="0"/>
                <a:cs typeface="Times New Roman" panose="02020603050405020304" pitchFamily="18" charset="0"/>
              </a:rPr>
              <a:t> </a:t>
            </a:r>
          </a:p>
          <a:p>
            <a:pPr algn="just"/>
            <a:endParaRPr lang="en-GB" dirty="0">
              <a:latin typeface="Times New Roman" panose="02020603050405020304" pitchFamily="18" charset="0"/>
              <a:cs typeface="Times New Roman" panose="02020603050405020304" pitchFamily="18" charset="0"/>
            </a:endParaRPr>
          </a:p>
          <a:p>
            <a:pPr algn="just"/>
            <a:r>
              <a:rPr lang="en-GB" b="1" i="0" dirty="0">
                <a:effectLst/>
                <a:latin typeface="Times New Roman" panose="02020603050405020304" pitchFamily="18" charset="0"/>
                <a:cs typeface="Times New Roman" panose="02020603050405020304" pitchFamily="18" charset="0"/>
              </a:rPr>
              <a:t>Future advancements might concentrate on optimization techniques like </a:t>
            </a:r>
            <a:r>
              <a:rPr lang="en-GB" b="0" i="0" dirty="0">
                <a:effectLst/>
                <a:latin typeface="Times New Roman" panose="02020603050405020304" pitchFamily="18" charset="0"/>
                <a:cs typeface="Times New Roman" panose="02020603050405020304" pitchFamily="18" charset="0"/>
              </a:rPr>
              <a:t>: Fine-tuning with domain-specific datasets: Contextual comprehension may be enhanced by adding more job descriptions, industry-specific terminology, and actual resumes to training data. </a:t>
            </a:r>
            <a:endParaRPr lang="en-US" dirty="0">
              <a:latin typeface="Times New Roman" panose="02020603050405020304" pitchFamily="18" charset="0"/>
              <a:cs typeface="Times New Roman" panose="02020603050405020304" pitchFamily="18" charset="0"/>
            </a:endParaRPr>
          </a:p>
          <a:p>
            <a:pPr marL="285750" indent="-285750" algn="just">
              <a:buFont typeface="Arial" panose="020B0604020202020204" pitchFamily="34" charset="0"/>
              <a:buChar char="•"/>
            </a:pPr>
            <a:endParaRPr lang="en-GB" b="0" i="0" dirty="0">
              <a:effectLst/>
              <a:latin typeface="Times New Roman" panose="02020603050405020304" pitchFamily="18" charset="0"/>
              <a:cs typeface="Times New Roman" panose="02020603050405020304" pitchFamily="18" charset="0"/>
            </a:endParaRPr>
          </a:p>
          <a:p>
            <a:pPr algn="just"/>
            <a:endParaRPr lang="en-GB" dirty="0">
              <a:latin typeface="Times New Roman" panose="02020603050405020304" pitchFamily="18" charset="0"/>
              <a:cs typeface="Times New Roman" panose="02020603050405020304" pitchFamily="18" charset="0"/>
            </a:endParaRPr>
          </a:p>
          <a:p>
            <a:pPr algn="just"/>
            <a:endParaRPr lang="en-GB" dirty="0">
              <a:latin typeface="Times New Roman" panose="02020603050405020304" pitchFamily="18" charset="0"/>
              <a:cs typeface="Times New Roman" panose="02020603050405020304" pitchFamily="18" charset="0"/>
            </a:endParaRPr>
          </a:p>
          <a:p>
            <a:pPr algn="just"/>
            <a:endParaRPr lang="en-GB" b="0" i="0" dirty="0">
              <a:effectLst/>
              <a:latin typeface="Times New Roman" panose="02020603050405020304" pitchFamily="18" charset="0"/>
              <a:cs typeface="Times New Roman" panose="02020603050405020304" pitchFamily="18" charset="0"/>
            </a:endParaRPr>
          </a:p>
          <a:p>
            <a:pPr algn="just"/>
            <a:endParaRPr lang="en-GB"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45DA1A8C-C6DE-586F-F984-F9BC77B0C3A8}"/>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19716179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3E907-CABA-5B4E-5EBF-BA75F3FF016F}"/>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B73D1B7D-AC26-6D94-0ED3-A7E612E23F65}"/>
              </a:ext>
            </a:extLst>
          </p:cNvPr>
          <p:cNvSpPr/>
          <p:nvPr/>
        </p:nvSpPr>
        <p:spPr>
          <a:xfrm>
            <a:off x="565977" y="856273"/>
            <a:ext cx="11187043" cy="5617966"/>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EB4C2D01-0C5A-F3AB-BEE9-7B03B6A2BDFB}"/>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045E0521-298F-6FD1-2170-D18E7FAE0EC5}"/>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9" name="TextBox 8">
            <a:extLst>
              <a:ext uri="{FF2B5EF4-FFF2-40B4-BE49-F238E27FC236}">
                <a16:creationId xmlns:a16="http://schemas.microsoft.com/office/drawing/2014/main" id="{0147510A-27FE-1AD8-1AF5-C06FFABFEF43}"/>
              </a:ext>
            </a:extLst>
          </p:cNvPr>
          <p:cNvSpPr txBox="1"/>
          <p:nvPr/>
        </p:nvSpPr>
        <p:spPr>
          <a:xfrm>
            <a:off x="1875103" y="901990"/>
            <a:ext cx="8947589" cy="5539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000" b="1" dirty="0">
                <a:solidFill>
                  <a:srgbClr val="2E2E2E"/>
                </a:solidFill>
                <a:latin typeface="Times New Roman" panose="02020603050405020304" pitchFamily="18" charset="0"/>
                <a:ea typeface="Calibri"/>
                <a:cs typeface="Times New Roman" panose="02020603050405020304" pitchFamily="18" charset="0"/>
              </a:rPr>
              <a:t>FUTURE ENHANCEMENT </a:t>
            </a:r>
            <a:endParaRPr lang="en-US" sz="3000" dirty="0">
              <a:latin typeface="Times New Roman" panose="02020603050405020304" pitchFamily="18" charset="0"/>
              <a:cs typeface="Times New Roman" panose="02020603050405020304" pitchFamily="18" charset="0"/>
            </a:endParaRPr>
          </a:p>
        </p:txBody>
      </p:sp>
      <p:sp>
        <p:nvSpPr>
          <p:cNvPr id="7" name="Date Placeholder 6">
            <a:extLst>
              <a:ext uri="{FF2B5EF4-FFF2-40B4-BE49-F238E27FC236}">
                <a16:creationId xmlns:a16="http://schemas.microsoft.com/office/drawing/2014/main" id="{42AA9D6A-4C81-F320-7C6C-B3428F3AABEC}"/>
              </a:ext>
            </a:extLst>
          </p:cNvPr>
          <p:cNvSpPr>
            <a:spLocks noGrp="1"/>
          </p:cNvSpPr>
          <p:nvPr>
            <p:ph type="dt" sz="half" idx="10"/>
          </p:nvPr>
        </p:nvSpPr>
        <p:spPr/>
        <p:txBody>
          <a:bodyPr/>
          <a:lstStyle/>
          <a:p>
            <a:fld id="{D968DE35-5A63-4D32-B4FA-AAC33C743205}" type="datetime1">
              <a:rPr lang="en-US" smtClean="0"/>
              <a:t>4/21/2025</a:t>
            </a:fld>
            <a:endParaRPr lang="en-US"/>
          </a:p>
        </p:txBody>
      </p:sp>
      <p:sp>
        <p:nvSpPr>
          <p:cNvPr id="2" name="Slide Number Placeholder 1">
            <a:extLst>
              <a:ext uri="{FF2B5EF4-FFF2-40B4-BE49-F238E27FC236}">
                <a16:creationId xmlns:a16="http://schemas.microsoft.com/office/drawing/2014/main" id="{3C0EBD3D-75D1-98E6-5801-C9924350CE06}"/>
              </a:ext>
            </a:extLst>
          </p:cNvPr>
          <p:cNvSpPr>
            <a:spLocks noGrp="1"/>
          </p:cNvSpPr>
          <p:nvPr>
            <p:ph type="sldNum" sz="quarter" idx="12"/>
          </p:nvPr>
        </p:nvSpPr>
        <p:spPr/>
        <p:txBody>
          <a:bodyPr/>
          <a:lstStyle/>
          <a:p>
            <a:fld id="{48F63A3B-78C7-47BE-AE5E-E10140E04643}" type="slidenum">
              <a:rPr lang="en-US" dirty="0"/>
              <a:t>27</a:t>
            </a:fld>
            <a:endParaRPr lang="en-US"/>
          </a:p>
        </p:txBody>
      </p:sp>
      <p:pic>
        <p:nvPicPr>
          <p:cNvPr id="3" name="Picture 2" descr="A close-up of a logo&#10;&#10;AI-generated content may be incorrect.">
            <a:extLst>
              <a:ext uri="{FF2B5EF4-FFF2-40B4-BE49-F238E27FC236}">
                <a16:creationId xmlns:a16="http://schemas.microsoft.com/office/drawing/2014/main" id="{65034A92-330C-8904-698B-4C9E19958B0A}"/>
              </a:ext>
            </a:extLst>
          </p:cNvPr>
          <p:cNvPicPr>
            <a:picLocks noChangeAspect="1"/>
          </p:cNvPicPr>
          <p:nvPr/>
        </p:nvPicPr>
        <p:blipFill>
          <a:blip r:embed="rId2"/>
          <a:stretch>
            <a:fillRect/>
          </a:stretch>
        </p:blipFill>
        <p:spPr>
          <a:xfrm>
            <a:off x="1" y="54524"/>
            <a:ext cx="2503714" cy="621059"/>
          </a:xfrm>
          <a:prstGeom prst="rect">
            <a:avLst/>
          </a:prstGeom>
        </p:spPr>
      </p:pic>
      <p:sp>
        <p:nvSpPr>
          <p:cNvPr id="11" name="TextBox 10">
            <a:extLst>
              <a:ext uri="{FF2B5EF4-FFF2-40B4-BE49-F238E27FC236}">
                <a16:creationId xmlns:a16="http://schemas.microsoft.com/office/drawing/2014/main" id="{8127D9AC-ECFC-6ACF-1CF6-AF34E7609805}"/>
              </a:ext>
            </a:extLst>
          </p:cNvPr>
          <p:cNvSpPr txBox="1"/>
          <p:nvPr/>
        </p:nvSpPr>
        <p:spPr>
          <a:xfrm>
            <a:off x="1108526" y="1667455"/>
            <a:ext cx="10101942" cy="4197559"/>
          </a:xfrm>
          <a:prstGeom prst="rect">
            <a:avLst/>
          </a:prstGeom>
          <a:noFill/>
        </p:spPr>
        <p:txBody>
          <a:bodyPr wrap="square">
            <a:spAutoFit/>
          </a:bodyPr>
          <a:lstStyle/>
          <a:p>
            <a:pPr algn="just">
              <a:lnSpc>
                <a:spcPct val="150000"/>
              </a:lnSpc>
            </a:pPr>
            <a:r>
              <a:rPr lang="en-GB" b="1" i="0" dirty="0">
                <a:effectLst/>
                <a:latin typeface="Times New Roman" panose="02020603050405020304" pitchFamily="18" charset="0"/>
                <a:cs typeface="Times New Roman" panose="02020603050405020304" pitchFamily="18" charset="0"/>
              </a:rPr>
              <a:t>Enhancing RAG-based methods for retrieval mechanisms: </a:t>
            </a:r>
          </a:p>
          <a:p>
            <a:pPr marL="285750" indent="-285750" algn="just">
              <a:lnSpc>
                <a:spcPct val="150000"/>
              </a:lnSpc>
              <a:buFont typeface="Arial" panose="020B0604020202020204" pitchFamily="34" charset="0"/>
              <a:buChar char="•"/>
            </a:pPr>
            <a:r>
              <a:rPr lang="en-GB" b="0" i="0" dirty="0">
                <a:effectLst/>
                <a:latin typeface="Times New Roman" panose="02020603050405020304" pitchFamily="18" charset="0"/>
                <a:cs typeface="Times New Roman" panose="02020603050405020304" pitchFamily="18" charset="0"/>
              </a:rPr>
              <a:t>More effective indexing strategies, embeddings, or reranking models could improve retrieval quality if the system makes use of RAG (Retrieval-Augmented Generation). Examining a Remote LLM Configuration Our local LLM deployment at the moment guarantees user control and privacy, but it comes at the expense of slower processing performance, particularly for bigger models. There may be bottlenecks in CPU/GPU performance, memory bandwidth, and VRAM availability while running inference on consumer hardware. </a:t>
            </a:r>
          </a:p>
          <a:p>
            <a:pPr algn="just">
              <a:lnSpc>
                <a:spcPct val="150000"/>
              </a:lnSpc>
            </a:pPr>
            <a:r>
              <a:rPr lang="en-GB" b="0" i="0" dirty="0">
                <a:effectLst/>
                <a:latin typeface="Times New Roman" panose="02020603050405020304" pitchFamily="18" charset="0"/>
                <a:cs typeface="Times New Roman" panose="02020603050405020304" pitchFamily="18" charset="0"/>
              </a:rPr>
              <a:t>These difficulties might be lessened by a remote setup via: </a:t>
            </a:r>
          </a:p>
          <a:p>
            <a:pPr marL="285750" indent="-285750" algn="just">
              <a:lnSpc>
                <a:spcPct val="150000"/>
              </a:lnSpc>
              <a:buFont typeface="Arial" panose="020B0604020202020204" pitchFamily="34" charset="0"/>
              <a:buChar char="•"/>
            </a:pPr>
            <a:r>
              <a:rPr lang="en-GB" b="0" i="0" dirty="0">
                <a:effectLst/>
                <a:latin typeface="Times New Roman" panose="02020603050405020304" pitchFamily="18" charset="0"/>
                <a:cs typeface="Times New Roman" panose="02020603050405020304" pitchFamily="18" charset="0"/>
              </a:rPr>
              <a:t>To take use of high-performance computing resources, the LLM is being deployed on cloud-based GPUs (such as AWS, Google Cloud, or Azure). </a:t>
            </a:r>
            <a:endParaRPr lang="en-GB" dirty="0">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BA68DD30-8DD7-B474-038E-5F00F7C46B57}"/>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32146555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4649DA-128D-1362-1A32-5E21D68ACEF5}"/>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7C684B91-ACCD-753B-44A7-1F6823CA847C}"/>
              </a:ext>
            </a:extLst>
          </p:cNvPr>
          <p:cNvSpPr/>
          <p:nvPr/>
        </p:nvSpPr>
        <p:spPr>
          <a:xfrm>
            <a:off x="565977" y="856273"/>
            <a:ext cx="11187043" cy="5617966"/>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13910B58-7633-47C7-2B5D-2E85FE25809B}"/>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A473721D-8CF0-5DCA-DD8A-592680D1066B}"/>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9" name="TextBox 8">
            <a:extLst>
              <a:ext uri="{FF2B5EF4-FFF2-40B4-BE49-F238E27FC236}">
                <a16:creationId xmlns:a16="http://schemas.microsoft.com/office/drawing/2014/main" id="{51BB448B-2203-3B17-8F39-1CD272BB3D3F}"/>
              </a:ext>
            </a:extLst>
          </p:cNvPr>
          <p:cNvSpPr txBox="1"/>
          <p:nvPr/>
        </p:nvSpPr>
        <p:spPr>
          <a:xfrm>
            <a:off x="1875103" y="901990"/>
            <a:ext cx="8947589"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GB" sz="3200" b="1" dirty="0">
                <a:latin typeface="Times New Roman" panose="02020603050405020304" pitchFamily="18" charset="0"/>
                <a:cs typeface="Times New Roman" panose="02020603050405020304" pitchFamily="18" charset="0"/>
              </a:rPr>
              <a:t>PUBLICATION DETAILS </a:t>
            </a:r>
            <a:endParaRPr lang="en-US" sz="3000" dirty="0">
              <a:latin typeface="Times New Roman" panose="02020603050405020304" pitchFamily="18" charset="0"/>
              <a:cs typeface="Times New Roman" panose="02020603050405020304" pitchFamily="18" charset="0"/>
            </a:endParaRPr>
          </a:p>
        </p:txBody>
      </p:sp>
      <p:sp>
        <p:nvSpPr>
          <p:cNvPr id="7" name="Date Placeholder 6">
            <a:extLst>
              <a:ext uri="{FF2B5EF4-FFF2-40B4-BE49-F238E27FC236}">
                <a16:creationId xmlns:a16="http://schemas.microsoft.com/office/drawing/2014/main" id="{F46CB7F6-CF74-E55D-4301-ED5C261968EE}"/>
              </a:ext>
            </a:extLst>
          </p:cNvPr>
          <p:cNvSpPr>
            <a:spLocks noGrp="1"/>
          </p:cNvSpPr>
          <p:nvPr>
            <p:ph type="dt" sz="half" idx="10"/>
          </p:nvPr>
        </p:nvSpPr>
        <p:spPr/>
        <p:txBody>
          <a:bodyPr/>
          <a:lstStyle/>
          <a:p>
            <a:fld id="{D968DE35-5A63-4D32-B4FA-AAC33C743205}" type="datetime1">
              <a:rPr lang="en-US" smtClean="0"/>
              <a:t>4/21/2025</a:t>
            </a:fld>
            <a:endParaRPr lang="en-US"/>
          </a:p>
        </p:txBody>
      </p:sp>
      <p:sp>
        <p:nvSpPr>
          <p:cNvPr id="2" name="Slide Number Placeholder 1">
            <a:extLst>
              <a:ext uri="{FF2B5EF4-FFF2-40B4-BE49-F238E27FC236}">
                <a16:creationId xmlns:a16="http://schemas.microsoft.com/office/drawing/2014/main" id="{827E25AD-CD10-B65B-01ED-E9ADDA023A27}"/>
              </a:ext>
            </a:extLst>
          </p:cNvPr>
          <p:cNvSpPr>
            <a:spLocks noGrp="1"/>
          </p:cNvSpPr>
          <p:nvPr>
            <p:ph type="sldNum" sz="quarter" idx="12"/>
          </p:nvPr>
        </p:nvSpPr>
        <p:spPr/>
        <p:txBody>
          <a:bodyPr/>
          <a:lstStyle/>
          <a:p>
            <a:fld id="{48F63A3B-78C7-47BE-AE5E-E10140E04643}" type="slidenum">
              <a:rPr lang="en-US" dirty="0"/>
              <a:t>28</a:t>
            </a:fld>
            <a:endParaRPr lang="en-US"/>
          </a:p>
        </p:txBody>
      </p:sp>
      <p:pic>
        <p:nvPicPr>
          <p:cNvPr id="3" name="Picture 2" descr="A close-up of a logo&#10;&#10;AI-generated content may be incorrect.">
            <a:extLst>
              <a:ext uri="{FF2B5EF4-FFF2-40B4-BE49-F238E27FC236}">
                <a16:creationId xmlns:a16="http://schemas.microsoft.com/office/drawing/2014/main" id="{5591CB09-1344-FAAA-B169-C12D28BFE3AD}"/>
              </a:ext>
            </a:extLst>
          </p:cNvPr>
          <p:cNvPicPr>
            <a:picLocks noChangeAspect="1"/>
          </p:cNvPicPr>
          <p:nvPr/>
        </p:nvPicPr>
        <p:blipFill>
          <a:blip r:embed="rId2"/>
          <a:stretch>
            <a:fillRect/>
          </a:stretch>
        </p:blipFill>
        <p:spPr>
          <a:xfrm>
            <a:off x="1" y="54524"/>
            <a:ext cx="2503714" cy="621059"/>
          </a:xfrm>
          <a:prstGeom prst="rect">
            <a:avLst/>
          </a:prstGeom>
        </p:spPr>
      </p:pic>
      <p:sp>
        <p:nvSpPr>
          <p:cNvPr id="6" name="TextBox 5">
            <a:extLst>
              <a:ext uri="{FF2B5EF4-FFF2-40B4-BE49-F238E27FC236}">
                <a16:creationId xmlns:a16="http://schemas.microsoft.com/office/drawing/2014/main" id="{409BE53E-23E7-ADF6-A59D-235A4A8943BA}"/>
              </a:ext>
            </a:extLst>
          </p:cNvPr>
          <p:cNvSpPr txBox="1"/>
          <p:nvPr/>
        </p:nvSpPr>
        <p:spPr>
          <a:xfrm>
            <a:off x="903905" y="1462601"/>
            <a:ext cx="10677029" cy="1421992"/>
          </a:xfrm>
          <a:prstGeom prst="rect">
            <a:avLst/>
          </a:prstGeom>
          <a:noFill/>
        </p:spPr>
        <p:txBody>
          <a:bodyPr wrap="square">
            <a:spAutoFit/>
          </a:bodyPr>
          <a:lstStyle/>
          <a:p>
            <a:pPr algn="just" hangingPunct="0">
              <a:lnSpc>
                <a:spcPct val="150000"/>
              </a:lnSpc>
              <a:spcAft>
                <a:spcPts val="460"/>
              </a:spcAft>
              <a:tabLst>
                <a:tab pos="219075" algn="l"/>
              </a:tabLst>
            </a:pPr>
            <a:r>
              <a:rPr lang="en-GB" sz="2000" dirty="0">
                <a:solidFill>
                  <a:srgbClr val="00000A"/>
                </a:solidFill>
                <a:effectLst/>
                <a:latin typeface="Liberation Serif;Times New Roma"/>
                <a:ea typeface="Times New Roman" panose="02020603050405020304" pitchFamily="18" charset="0"/>
                <a:cs typeface="Liberation Serif;Times New Roma"/>
              </a:rPr>
              <a:t>[1]. 	 Akhil </a:t>
            </a:r>
            <a:r>
              <a:rPr lang="en-GB" sz="2000" dirty="0" err="1">
                <a:solidFill>
                  <a:srgbClr val="00000A"/>
                </a:solidFill>
                <a:effectLst/>
                <a:latin typeface="Liberation Serif;Times New Roma"/>
                <a:ea typeface="Times New Roman" panose="02020603050405020304" pitchFamily="18" charset="0"/>
                <a:cs typeface="Liberation Serif;Times New Roma"/>
              </a:rPr>
              <a:t>Swarop,S</a:t>
            </a:r>
            <a:r>
              <a:rPr lang="en-GB" sz="2000" dirty="0">
                <a:solidFill>
                  <a:srgbClr val="00000A"/>
                </a:solidFill>
                <a:effectLst/>
                <a:latin typeface="Liberation Serif;Times New Roma"/>
                <a:ea typeface="Times New Roman" panose="02020603050405020304" pitchFamily="18" charset="0"/>
                <a:cs typeface="Liberation Serif;Times New Roma"/>
              </a:rPr>
              <a:t>., </a:t>
            </a:r>
            <a:r>
              <a:rPr lang="en-GB" sz="2000" dirty="0" err="1">
                <a:solidFill>
                  <a:srgbClr val="00000A"/>
                </a:solidFill>
                <a:effectLst/>
                <a:latin typeface="Liberation Serif;Times New Roma"/>
                <a:ea typeface="Times New Roman" panose="02020603050405020304" pitchFamily="18" charset="0"/>
                <a:cs typeface="Liberation Serif;Times New Roma"/>
              </a:rPr>
              <a:t>Ganeshkaran,M</a:t>
            </a:r>
            <a:r>
              <a:rPr lang="en-GB" sz="2000" dirty="0">
                <a:solidFill>
                  <a:srgbClr val="00000A"/>
                </a:solidFill>
                <a:effectLst/>
                <a:latin typeface="Liberation Serif;Times New Roma"/>
                <a:ea typeface="Times New Roman" panose="02020603050405020304" pitchFamily="18" charset="0"/>
                <a:cs typeface="Liberation Serif;Times New Roma"/>
              </a:rPr>
              <a:t>., </a:t>
            </a:r>
            <a:r>
              <a:rPr lang="en-GB" sz="2000" dirty="0" err="1">
                <a:solidFill>
                  <a:srgbClr val="00000A"/>
                </a:solidFill>
                <a:effectLst/>
                <a:latin typeface="Liberation Serif;Times New Roma"/>
                <a:ea typeface="Times New Roman" panose="02020603050405020304" pitchFamily="18" charset="0"/>
                <a:cs typeface="Liberation Serif;Times New Roma"/>
              </a:rPr>
              <a:t>Hanish,K.R</a:t>
            </a:r>
            <a:r>
              <a:rPr lang="en-GB" sz="2000" dirty="0">
                <a:solidFill>
                  <a:srgbClr val="00000A"/>
                </a:solidFill>
                <a:effectLst/>
                <a:latin typeface="Liberation Serif;Times New Roma"/>
                <a:ea typeface="Times New Roman" panose="02020603050405020304" pitchFamily="18" charset="0"/>
                <a:cs typeface="Liberation Serif;Times New Roma"/>
              </a:rPr>
              <a:t>., Hidesh </a:t>
            </a:r>
            <a:r>
              <a:rPr lang="en-GB" sz="2000" dirty="0" err="1">
                <a:solidFill>
                  <a:srgbClr val="00000A"/>
                </a:solidFill>
                <a:effectLst/>
                <a:latin typeface="Liberation Serif;Times New Roma"/>
                <a:ea typeface="Times New Roman" panose="02020603050405020304" pitchFamily="18" charset="0"/>
                <a:cs typeface="Liberation Serif;Times New Roma"/>
              </a:rPr>
              <a:t>Balaji,C.U</a:t>
            </a:r>
            <a:r>
              <a:rPr lang="en-GB" sz="2000" dirty="0">
                <a:solidFill>
                  <a:srgbClr val="00000A"/>
                </a:solidFill>
                <a:effectLst/>
                <a:latin typeface="Liberation Serif;Times New Roma"/>
                <a:ea typeface="Times New Roman" panose="02020603050405020304" pitchFamily="18" charset="0"/>
                <a:cs typeface="Liberation Serif;Times New Roma"/>
              </a:rPr>
              <a:t>., </a:t>
            </a:r>
            <a:r>
              <a:rPr lang="en-GB" sz="2000" dirty="0" err="1">
                <a:solidFill>
                  <a:srgbClr val="00000A"/>
                </a:solidFill>
                <a:effectLst/>
                <a:latin typeface="Liberation Serif;Times New Roma"/>
                <a:ea typeface="Times New Roman" panose="02020603050405020304" pitchFamily="18" charset="0"/>
                <a:cs typeface="Liberation Serif;Times New Roma"/>
              </a:rPr>
              <a:t>Bindu,K.R</a:t>
            </a:r>
            <a:r>
              <a:rPr lang="en-GB" sz="2000" dirty="0">
                <a:solidFill>
                  <a:srgbClr val="00000A"/>
                </a:solidFill>
                <a:effectLst/>
                <a:latin typeface="Liberation Serif;Times New Roma"/>
                <a:ea typeface="Times New Roman" panose="02020603050405020304" pitchFamily="18" charset="0"/>
                <a:cs typeface="Liberation Serif;Times New Roma"/>
              </a:rPr>
              <a:t>. (2025). Enhancing Career Guidance for Students through Retrieval Augmented Generation. In 2025 8th International conference on Inventive Computation Technologies (ICICT 2025). IEEE. (Accepted)</a:t>
            </a:r>
            <a:endParaRPr lang="en-GB" sz="2000" dirty="0">
              <a:solidFill>
                <a:srgbClr val="00000A"/>
              </a:solidFill>
              <a:effectLst/>
              <a:latin typeface="Times New Roman" panose="02020603050405020304" pitchFamily="18" charset="0"/>
              <a:ea typeface="Times New Roman" panose="02020603050405020304" pitchFamily="18" charset="0"/>
            </a:endParaRPr>
          </a:p>
        </p:txBody>
      </p:sp>
      <p:sp>
        <p:nvSpPr>
          <p:cNvPr id="10" name="TextBox 9">
            <a:extLst>
              <a:ext uri="{FF2B5EF4-FFF2-40B4-BE49-F238E27FC236}">
                <a16:creationId xmlns:a16="http://schemas.microsoft.com/office/drawing/2014/main" id="{F196AC7A-AEC5-FDDE-03D7-5E35293A6503}"/>
              </a:ext>
            </a:extLst>
          </p:cNvPr>
          <p:cNvSpPr txBox="1"/>
          <p:nvPr/>
        </p:nvSpPr>
        <p:spPr>
          <a:xfrm>
            <a:off x="903905" y="3019566"/>
            <a:ext cx="6096912" cy="1289071"/>
          </a:xfrm>
          <a:prstGeom prst="rect">
            <a:avLst/>
          </a:prstGeom>
          <a:noFill/>
        </p:spPr>
        <p:txBody>
          <a:bodyPr wrap="square">
            <a:spAutoFit/>
          </a:bodyPr>
          <a:lstStyle/>
          <a:p>
            <a:pPr>
              <a:lnSpc>
                <a:spcPct val="150000"/>
              </a:lnSpc>
            </a:pPr>
            <a:r>
              <a:rPr lang="en-GB" sz="1800" dirty="0">
                <a:latin typeface="Times New Roman" panose="02020603050405020304" pitchFamily="18" charset="0"/>
                <a:cs typeface="Times New Roman" panose="02020603050405020304" pitchFamily="18" charset="0"/>
              </a:rPr>
              <a:t>Conference Name : </a:t>
            </a:r>
            <a:r>
              <a:rPr lang="en-GB" sz="1800" dirty="0">
                <a:latin typeface="Times New Roman" panose="02020603050405020304" pitchFamily="18" charset="0"/>
                <a:cs typeface="Times New Roman" panose="02020603050405020304" pitchFamily="18" charset="0"/>
                <a:hlinkClick r:id="rId3"/>
              </a:rPr>
              <a:t>ICICT 2025 </a:t>
            </a:r>
            <a:endParaRPr lang="en-GB" sz="1800" dirty="0">
              <a:latin typeface="Times New Roman" panose="02020603050405020304" pitchFamily="18" charset="0"/>
              <a:cs typeface="Times New Roman" panose="02020603050405020304" pitchFamily="18" charset="0"/>
            </a:endParaRPr>
          </a:p>
          <a:p>
            <a:pPr>
              <a:lnSpc>
                <a:spcPct val="150000"/>
              </a:lnSpc>
            </a:pPr>
            <a:r>
              <a:rPr lang="en-GB" sz="1800" dirty="0">
                <a:latin typeface="Times New Roman" panose="02020603050405020304" pitchFamily="18" charset="0"/>
                <a:cs typeface="Times New Roman" panose="02020603050405020304" pitchFamily="18" charset="0"/>
              </a:rPr>
              <a:t>Presentation Date: 25</a:t>
            </a:r>
            <a:r>
              <a:rPr lang="en-GB" sz="1800" baseline="30000" dirty="0">
                <a:latin typeface="Times New Roman" panose="02020603050405020304" pitchFamily="18" charset="0"/>
                <a:cs typeface="Times New Roman" panose="02020603050405020304" pitchFamily="18" charset="0"/>
              </a:rPr>
              <a:t>th</a:t>
            </a:r>
            <a:r>
              <a:rPr lang="en-GB" sz="1800" dirty="0">
                <a:latin typeface="Times New Roman" panose="02020603050405020304" pitchFamily="18" charset="0"/>
                <a:cs typeface="Times New Roman" panose="02020603050405020304" pitchFamily="18" charset="0"/>
              </a:rPr>
              <a:t> April, 2025</a:t>
            </a:r>
          </a:p>
          <a:p>
            <a:pPr>
              <a:lnSpc>
                <a:spcPct val="150000"/>
              </a:lnSpc>
            </a:pPr>
            <a:r>
              <a:rPr lang="en-GB" sz="1800" dirty="0">
                <a:latin typeface="Times New Roman" panose="02020603050405020304" pitchFamily="18" charset="0"/>
                <a:cs typeface="Times New Roman" panose="02020603050405020304" pitchFamily="18" charset="0"/>
              </a:rPr>
              <a:t>Status: Paper Accepted  </a:t>
            </a:r>
          </a:p>
        </p:txBody>
      </p:sp>
      <p:sp>
        <p:nvSpPr>
          <p:cNvPr id="12" name="TextBox 11">
            <a:extLst>
              <a:ext uri="{FF2B5EF4-FFF2-40B4-BE49-F238E27FC236}">
                <a16:creationId xmlns:a16="http://schemas.microsoft.com/office/drawing/2014/main" id="{43C8A51E-D1CC-2A3D-09E2-4B4408A3E5D4}"/>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24657324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9EAFEF31-79A4-C02E-AF74-118ECB6ABB5F}"/>
              </a:ext>
            </a:extLst>
          </p:cNvPr>
          <p:cNvSpPr/>
          <p:nvPr/>
        </p:nvSpPr>
        <p:spPr>
          <a:xfrm>
            <a:off x="565977" y="941033"/>
            <a:ext cx="11187043" cy="5533205"/>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4DFCAC29-7880-000E-6587-699F9A48E609}"/>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34858D91-A6E2-19BE-892E-F85A69FB6FBC}"/>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9" name="TextBox 8">
            <a:extLst>
              <a:ext uri="{FF2B5EF4-FFF2-40B4-BE49-F238E27FC236}">
                <a16:creationId xmlns:a16="http://schemas.microsoft.com/office/drawing/2014/main" id="{75360CB5-C725-807A-D25E-C29A3B74A0C2}"/>
              </a:ext>
            </a:extLst>
          </p:cNvPr>
          <p:cNvSpPr txBox="1"/>
          <p:nvPr/>
        </p:nvSpPr>
        <p:spPr>
          <a:xfrm>
            <a:off x="4765161" y="941033"/>
            <a:ext cx="2788673" cy="5539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000" b="1" dirty="0">
                <a:solidFill>
                  <a:srgbClr val="2E2E2E"/>
                </a:solidFill>
                <a:latin typeface="Times New Roman" panose="02020603050405020304" pitchFamily="18" charset="0"/>
                <a:ea typeface="Calibri"/>
                <a:cs typeface="Times New Roman" panose="02020603050405020304" pitchFamily="18" charset="0"/>
              </a:rPr>
              <a:t>REFERENCES</a:t>
            </a:r>
          </a:p>
        </p:txBody>
      </p:sp>
      <p:sp>
        <p:nvSpPr>
          <p:cNvPr id="7" name="Date Placeholder 6">
            <a:extLst>
              <a:ext uri="{FF2B5EF4-FFF2-40B4-BE49-F238E27FC236}">
                <a16:creationId xmlns:a16="http://schemas.microsoft.com/office/drawing/2014/main" id="{81A0BEC0-F1C7-070E-39DC-9124EB580AA0}"/>
              </a:ext>
            </a:extLst>
          </p:cNvPr>
          <p:cNvSpPr>
            <a:spLocks noGrp="1"/>
          </p:cNvSpPr>
          <p:nvPr>
            <p:ph type="dt" sz="half" idx="10"/>
          </p:nvPr>
        </p:nvSpPr>
        <p:spPr/>
        <p:txBody>
          <a:bodyPr/>
          <a:lstStyle/>
          <a:p>
            <a:fld id="{AFF006C1-EDEF-466F-BD78-B61FA5288B8D}" type="datetime1">
              <a:rPr lang="en-US" smtClean="0"/>
              <a:t>4/21/2025</a:t>
            </a:fld>
            <a:endParaRPr lang="en-US"/>
          </a:p>
        </p:txBody>
      </p:sp>
      <p:sp>
        <p:nvSpPr>
          <p:cNvPr id="8" name="Slide Number Placeholder 7">
            <a:extLst>
              <a:ext uri="{FF2B5EF4-FFF2-40B4-BE49-F238E27FC236}">
                <a16:creationId xmlns:a16="http://schemas.microsoft.com/office/drawing/2014/main" id="{B52CE33C-1664-0FFE-98C4-1E7B1324CF0E}"/>
              </a:ext>
            </a:extLst>
          </p:cNvPr>
          <p:cNvSpPr>
            <a:spLocks noGrp="1"/>
          </p:cNvSpPr>
          <p:nvPr>
            <p:ph type="sldNum" sz="quarter" idx="12"/>
          </p:nvPr>
        </p:nvSpPr>
        <p:spPr/>
        <p:txBody>
          <a:bodyPr/>
          <a:lstStyle/>
          <a:p>
            <a:fld id="{48F63A3B-78C7-47BE-AE5E-E10140E04643}" type="slidenum">
              <a:rPr lang="en-US" dirty="0"/>
              <a:t>29</a:t>
            </a:fld>
            <a:endParaRPr lang="en-US"/>
          </a:p>
        </p:txBody>
      </p:sp>
      <p:pic>
        <p:nvPicPr>
          <p:cNvPr id="2" name="Picture 1" descr="A close-up of a logo&#10;&#10;AI-generated content may be incorrect.">
            <a:extLst>
              <a:ext uri="{FF2B5EF4-FFF2-40B4-BE49-F238E27FC236}">
                <a16:creationId xmlns:a16="http://schemas.microsoft.com/office/drawing/2014/main" id="{61D426A9-613A-4C84-CD60-38DAE3C636D3}"/>
              </a:ext>
            </a:extLst>
          </p:cNvPr>
          <p:cNvPicPr>
            <a:picLocks noChangeAspect="1"/>
          </p:cNvPicPr>
          <p:nvPr/>
        </p:nvPicPr>
        <p:blipFill>
          <a:blip r:embed="rId2"/>
          <a:stretch>
            <a:fillRect/>
          </a:stretch>
        </p:blipFill>
        <p:spPr>
          <a:xfrm>
            <a:off x="1" y="54524"/>
            <a:ext cx="2503714" cy="621059"/>
          </a:xfrm>
          <a:prstGeom prst="rect">
            <a:avLst/>
          </a:prstGeom>
        </p:spPr>
      </p:pic>
      <p:sp>
        <p:nvSpPr>
          <p:cNvPr id="5" name="TextBox 4">
            <a:extLst>
              <a:ext uri="{FF2B5EF4-FFF2-40B4-BE49-F238E27FC236}">
                <a16:creationId xmlns:a16="http://schemas.microsoft.com/office/drawing/2014/main" id="{28984E3D-809F-D234-58B7-99544AF08670}"/>
              </a:ext>
            </a:extLst>
          </p:cNvPr>
          <p:cNvSpPr txBox="1"/>
          <p:nvPr/>
        </p:nvSpPr>
        <p:spPr>
          <a:xfrm>
            <a:off x="986286" y="1418668"/>
            <a:ext cx="10639737" cy="4962962"/>
          </a:xfrm>
          <a:prstGeom prst="rect">
            <a:avLst/>
          </a:prstGeom>
          <a:noFill/>
        </p:spPr>
        <p:txBody>
          <a:bodyPr wrap="square">
            <a:spAutoFit/>
          </a:bodyPr>
          <a:lstStyle/>
          <a:p>
            <a:pPr algn="just">
              <a:lnSpc>
                <a:spcPct val="150000"/>
              </a:lnSpc>
            </a:pPr>
            <a:r>
              <a:rPr lang="en-US" sz="1250" b="0" i="0" dirty="0">
                <a:solidFill>
                  <a:srgbClr val="222222"/>
                </a:solidFill>
                <a:effectLst/>
                <a:latin typeface="Times New Roman" panose="02020603050405020304" pitchFamily="18" charset="0"/>
                <a:cs typeface="Times New Roman" panose="02020603050405020304" pitchFamily="18" charset="0"/>
              </a:rPr>
              <a:t>[1] Sultan, N. A., &amp; Abdullah, D. B. (2022, August). Scraping google scholar    data using cloud computing techniques. In </a:t>
            </a:r>
            <a:r>
              <a:rPr lang="en-US" sz="1250" b="0" i="1" dirty="0">
                <a:solidFill>
                  <a:srgbClr val="222222"/>
                </a:solidFill>
                <a:effectLst/>
                <a:latin typeface="Times New Roman" panose="02020603050405020304" pitchFamily="18" charset="0"/>
                <a:cs typeface="Times New Roman" panose="02020603050405020304" pitchFamily="18" charset="0"/>
              </a:rPr>
              <a:t>2022 8th International Conference on Contemporary Information Technology and Mathematics (ICCITM)</a:t>
            </a:r>
            <a:r>
              <a:rPr lang="en-US" sz="1250" b="0" i="0" dirty="0">
                <a:solidFill>
                  <a:srgbClr val="222222"/>
                </a:solidFill>
                <a:effectLst/>
                <a:latin typeface="Times New Roman" panose="02020603050405020304" pitchFamily="18" charset="0"/>
                <a:cs typeface="Times New Roman" panose="02020603050405020304" pitchFamily="18" charset="0"/>
              </a:rPr>
              <a:t> (pp. 14-19). IEEE.</a:t>
            </a:r>
          </a:p>
          <a:p>
            <a:pPr algn="just">
              <a:lnSpc>
                <a:spcPct val="150000"/>
              </a:lnSpc>
            </a:pPr>
            <a:r>
              <a:rPr lang="en-US" sz="1250" b="0" i="0" dirty="0">
                <a:solidFill>
                  <a:srgbClr val="222222"/>
                </a:solidFill>
                <a:effectLst/>
                <a:latin typeface="Times New Roman" panose="02020603050405020304" pitchFamily="18" charset="0"/>
                <a:cs typeface="Times New Roman" panose="02020603050405020304" pitchFamily="18" charset="0"/>
              </a:rPr>
              <a:t>[2] Abisha, D., Keerthana, S., </a:t>
            </a:r>
            <a:r>
              <a:rPr lang="en-US" sz="1250" b="0" i="0" dirty="0" err="1">
                <a:solidFill>
                  <a:srgbClr val="222222"/>
                </a:solidFill>
                <a:effectLst/>
                <a:latin typeface="Times New Roman" panose="02020603050405020304" pitchFamily="18" charset="0"/>
                <a:cs typeface="Times New Roman" panose="02020603050405020304" pitchFamily="18" charset="0"/>
              </a:rPr>
              <a:t>Navedha</a:t>
            </a:r>
            <a:r>
              <a:rPr lang="en-US" sz="1250" b="0" i="0" dirty="0">
                <a:solidFill>
                  <a:srgbClr val="222222"/>
                </a:solidFill>
                <a:effectLst/>
                <a:latin typeface="Times New Roman" panose="02020603050405020304" pitchFamily="18" charset="0"/>
                <a:cs typeface="Times New Roman" panose="02020603050405020304" pitchFamily="18" charset="0"/>
              </a:rPr>
              <a:t> Evanjalin, R., Kavitha, K., Jothi Mary, S., &amp; Ramya, R. (2024, August). </a:t>
            </a:r>
            <a:r>
              <a:rPr lang="en-US" sz="1250" b="0" i="0" dirty="0" err="1">
                <a:solidFill>
                  <a:srgbClr val="222222"/>
                </a:solidFill>
                <a:effectLst/>
                <a:latin typeface="Times New Roman" panose="02020603050405020304" pitchFamily="18" charset="0"/>
                <a:cs typeface="Times New Roman" panose="02020603050405020304" pitchFamily="18" charset="0"/>
              </a:rPr>
              <a:t>Resspar</a:t>
            </a:r>
            <a:r>
              <a:rPr lang="en-US" sz="1250" b="0" i="0" dirty="0">
                <a:solidFill>
                  <a:srgbClr val="222222"/>
                </a:solidFill>
                <a:effectLst/>
                <a:latin typeface="Times New Roman" panose="02020603050405020304" pitchFamily="18" charset="0"/>
                <a:cs typeface="Times New Roman" panose="02020603050405020304" pitchFamily="18" charset="0"/>
              </a:rPr>
              <a:t>: AI-Driven Resume Parsing and Recruitment System using NLP and Generative AI. In </a:t>
            </a:r>
            <a:r>
              <a:rPr lang="en-US" sz="1250" b="0" i="1" dirty="0">
                <a:solidFill>
                  <a:srgbClr val="222222"/>
                </a:solidFill>
                <a:effectLst/>
                <a:latin typeface="Times New Roman" panose="02020603050405020304" pitchFamily="18" charset="0"/>
                <a:cs typeface="Times New Roman" panose="02020603050405020304" pitchFamily="18" charset="0"/>
              </a:rPr>
              <a:t>2024 Second International Conference on Intelligent Cyber Physical Systems and Internet of Things (</a:t>
            </a:r>
            <a:r>
              <a:rPr lang="en-US" sz="1250" b="0" i="1" dirty="0" err="1">
                <a:solidFill>
                  <a:srgbClr val="222222"/>
                </a:solidFill>
                <a:effectLst/>
                <a:latin typeface="Times New Roman" panose="02020603050405020304" pitchFamily="18" charset="0"/>
                <a:cs typeface="Times New Roman" panose="02020603050405020304" pitchFamily="18" charset="0"/>
              </a:rPr>
              <a:t>ICoICI</a:t>
            </a:r>
            <a:r>
              <a:rPr lang="en-US" sz="1250" b="0" i="1" dirty="0">
                <a:solidFill>
                  <a:srgbClr val="222222"/>
                </a:solidFill>
                <a:effectLst/>
                <a:latin typeface="Times New Roman" panose="02020603050405020304" pitchFamily="18" charset="0"/>
                <a:cs typeface="Times New Roman" panose="02020603050405020304" pitchFamily="18" charset="0"/>
              </a:rPr>
              <a:t>)</a:t>
            </a:r>
            <a:r>
              <a:rPr lang="en-US" sz="1250" b="0" i="0" dirty="0">
                <a:solidFill>
                  <a:srgbClr val="222222"/>
                </a:solidFill>
                <a:effectLst/>
                <a:latin typeface="Times New Roman" panose="02020603050405020304" pitchFamily="18" charset="0"/>
                <a:cs typeface="Times New Roman" panose="02020603050405020304" pitchFamily="18" charset="0"/>
              </a:rPr>
              <a:t> (pp. 1-6). IEEE..</a:t>
            </a:r>
            <a:endParaRPr lang="en-US" sz="1250" dirty="0">
              <a:solidFill>
                <a:srgbClr val="222222"/>
              </a:solidFill>
              <a:latin typeface="Times New Roman" panose="02020603050405020304" pitchFamily="18" charset="0"/>
              <a:cs typeface="Times New Roman" panose="02020603050405020304" pitchFamily="18" charset="0"/>
            </a:endParaRPr>
          </a:p>
          <a:p>
            <a:pPr algn="just">
              <a:lnSpc>
                <a:spcPct val="150000"/>
              </a:lnSpc>
            </a:pPr>
            <a:r>
              <a:rPr lang="en-US" sz="1250" b="0" i="0" dirty="0">
                <a:solidFill>
                  <a:srgbClr val="222222"/>
                </a:solidFill>
                <a:effectLst/>
                <a:latin typeface="Times New Roman" panose="02020603050405020304" pitchFamily="18" charset="0"/>
                <a:cs typeface="Times New Roman" panose="02020603050405020304" pitchFamily="18" charset="0"/>
              </a:rPr>
              <a:t>[3] Team, G., Riviere, M., Pathak, S., Sessa, P. G., Hardin, C., </a:t>
            </a:r>
            <a:r>
              <a:rPr lang="en-US" sz="1250" b="0" i="0" dirty="0" err="1">
                <a:solidFill>
                  <a:srgbClr val="222222"/>
                </a:solidFill>
                <a:effectLst/>
                <a:latin typeface="Times New Roman" panose="02020603050405020304" pitchFamily="18" charset="0"/>
                <a:cs typeface="Times New Roman" panose="02020603050405020304" pitchFamily="18" charset="0"/>
              </a:rPr>
              <a:t>Bhupatiraju</a:t>
            </a:r>
            <a:r>
              <a:rPr lang="en-US" sz="1250" b="0" i="0" dirty="0">
                <a:solidFill>
                  <a:srgbClr val="222222"/>
                </a:solidFill>
                <a:effectLst/>
                <a:latin typeface="Times New Roman" panose="02020603050405020304" pitchFamily="18" charset="0"/>
                <a:cs typeface="Times New Roman" panose="02020603050405020304" pitchFamily="18" charset="0"/>
              </a:rPr>
              <a:t>, S., ... &amp; Garg, S. (2024). Gemma 2: Improving open language models at a practical size. </a:t>
            </a:r>
            <a:r>
              <a:rPr lang="en-US" sz="1250" b="0" i="1" dirty="0" err="1">
                <a:solidFill>
                  <a:srgbClr val="222222"/>
                </a:solidFill>
                <a:effectLst/>
                <a:latin typeface="Times New Roman" panose="02020603050405020304" pitchFamily="18" charset="0"/>
                <a:cs typeface="Times New Roman" panose="02020603050405020304" pitchFamily="18" charset="0"/>
              </a:rPr>
              <a:t>arXiv</a:t>
            </a:r>
            <a:r>
              <a:rPr lang="en-US" sz="1250" b="0" i="1" dirty="0">
                <a:solidFill>
                  <a:srgbClr val="222222"/>
                </a:solidFill>
                <a:effectLst/>
                <a:latin typeface="Times New Roman" panose="02020603050405020304" pitchFamily="18" charset="0"/>
                <a:cs typeface="Times New Roman" panose="02020603050405020304" pitchFamily="18" charset="0"/>
              </a:rPr>
              <a:t> preprint arXiv:2408.00118</a:t>
            </a:r>
            <a:r>
              <a:rPr lang="en-US" sz="1250" b="0" i="0" dirty="0">
                <a:solidFill>
                  <a:srgbClr val="222222"/>
                </a:solidFill>
                <a:effectLst/>
                <a:latin typeface="Times New Roman" panose="02020603050405020304" pitchFamily="18" charset="0"/>
                <a:cs typeface="Times New Roman" panose="02020603050405020304" pitchFamily="18" charset="0"/>
              </a:rPr>
              <a:t>.</a:t>
            </a:r>
            <a:endParaRPr lang="en-US" sz="1250" dirty="0">
              <a:solidFill>
                <a:srgbClr val="222222"/>
              </a:solidFill>
              <a:latin typeface="Times New Roman" panose="02020603050405020304" pitchFamily="18" charset="0"/>
              <a:cs typeface="Times New Roman" panose="02020603050405020304" pitchFamily="18" charset="0"/>
            </a:endParaRPr>
          </a:p>
          <a:p>
            <a:pPr algn="just">
              <a:lnSpc>
                <a:spcPct val="150000"/>
              </a:lnSpc>
            </a:pPr>
            <a:r>
              <a:rPr lang="en-US" sz="1250" b="0" i="0" dirty="0">
                <a:solidFill>
                  <a:srgbClr val="222222"/>
                </a:solidFill>
                <a:effectLst/>
                <a:latin typeface="Times New Roman" panose="02020603050405020304" pitchFamily="18" charset="0"/>
                <a:cs typeface="Times New Roman" panose="02020603050405020304" pitchFamily="18" charset="0"/>
              </a:rPr>
              <a:t>[4] Bendi-</a:t>
            </a:r>
            <a:r>
              <a:rPr lang="en-US" sz="1250" b="0" i="0" dirty="0" err="1">
                <a:solidFill>
                  <a:srgbClr val="222222"/>
                </a:solidFill>
                <a:effectLst/>
                <a:latin typeface="Times New Roman" panose="02020603050405020304" pitchFamily="18" charset="0"/>
                <a:cs typeface="Times New Roman" panose="02020603050405020304" pitchFamily="18" charset="0"/>
              </a:rPr>
              <a:t>Ouis</a:t>
            </a:r>
            <a:r>
              <a:rPr lang="en-US" sz="1250" b="0" i="0" dirty="0">
                <a:solidFill>
                  <a:srgbClr val="222222"/>
                </a:solidFill>
                <a:effectLst/>
                <a:latin typeface="Times New Roman" panose="02020603050405020304" pitchFamily="18" charset="0"/>
                <a:cs typeface="Times New Roman" panose="02020603050405020304" pitchFamily="18" charset="0"/>
              </a:rPr>
              <a:t>, Y., </a:t>
            </a:r>
            <a:r>
              <a:rPr lang="en-US" sz="1250" b="0" i="0" dirty="0" err="1">
                <a:solidFill>
                  <a:srgbClr val="222222"/>
                </a:solidFill>
                <a:effectLst/>
                <a:latin typeface="Times New Roman" panose="02020603050405020304" pitchFamily="18" charset="0"/>
                <a:cs typeface="Times New Roman" panose="02020603050405020304" pitchFamily="18" charset="0"/>
              </a:rPr>
              <a:t>Dutartre</a:t>
            </a:r>
            <a:r>
              <a:rPr lang="en-US" sz="1250" b="0" i="0" dirty="0">
                <a:solidFill>
                  <a:srgbClr val="222222"/>
                </a:solidFill>
                <a:effectLst/>
                <a:latin typeface="Times New Roman" panose="02020603050405020304" pitchFamily="18" charset="0"/>
                <a:cs typeface="Times New Roman" panose="02020603050405020304" pitchFamily="18" charset="0"/>
              </a:rPr>
              <a:t>, D., &amp; </a:t>
            </a:r>
            <a:r>
              <a:rPr lang="en-US" sz="1250" b="0" i="0" dirty="0" err="1">
                <a:solidFill>
                  <a:srgbClr val="222222"/>
                </a:solidFill>
                <a:effectLst/>
                <a:latin typeface="Times New Roman" panose="02020603050405020304" pitchFamily="18" charset="0"/>
                <a:cs typeface="Times New Roman" panose="02020603050405020304" pitchFamily="18" charset="0"/>
              </a:rPr>
              <a:t>Hinaut</a:t>
            </a:r>
            <a:r>
              <a:rPr lang="en-US" sz="1250" b="0" i="0" dirty="0">
                <a:solidFill>
                  <a:srgbClr val="222222"/>
                </a:solidFill>
                <a:effectLst/>
                <a:latin typeface="Times New Roman" panose="02020603050405020304" pitchFamily="18" charset="0"/>
                <a:cs typeface="Times New Roman" panose="02020603050405020304" pitchFamily="18" charset="0"/>
              </a:rPr>
              <a:t>, X. (2024). Deploying Open-Source Large Language Models: A performance Analysis. </a:t>
            </a:r>
            <a:r>
              <a:rPr lang="en-US" sz="1250" b="0" i="1" dirty="0" err="1">
                <a:solidFill>
                  <a:srgbClr val="222222"/>
                </a:solidFill>
                <a:effectLst/>
                <a:latin typeface="Times New Roman" panose="02020603050405020304" pitchFamily="18" charset="0"/>
                <a:cs typeface="Times New Roman" panose="02020603050405020304" pitchFamily="18" charset="0"/>
              </a:rPr>
              <a:t>arXiv</a:t>
            </a:r>
            <a:r>
              <a:rPr lang="en-US" sz="1250" b="0" i="1" dirty="0">
                <a:solidFill>
                  <a:srgbClr val="222222"/>
                </a:solidFill>
                <a:effectLst/>
                <a:latin typeface="Times New Roman" panose="02020603050405020304" pitchFamily="18" charset="0"/>
                <a:cs typeface="Times New Roman" panose="02020603050405020304" pitchFamily="18" charset="0"/>
              </a:rPr>
              <a:t> preprint arXiv:2409.14887</a:t>
            </a:r>
            <a:r>
              <a:rPr lang="en-US" sz="1250" b="0" i="0" dirty="0">
                <a:solidFill>
                  <a:srgbClr val="222222"/>
                </a:solidFill>
                <a:effectLst/>
                <a:latin typeface="Times New Roman" panose="02020603050405020304" pitchFamily="18" charset="0"/>
                <a:cs typeface="Times New Roman" panose="02020603050405020304" pitchFamily="18" charset="0"/>
              </a:rPr>
              <a:t>.</a:t>
            </a:r>
            <a:endParaRPr lang="en-US" sz="1250" dirty="0">
              <a:solidFill>
                <a:srgbClr val="222222"/>
              </a:solidFill>
              <a:latin typeface="Times New Roman" panose="02020603050405020304" pitchFamily="18" charset="0"/>
              <a:cs typeface="Times New Roman" panose="02020603050405020304" pitchFamily="18" charset="0"/>
            </a:endParaRPr>
          </a:p>
          <a:p>
            <a:pPr lvl="0" hangingPunct="1">
              <a:lnSpc>
                <a:spcPct val="150000"/>
              </a:lnSpc>
            </a:pPr>
            <a:r>
              <a:rPr lang="en-US" sz="1250" b="0" dirty="0">
                <a:solidFill>
                  <a:srgbClr val="00000A"/>
                </a:solidFill>
                <a:effectLst/>
                <a:latin typeface="Times New Roman" panose="02020603050405020304" pitchFamily="18" charset="0"/>
                <a:ea typeface="Times New Roman" panose="02020603050405020304" pitchFamily="18" charset="0"/>
              </a:rPr>
              <a:t>[5] He, Z., Zhong, Z., Cai, T., Lee, J. D., &amp; He, D. (2023). Rest: Retrieval-based speculative decoding. </a:t>
            </a:r>
            <a:r>
              <a:rPr lang="en-US" sz="1250" b="0" i="1" dirty="0" err="1">
                <a:solidFill>
                  <a:srgbClr val="00000A"/>
                </a:solidFill>
                <a:effectLst/>
                <a:latin typeface="Times New Roman" panose="02020603050405020304" pitchFamily="18" charset="0"/>
                <a:ea typeface="Times New Roman" panose="02020603050405020304" pitchFamily="18" charset="0"/>
              </a:rPr>
              <a:t>arXiv</a:t>
            </a:r>
            <a:r>
              <a:rPr lang="en-US" sz="1250" b="0" i="1" dirty="0">
                <a:solidFill>
                  <a:srgbClr val="00000A"/>
                </a:solidFill>
                <a:effectLst/>
                <a:latin typeface="Times New Roman" panose="02020603050405020304" pitchFamily="18" charset="0"/>
                <a:ea typeface="Times New Roman" panose="02020603050405020304" pitchFamily="18" charset="0"/>
              </a:rPr>
              <a:t> preprint arXiv:2311.08252</a:t>
            </a:r>
            <a:r>
              <a:rPr lang="en-US" sz="1250" b="0" dirty="0">
                <a:solidFill>
                  <a:srgbClr val="00000A"/>
                </a:solidFill>
                <a:effectLst/>
                <a:latin typeface="Times New Roman" panose="02020603050405020304" pitchFamily="18" charset="0"/>
                <a:ea typeface="Times New Roman" panose="02020603050405020304" pitchFamily="18" charset="0"/>
              </a:rPr>
              <a:t>.</a:t>
            </a:r>
            <a:endParaRPr lang="en-GB" sz="1250" b="1" dirty="0">
              <a:solidFill>
                <a:srgbClr val="00000A"/>
              </a:solidFill>
              <a:effectLst/>
              <a:latin typeface="Times New Roman" panose="02020603050405020304" pitchFamily="18" charset="0"/>
              <a:ea typeface="Times New Roman" panose="02020603050405020304" pitchFamily="18" charset="0"/>
            </a:endParaRPr>
          </a:p>
          <a:p>
            <a:pPr lvl="0" hangingPunct="1">
              <a:lnSpc>
                <a:spcPct val="150000"/>
              </a:lnSpc>
            </a:pPr>
            <a:r>
              <a:rPr lang="en-US" sz="1250" b="0" dirty="0">
                <a:solidFill>
                  <a:srgbClr val="00000A"/>
                </a:solidFill>
                <a:effectLst/>
                <a:latin typeface="Times New Roman" panose="02020603050405020304" pitchFamily="18" charset="0"/>
                <a:ea typeface="Times New Roman" panose="02020603050405020304" pitchFamily="18" charset="0"/>
              </a:rPr>
              <a:t>[6] Wang, Z., Wu, J., Lai, Y., Zhang, C., &amp; Zhou, D. (2024). Seed:  Accelerating reasoning tree construction via scheduled speculative decoding. </a:t>
            </a:r>
            <a:r>
              <a:rPr lang="en-US" sz="1250" b="0" i="1" dirty="0" err="1">
                <a:solidFill>
                  <a:srgbClr val="00000A"/>
                </a:solidFill>
                <a:effectLst/>
                <a:latin typeface="Times New Roman" panose="02020603050405020304" pitchFamily="18" charset="0"/>
                <a:ea typeface="Times New Roman" panose="02020603050405020304" pitchFamily="18" charset="0"/>
              </a:rPr>
              <a:t>arXiv</a:t>
            </a:r>
            <a:r>
              <a:rPr lang="en-US" sz="1250" b="0" i="1" dirty="0">
                <a:solidFill>
                  <a:srgbClr val="00000A"/>
                </a:solidFill>
                <a:effectLst/>
                <a:latin typeface="Times New Roman" panose="02020603050405020304" pitchFamily="18" charset="0"/>
                <a:ea typeface="Times New Roman" panose="02020603050405020304" pitchFamily="18" charset="0"/>
              </a:rPr>
              <a:t> preprint arXiv:2406.18200</a:t>
            </a:r>
            <a:r>
              <a:rPr lang="en-US" sz="1250" b="0" dirty="0">
                <a:solidFill>
                  <a:srgbClr val="00000A"/>
                </a:solidFill>
                <a:effectLst/>
                <a:latin typeface="Times New Roman" panose="02020603050405020304" pitchFamily="18" charset="0"/>
                <a:ea typeface="Times New Roman" panose="02020603050405020304" pitchFamily="18" charset="0"/>
              </a:rPr>
              <a:t>.</a:t>
            </a:r>
            <a:endParaRPr lang="en-GB" sz="1250" b="1" dirty="0">
              <a:solidFill>
                <a:srgbClr val="00000A"/>
              </a:solidFill>
              <a:effectLst/>
              <a:latin typeface="Times New Roman" panose="02020603050405020304" pitchFamily="18" charset="0"/>
              <a:ea typeface="Times New Roman" panose="02020603050405020304" pitchFamily="18" charset="0"/>
            </a:endParaRPr>
          </a:p>
          <a:p>
            <a:pPr lvl="0" hangingPunct="1">
              <a:lnSpc>
                <a:spcPct val="150000"/>
              </a:lnSpc>
            </a:pPr>
            <a:r>
              <a:rPr lang="en-US" sz="1250" b="0" dirty="0">
                <a:solidFill>
                  <a:srgbClr val="00000A"/>
                </a:solidFill>
                <a:effectLst/>
                <a:latin typeface="Times New Roman" panose="02020603050405020304" pitchFamily="18" charset="0"/>
                <a:ea typeface="Times New Roman" panose="02020603050405020304" pitchFamily="18" charset="0"/>
              </a:rPr>
              <a:t>[7] Huang, K., Guo, X., &amp; Wang, M. (2024). </a:t>
            </a:r>
            <a:r>
              <a:rPr lang="en-US" sz="1250" b="0" dirty="0" err="1">
                <a:solidFill>
                  <a:srgbClr val="00000A"/>
                </a:solidFill>
                <a:effectLst/>
                <a:latin typeface="Times New Roman" panose="02020603050405020304" pitchFamily="18" charset="0"/>
                <a:ea typeface="Times New Roman" panose="02020603050405020304" pitchFamily="18" charset="0"/>
              </a:rPr>
              <a:t>Specdec</a:t>
            </a:r>
            <a:r>
              <a:rPr lang="en-US" sz="1250" b="0" dirty="0">
                <a:solidFill>
                  <a:srgbClr val="00000A"/>
                </a:solidFill>
                <a:effectLst/>
                <a:latin typeface="Times New Roman" panose="02020603050405020304" pitchFamily="18" charset="0"/>
                <a:ea typeface="Times New Roman" panose="02020603050405020304" pitchFamily="18" charset="0"/>
              </a:rPr>
              <a:t>++: Boosting speculative decoding via adaptive candidate lengths. </a:t>
            </a:r>
            <a:r>
              <a:rPr lang="en-US" sz="1250" b="0" i="1" dirty="0" err="1">
                <a:solidFill>
                  <a:srgbClr val="00000A"/>
                </a:solidFill>
                <a:effectLst/>
                <a:latin typeface="Times New Roman" panose="02020603050405020304" pitchFamily="18" charset="0"/>
                <a:ea typeface="Times New Roman" panose="02020603050405020304" pitchFamily="18" charset="0"/>
              </a:rPr>
              <a:t>arXiv</a:t>
            </a:r>
            <a:r>
              <a:rPr lang="en-US" sz="1250" b="0" i="1" dirty="0">
                <a:solidFill>
                  <a:srgbClr val="00000A"/>
                </a:solidFill>
                <a:effectLst/>
                <a:latin typeface="Times New Roman" panose="02020603050405020304" pitchFamily="18" charset="0"/>
                <a:ea typeface="Times New Roman" panose="02020603050405020304" pitchFamily="18" charset="0"/>
              </a:rPr>
              <a:t> preprint arXiv:2405.19715</a:t>
            </a:r>
            <a:r>
              <a:rPr lang="en-US" sz="1250" b="0" dirty="0">
                <a:solidFill>
                  <a:srgbClr val="00000A"/>
                </a:solidFill>
                <a:effectLst/>
                <a:latin typeface="Times New Roman" panose="02020603050405020304" pitchFamily="18" charset="0"/>
                <a:ea typeface="Times New Roman" panose="02020603050405020304" pitchFamily="18" charset="0"/>
              </a:rPr>
              <a:t>.</a:t>
            </a:r>
            <a:endParaRPr lang="en-GB" sz="1250" b="1" dirty="0">
              <a:solidFill>
                <a:srgbClr val="00000A"/>
              </a:solidFill>
              <a:effectLst/>
              <a:latin typeface="Times New Roman" panose="02020603050405020304" pitchFamily="18" charset="0"/>
              <a:ea typeface="Times New Roman" panose="02020603050405020304" pitchFamily="18" charset="0"/>
            </a:endParaRPr>
          </a:p>
          <a:p>
            <a:pPr lvl="0" hangingPunct="1">
              <a:lnSpc>
                <a:spcPct val="150000"/>
              </a:lnSpc>
            </a:pPr>
            <a:r>
              <a:rPr lang="en-US" sz="1250" b="0" dirty="0">
                <a:solidFill>
                  <a:srgbClr val="00000A"/>
                </a:solidFill>
                <a:effectLst/>
                <a:latin typeface="Times New Roman" panose="02020603050405020304" pitchFamily="18" charset="0"/>
                <a:ea typeface="Times New Roman" panose="02020603050405020304" pitchFamily="18" charset="0"/>
              </a:rPr>
              <a:t>[8] Rao, J., &amp; Lin, J. (2024). RAMO: Retrieval-Augmented Generation for Enhancing MOOCs Recommendations. </a:t>
            </a:r>
            <a:r>
              <a:rPr lang="en-US" sz="1250" b="0" i="1" dirty="0" err="1">
                <a:solidFill>
                  <a:srgbClr val="00000A"/>
                </a:solidFill>
                <a:effectLst/>
                <a:latin typeface="Times New Roman" panose="02020603050405020304" pitchFamily="18" charset="0"/>
                <a:ea typeface="Times New Roman" panose="02020603050405020304" pitchFamily="18" charset="0"/>
              </a:rPr>
              <a:t>arXiv</a:t>
            </a:r>
            <a:r>
              <a:rPr lang="en-US" sz="1250" b="0" i="1" dirty="0">
                <a:solidFill>
                  <a:srgbClr val="00000A"/>
                </a:solidFill>
                <a:effectLst/>
                <a:latin typeface="Times New Roman" panose="02020603050405020304" pitchFamily="18" charset="0"/>
                <a:ea typeface="Times New Roman" panose="02020603050405020304" pitchFamily="18" charset="0"/>
              </a:rPr>
              <a:t> preprint arXiv:2407.04925</a:t>
            </a:r>
            <a:r>
              <a:rPr lang="en-US" sz="1250" b="0" dirty="0">
                <a:solidFill>
                  <a:srgbClr val="00000A"/>
                </a:solidFill>
                <a:effectLst/>
                <a:latin typeface="Times New Roman" panose="02020603050405020304" pitchFamily="18" charset="0"/>
                <a:ea typeface="Times New Roman" panose="02020603050405020304" pitchFamily="18" charset="0"/>
              </a:rPr>
              <a:t>.</a:t>
            </a:r>
            <a:endParaRPr lang="en-GB" sz="1250" b="1" dirty="0">
              <a:solidFill>
                <a:srgbClr val="00000A"/>
              </a:solidFill>
              <a:effectLst/>
              <a:latin typeface="Times New Roman" panose="02020603050405020304" pitchFamily="18" charset="0"/>
              <a:ea typeface="Times New Roman" panose="02020603050405020304" pitchFamily="18" charset="0"/>
            </a:endParaRPr>
          </a:p>
          <a:p>
            <a:pPr lvl="0" hangingPunct="1">
              <a:lnSpc>
                <a:spcPct val="150000"/>
              </a:lnSpc>
            </a:pPr>
            <a:r>
              <a:rPr lang="en-US" sz="1250" b="0" dirty="0">
                <a:solidFill>
                  <a:srgbClr val="00000A"/>
                </a:solidFill>
                <a:effectLst/>
                <a:latin typeface="Times New Roman" panose="02020603050405020304" pitchFamily="18" charset="0"/>
                <a:ea typeface="Times New Roman" panose="02020603050405020304" pitchFamily="18" charset="0"/>
              </a:rPr>
              <a:t>[9] Ru, D., Qiu, L., Hu, X., Zhang, T., Shi, P., Chang, S., ... &amp; Zhang, Z. (2024). </a:t>
            </a:r>
            <a:r>
              <a:rPr lang="en-US" sz="1250" b="0" dirty="0" err="1">
                <a:solidFill>
                  <a:srgbClr val="00000A"/>
                </a:solidFill>
                <a:effectLst/>
                <a:latin typeface="Times New Roman" panose="02020603050405020304" pitchFamily="18" charset="0"/>
                <a:ea typeface="Times New Roman" panose="02020603050405020304" pitchFamily="18" charset="0"/>
              </a:rPr>
              <a:t>Ragchecker</a:t>
            </a:r>
            <a:r>
              <a:rPr lang="en-US" sz="1250" b="0" dirty="0">
                <a:solidFill>
                  <a:srgbClr val="00000A"/>
                </a:solidFill>
                <a:effectLst/>
                <a:latin typeface="Times New Roman" panose="02020603050405020304" pitchFamily="18" charset="0"/>
                <a:ea typeface="Times New Roman" panose="02020603050405020304" pitchFamily="18" charset="0"/>
              </a:rPr>
              <a:t>: A fine-grained framework for diagnosing retrieval-augmented generation. </a:t>
            </a:r>
            <a:r>
              <a:rPr lang="en-US" sz="1250" b="0" i="1" dirty="0">
                <a:solidFill>
                  <a:srgbClr val="00000A"/>
                </a:solidFill>
                <a:effectLst/>
                <a:latin typeface="Times New Roman" panose="02020603050405020304" pitchFamily="18" charset="0"/>
                <a:ea typeface="Times New Roman" panose="02020603050405020304" pitchFamily="18" charset="0"/>
              </a:rPr>
              <a:t>Advances in Neural Information Processing Systems</a:t>
            </a:r>
            <a:r>
              <a:rPr lang="en-US" sz="1250" b="0" dirty="0">
                <a:solidFill>
                  <a:srgbClr val="00000A"/>
                </a:solidFill>
                <a:effectLst/>
                <a:latin typeface="Times New Roman" panose="02020603050405020304" pitchFamily="18" charset="0"/>
                <a:ea typeface="Times New Roman" panose="02020603050405020304" pitchFamily="18" charset="0"/>
              </a:rPr>
              <a:t>, </a:t>
            </a:r>
            <a:r>
              <a:rPr lang="en-US" sz="1250" b="0" i="1" dirty="0">
                <a:solidFill>
                  <a:srgbClr val="00000A"/>
                </a:solidFill>
                <a:effectLst/>
                <a:latin typeface="Times New Roman" panose="02020603050405020304" pitchFamily="18" charset="0"/>
                <a:ea typeface="Times New Roman" panose="02020603050405020304" pitchFamily="18" charset="0"/>
              </a:rPr>
              <a:t>37</a:t>
            </a:r>
            <a:r>
              <a:rPr lang="en-US" sz="1250" b="0" dirty="0">
                <a:solidFill>
                  <a:srgbClr val="00000A"/>
                </a:solidFill>
                <a:effectLst/>
                <a:latin typeface="Times New Roman" panose="02020603050405020304" pitchFamily="18" charset="0"/>
                <a:ea typeface="Times New Roman" panose="02020603050405020304" pitchFamily="18" charset="0"/>
              </a:rPr>
              <a:t>, 21999-22027.</a:t>
            </a:r>
            <a:endParaRPr lang="en-GB" sz="1250" b="1" dirty="0">
              <a:solidFill>
                <a:srgbClr val="00000A"/>
              </a:solidFill>
              <a:latin typeface="Times New Roman" panose="02020603050405020304" pitchFamily="18" charset="0"/>
              <a:ea typeface="Times New Roman" panose="02020603050405020304" pitchFamily="18" charset="0"/>
            </a:endParaRPr>
          </a:p>
          <a:p>
            <a:pPr lvl="0" hangingPunct="1">
              <a:lnSpc>
                <a:spcPct val="150000"/>
              </a:lnSpc>
            </a:pPr>
            <a:r>
              <a:rPr lang="en-US" sz="1250" b="0" dirty="0">
                <a:solidFill>
                  <a:srgbClr val="00000A"/>
                </a:solidFill>
                <a:effectLst/>
                <a:latin typeface="Times New Roman" panose="02020603050405020304" pitchFamily="18" charset="0"/>
                <a:ea typeface="Times New Roman" panose="02020603050405020304" pitchFamily="18" charset="0"/>
              </a:rPr>
              <a:t>[10] Salemi, A., &amp; Zamani, H. (2024, July). Evaluating retrieval quality in retrieval-augmented generation. In </a:t>
            </a:r>
            <a:r>
              <a:rPr lang="en-US" sz="1250" b="0" i="1" dirty="0">
                <a:solidFill>
                  <a:srgbClr val="00000A"/>
                </a:solidFill>
                <a:effectLst/>
                <a:latin typeface="Times New Roman" panose="02020603050405020304" pitchFamily="18" charset="0"/>
                <a:ea typeface="Times New Roman" panose="02020603050405020304" pitchFamily="18" charset="0"/>
              </a:rPr>
              <a:t>Proceedings of the 47th International ACM SIGIR Conference on Research and Development in Information Retrieval</a:t>
            </a:r>
            <a:r>
              <a:rPr lang="en-US" sz="1250" b="0" dirty="0">
                <a:solidFill>
                  <a:srgbClr val="00000A"/>
                </a:solidFill>
                <a:effectLst/>
                <a:latin typeface="Times New Roman" panose="02020603050405020304" pitchFamily="18" charset="0"/>
                <a:ea typeface="Times New Roman" panose="02020603050405020304" pitchFamily="18" charset="0"/>
              </a:rPr>
              <a:t> (pp. 2395-2400).</a:t>
            </a:r>
            <a:endParaRPr lang="en-GB" sz="1250" b="1" dirty="0">
              <a:solidFill>
                <a:srgbClr val="00000A"/>
              </a:solidFill>
              <a:effectLst/>
              <a:latin typeface="Times New Roman" panose="02020603050405020304" pitchFamily="18" charset="0"/>
              <a:ea typeface="Times New Roman" panose="02020603050405020304" pitchFamily="18" charset="0"/>
            </a:endParaRPr>
          </a:p>
        </p:txBody>
      </p:sp>
      <p:sp>
        <p:nvSpPr>
          <p:cNvPr id="3" name="TextBox 2">
            <a:extLst>
              <a:ext uri="{FF2B5EF4-FFF2-40B4-BE49-F238E27FC236}">
                <a16:creationId xmlns:a16="http://schemas.microsoft.com/office/drawing/2014/main" id="{5EC5A2E5-DE57-9100-8765-49A17FECC6F0}"/>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10953013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855A9-B33B-BAFD-FCAE-108A7E436868}"/>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7599B415-503B-91CC-B856-054DEFEEBB43}"/>
              </a:ext>
            </a:extLst>
          </p:cNvPr>
          <p:cNvSpPr/>
          <p:nvPr/>
        </p:nvSpPr>
        <p:spPr>
          <a:xfrm>
            <a:off x="565977" y="941033"/>
            <a:ext cx="11187043" cy="5533205"/>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86B0EBC7-CDDA-32B7-B2D7-E29124C0494E}"/>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E49F64C4-23EF-99F2-8495-CBCBA947A9A3}"/>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9" name="TextBox 8">
            <a:extLst>
              <a:ext uri="{FF2B5EF4-FFF2-40B4-BE49-F238E27FC236}">
                <a16:creationId xmlns:a16="http://schemas.microsoft.com/office/drawing/2014/main" id="{04D8FE16-8D4E-153E-80E3-15A36FECE22D}"/>
              </a:ext>
            </a:extLst>
          </p:cNvPr>
          <p:cNvSpPr txBox="1"/>
          <p:nvPr/>
        </p:nvSpPr>
        <p:spPr>
          <a:xfrm>
            <a:off x="4765161" y="941033"/>
            <a:ext cx="2788673" cy="5539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000" b="1" dirty="0">
                <a:solidFill>
                  <a:srgbClr val="2E2E2E"/>
                </a:solidFill>
                <a:latin typeface="Times New Roman" panose="02020603050405020304" pitchFamily="18" charset="0"/>
                <a:ea typeface="Calibri"/>
                <a:cs typeface="Times New Roman" panose="02020603050405020304" pitchFamily="18" charset="0"/>
              </a:rPr>
              <a:t>REFERENCES</a:t>
            </a:r>
          </a:p>
        </p:txBody>
      </p:sp>
      <p:sp>
        <p:nvSpPr>
          <p:cNvPr id="7" name="Date Placeholder 6">
            <a:extLst>
              <a:ext uri="{FF2B5EF4-FFF2-40B4-BE49-F238E27FC236}">
                <a16:creationId xmlns:a16="http://schemas.microsoft.com/office/drawing/2014/main" id="{658E13A3-7778-D185-1B44-839A889AABB8}"/>
              </a:ext>
            </a:extLst>
          </p:cNvPr>
          <p:cNvSpPr>
            <a:spLocks noGrp="1"/>
          </p:cNvSpPr>
          <p:nvPr>
            <p:ph type="dt" sz="half" idx="10"/>
          </p:nvPr>
        </p:nvSpPr>
        <p:spPr/>
        <p:txBody>
          <a:bodyPr/>
          <a:lstStyle/>
          <a:p>
            <a:fld id="{AFF006C1-EDEF-466F-BD78-B61FA5288B8D}" type="datetime1">
              <a:rPr lang="en-US" smtClean="0"/>
              <a:t>4/21/2025</a:t>
            </a:fld>
            <a:endParaRPr lang="en-US"/>
          </a:p>
        </p:txBody>
      </p:sp>
      <p:sp>
        <p:nvSpPr>
          <p:cNvPr id="8" name="Slide Number Placeholder 7">
            <a:extLst>
              <a:ext uri="{FF2B5EF4-FFF2-40B4-BE49-F238E27FC236}">
                <a16:creationId xmlns:a16="http://schemas.microsoft.com/office/drawing/2014/main" id="{A96FF9F7-ED29-A37F-F137-9CCD0B28F4B5}"/>
              </a:ext>
            </a:extLst>
          </p:cNvPr>
          <p:cNvSpPr>
            <a:spLocks noGrp="1"/>
          </p:cNvSpPr>
          <p:nvPr>
            <p:ph type="sldNum" sz="quarter" idx="12"/>
          </p:nvPr>
        </p:nvSpPr>
        <p:spPr/>
        <p:txBody>
          <a:bodyPr/>
          <a:lstStyle/>
          <a:p>
            <a:fld id="{48F63A3B-78C7-47BE-AE5E-E10140E04643}" type="slidenum">
              <a:rPr lang="en-US" dirty="0"/>
              <a:t>30</a:t>
            </a:fld>
            <a:endParaRPr lang="en-US"/>
          </a:p>
        </p:txBody>
      </p:sp>
      <p:pic>
        <p:nvPicPr>
          <p:cNvPr id="2" name="Picture 1" descr="A close-up of a logo&#10;&#10;AI-generated content may be incorrect.">
            <a:extLst>
              <a:ext uri="{FF2B5EF4-FFF2-40B4-BE49-F238E27FC236}">
                <a16:creationId xmlns:a16="http://schemas.microsoft.com/office/drawing/2014/main" id="{2203B1AF-3F8F-1153-6BEA-C1844C35A447}"/>
              </a:ext>
            </a:extLst>
          </p:cNvPr>
          <p:cNvPicPr>
            <a:picLocks noChangeAspect="1"/>
          </p:cNvPicPr>
          <p:nvPr/>
        </p:nvPicPr>
        <p:blipFill>
          <a:blip r:embed="rId2"/>
          <a:stretch>
            <a:fillRect/>
          </a:stretch>
        </p:blipFill>
        <p:spPr>
          <a:xfrm>
            <a:off x="1" y="54524"/>
            <a:ext cx="2503714" cy="621059"/>
          </a:xfrm>
          <a:prstGeom prst="rect">
            <a:avLst/>
          </a:prstGeom>
        </p:spPr>
      </p:pic>
      <p:sp>
        <p:nvSpPr>
          <p:cNvPr id="5" name="TextBox 4">
            <a:extLst>
              <a:ext uri="{FF2B5EF4-FFF2-40B4-BE49-F238E27FC236}">
                <a16:creationId xmlns:a16="http://schemas.microsoft.com/office/drawing/2014/main" id="{34D61BF6-AD95-3B2A-2792-ACC8A02A95E7}"/>
              </a:ext>
            </a:extLst>
          </p:cNvPr>
          <p:cNvSpPr txBox="1"/>
          <p:nvPr/>
        </p:nvSpPr>
        <p:spPr>
          <a:xfrm>
            <a:off x="986286" y="1397567"/>
            <a:ext cx="10639737" cy="5104218"/>
          </a:xfrm>
          <a:prstGeom prst="rect">
            <a:avLst/>
          </a:prstGeom>
          <a:noFill/>
        </p:spPr>
        <p:txBody>
          <a:bodyPr wrap="square">
            <a:spAutoFit/>
          </a:bodyPr>
          <a:lstStyle/>
          <a:p>
            <a:pPr lvl="0" algn="just" hangingPunct="1">
              <a:lnSpc>
                <a:spcPct val="150000"/>
              </a:lnSpc>
            </a:pPr>
            <a:r>
              <a:rPr lang="en-US" sz="1150" b="0" dirty="0">
                <a:solidFill>
                  <a:srgbClr val="00000A"/>
                </a:solidFill>
                <a:effectLst/>
                <a:latin typeface="Times New Roman" panose="02020603050405020304" pitchFamily="18" charset="0"/>
                <a:ea typeface="Times New Roman" panose="02020603050405020304" pitchFamily="18" charset="0"/>
              </a:rPr>
              <a:t>[11] Wang, Y., Li, P., Sun, M., &amp; Liu, Y. (2023). Self-knowledge guided retrieval augmentation for large language models. </a:t>
            </a:r>
            <a:r>
              <a:rPr lang="en-US" sz="1150" b="0" i="1" dirty="0" err="1">
                <a:solidFill>
                  <a:srgbClr val="00000A"/>
                </a:solidFill>
                <a:effectLst/>
                <a:latin typeface="Times New Roman" panose="02020603050405020304" pitchFamily="18" charset="0"/>
                <a:ea typeface="Times New Roman" panose="02020603050405020304" pitchFamily="18" charset="0"/>
              </a:rPr>
              <a:t>arXiv</a:t>
            </a:r>
            <a:r>
              <a:rPr lang="en-US" sz="1150" b="0" i="1" dirty="0">
                <a:solidFill>
                  <a:srgbClr val="00000A"/>
                </a:solidFill>
                <a:effectLst/>
                <a:latin typeface="Times New Roman" panose="02020603050405020304" pitchFamily="18" charset="0"/>
                <a:ea typeface="Times New Roman" panose="02020603050405020304" pitchFamily="18" charset="0"/>
              </a:rPr>
              <a:t> preprint arXiv:2310.05002</a:t>
            </a:r>
            <a:r>
              <a:rPr lang="en-US" sz="1150" b="0" dirty="0">
                <a:solidFill>
                  <a:srgbClr val="00000A"/>
                </a:solidFill>
                <a:effectLst/>
                <a:latin typeface="Times New Roman" panose="02020603050405020304" pitchFamily="18" charset="0"/>
                <a:ea typeface="Times New Roman" panose="02020603050405020304" pitchFamily="18" charset="0"/>
              </a:rPr>
              <a:t>.</a:t>
            </a:r>
            <a:endParaRPr lang="en-GB" sz="1150" b="1" dirty="0">
              <a:solidFill>
                <a:srgbClr val="00000A"/>
              </a:solidFill>
              <a:effectLst/>
              <a:latin typeface="Times New Roman" panose="02020603050405020304" pitchFamily="18" charset="0"/>
              <a:ea typeface="Times New Roman" panose="02020603050405020304" pitchFamily="18" charset="0"/>
            </a:endParaRPr>
          </a:p>
          <a:p>
            <a:pPr lvl="0" algn="just" hangingPunct="1">
              <a:lnSpc>
                <a:spcPct val="150000"/>
              </a:lnSpc>
            </a:pPr>
            <a:r>
              <a:rPr lang="en-US" sz="1150" b="0" dirty="0">
                <a:solidFill>
                  <a:srgbClr val="00000A"/>
                </a:solidFill>
                <a:effectLst/>
                <a:latin typeface="Times New Roman" panose="02020603050405020304" pitchFamily="18" charset="0"/>
                <a:ea typeface="Times New Roman" panose="02020603050405020304" pitchFamily="18" charset="0"/>
              </a:rPr>
              <a:t>[12] Liu, Y., Yavuz, S., Meng, R., Radev, D., Xiong, C., &amp; Zhou, Y. (2022). Uni-parser: Unified semantic parser for question answering on knowledge base and database. </a:t>
            </a:r>
            <a:r>
              <a:rPr lang="en-US" sz="1150" b="0" i="1" dirty="0" err="1">
                <a:solidFill>
                  <a:srgbClr val="00000A"/>
                </a:solidFill>
                <a:effectLst/>
                <a:latin typeface="Times New Roman" panose="02020603050405020304" pitchFamily="18" charset="0"/>
                <a:ea typeface="Times New Roman" panose="02020603050405020304" pitchFamily="18" charset="0"/>
              </a:rPr>
              <a:t>arXiv</a:t>
            </a:r>
            <a:r>
              <a:rPr lang="en-US" sz="1150" b="0" i="1" dirty="0">
                <a:solidFill>
                  <a:srgbClr val="00000A"/>
                </a:solidFill>
                <a:effectLst/>
                <a:latin typeface="Times New Roman" panose="02020603050405020304" pitchFamily="18" charset="0"/>
                <a:ea typeface="Times New Roman" panose="02020603050405020304" pitchFamily="18" charset="0"/>
              </a:rPr>
              <a:t> preprint arXiv:2211.05165</a:t>
            </a:r>
            <a:r>
              <a:rPr lang="en-US" sz="1150" b="0" dirty="0">
                <a:solidFill>
                  <a:srgbClr val="00000A"/>
                </a:solidFill>
                <a:effectLst/>
                <a:latin typeface="Times New Roman" panose="02020603050405020304" pitchFamily="18" charset="0"/>
                <a:ea typeface="Times New Roman" panose="02020603050405020304" pitchFamily="18" charset="0"/>
              </a:rPr>
              <a:t>.</a:t>
            </a:r>
            <a:endParaRPr lang="en-GB" sz="1150" b="1" dirty="0">
              <a:solidFill>
                <a:srgbClr val="00000A"/>
              </a:solidFill>
              <a:effectLst/>
              <a:latin typeface="Times New Roman" panose="02020603050405020304" pitchFamily="18" charset="0"/>
              <a:ea typeface="Times New Roman" panose="02020603050405020304" pitchFamily="18" charset="0"/>
            </a:endParaRPr>
          </a:p>
          <a:p>
            <a:pPr lvl="0" algn="just" hangingPunct="1">
              <a:lnSpc>
                <a:spcPct val="150000"/>
              </a:lnSpc>
            </a:pPr>
            <a:r>
              <a:rPr lang="en-US" sz="1150" b="0" dirty="0">
                <a:solidFill>
                  <a:srgbClr val="00000A"/>
                </a:solidFill>
                <a:effectLst/>
                <a:latin typeface="Times New Roman" panose="02020603050405020304" pitchFamily="18" charset="0"/>
                <a:ea typeface="Times New Roman" panose="02020603050405020304" pitchFamily="18" charset="0"/>
              </a:rPr>
              <a:t>[13] Zhang, X., Wang, M., Yang, X., Wang, D., Feng, S., &amp; Zhang, Y. (2024). Hierarchical Retrieval-Augmented Generation Model with Rethink for Multi-hop Question Answering. </a:t>
            </a:r>
            <a:r>
              <a:rPr lang="en-US" sz="1150" b="0" i="1" dirty="0" err="1">
                <a:solidFill>
                  <a:srgbClr val="00000A"/>
                </a:solidFill>
                <a:effectLst/>
                <a:latin typeface="Times New Roman" panose="02020603050405020304" pitchFamily="18" charset="0"/>
                <a:ea typeface="Times New Roman" panose="02020603050405020304" pitchFamily="18" charset="0"/>
              </a:rPr>
              <a:t>arXiv</a:t>
            </a:r>
            <a:r>
              <a:rPr lang="en-US" sz="1150" b="0" i="1" dirty="0">
                <a:solidFill>
                  <a:srgbClr val="00000A"/>
                </a:solidFill>
                <a:effectLst/>
                <a:latin typeface="Times New Roman" panose="02020603050405020304" pitchFamily="18" charset="0"/>
                <a:ea typeface="Times New Roman" panose="02020603050405020304" pitchFamily="18" charset="0"/>
              </a:rPr>
              <a:t> preprint arXiv:2408.11875</a:t>
            </a:r>
            <a:r>
              <a:rPr lang="en-US" sz="1150" b="0" dirty="0">
                <a:solidFill>
                  <a:srgbClr val="00000A"/>
                </a:solidFill>
                <a:effectLst/>
                <a:latin typeface="Times New Roman" panose="02020603050405020304" pitchFamily="18" charset="0"/>
                <a:ea typeface="Times New Roman" panose="02020603050405020304" pitchFamily="18" charset="0"/>
              </a:rPr>
              <a:t>.</a:t>
            </a:r>
            <a:endParaRPr lang="en-GB" sz="1150" b="1" dirty="0">
              <a:solidFill>
                <a:srgbClr val="00000A"/>
              </a:solidFill>
              <a:effectLst/>
              <a:latin typeface="Times New Roman" panose="02020603050405020304" pitchFamily="18" charset="0"/>
              <a:ea typeface="Times New Roman" panose="02020603050405020304" pitchFamily="18" charset="0"/>
            </a:endParaRPr>
          </a:p>
          <a:p>
            <a:pPr lvl="0" algn="just" hangingPunct="1">
              <a:lnSpc>
                <a:spcPct val="150000"/>
              </a:lnSpc>
            </a:pPr>
            <a:r>
              <a:rPr lang="en-US" sz="1150" b="0" dirty="0">
                <a:solidFill>
                  <a:srgbClr val="00000A"/>
                </a:solidFill>
                <a:effectLst/>
                <a:latin typeface="Times New Roman" panose="02020603050405020304" pitchFamily="18" charset="0"/>
                <a:ea typeface="Times New Roman" panose="02020603050405020304" pitchFamily="18" charset="0"/>
              </a:rPr>
              <a:t>[14] </a:t>
            </a:r>
            <a:r>
              <a:rPr lang="en-US" sz="1150" b="0" dirty="0" err="1">
                <a:solidFill>
                  <a:srgbClr val="00000A"/>
                </a:solidFill>
                <a:effectLst/>
                <a:latin typeface="Times New Roman" panose="02020603050405020304" pitchFamily="18" charset="0"/>
                <a:ea typeface="Times New Roman" panose="02020603050405020304" pitchFamily="18" charset="0"/>
              </a:rPr>
              <a:t>Thway</a:t>
            </a:r>
            <a:r>
              <a:rPr lang="en-US" sz="1150" b="0" dirty="0">
                <a:solidFill>
                  <a:srgbClr val="00000A"/>
                </a:solidFill>
                <a:effectLst/>
                <a:latin typeface="Times New Roman" panose="02020603050405020304" pitchFamily="18" charset="0"/>
                <a:ea typeface="Times New Roman" panose="02020603050405020304" pitchFamily="18" charset="0"/>
              </a:rPr>
              <a:t>, M., </a:t>
            </a:r>
            <a:r>
              <a:rPr lang="en-US" sz="1150" b="0" dirty="0" err="1">
                <a:solidFill>
                  <a:srgbClr val="00000A"/>
                </a:solidFill>
                <a:effectLst/>
                <a:latin typeface="Times New Roman" panose="02020603050405020304" pitchFamily="18" charset="0"/>
                <a:ea typeface="Times New Roman" panose="02020603050405020304" pitchFamily="18" charset="0"/>
              </a:rPr>
              <a:t>Recatala</a:t>
            </a:r>
            <a:r>
              <a:rPr lang="en-US" sz="1150" b="0" dirty="0">
                <a:solidFill>
                  <a:srgbClr val="00000A"/>
                </a:solidFill>
                <a:effectLst/>
                <a:latin typeface="Times New Roman" panose="02020603050405020304" pitchFamily="18" charset="0"/>
                <a:ea typeface="Times New Roman" panose="02020603050405020304" pitchFamily="18" charset="0"/>
              </a:rPr>
              <a:t>-Gomez, J., Lim, F. S., </a:t>
            </a:r>
            <a:r>
              <a:rPr lang="en-US" sz="1150" b="0" dirty="0" err="1">
                <a:solidFill>
                  <a:srgbClr val="00000A"/>
                </a:solidFill>
                <a:effectLst/>
                <a:latin typeface="Times New Roman" panose="02020603050405020304" pitchFamily="18" charset="0"/>
                <a:ea typeface="Times New Roman" panose="02020603050405020304" pitchFamily="18" charset="0"/>
              </a:rPr>
              <a:t>Hippalgaonkar</a:t>
            </a:r>
            <a:r>
              <a:rPr lang="en-US" sz="1150" b="0" dirty="0">
                <a:solidFill>
                  <a:srgbClr val="00000A"/>
                </a:solidFill>
                <a:effectLst/>
                <a:latin typeface="Times New Roman" panose="02020603050405020304" pitchFamily="18" charset="0"/>
                <a:ea typeface="Times New Roman" panose="02020603050405020304" pitchFamily="18" charset="0"/>
              </a:rPr>
              <a:t>, K., &amp; Ng, L. W. (2024). Battling </a:t>
            </a:r>
            <a:r>
              <a:rPr lang="en-US" sz="1150" b="0" dirty="0" err="1">
                <a:solidFill>
                  <a:srgbClr val="00000A"/>
                </a:solidFill>
                <a:effectLst/>
                <a:latin typeface="Times New Roman" panose="02020603050405020304" pitchFamily="18" charset="0"/>
                <a:ea typeface="Times New Roman" panose="02020603050405020304" pitchFamily="18" charset="0"/>
              </a:rPr>
              <a:t>Botpoop</a:t>
            </a:r>
            <a:r>
              <a:rPr lang="en-US" sz="1150" b="0" dirty="0">
                <a:solidFill>
                  <a:srgbClr val="00000A"/>
                </a:solidFill>
                <a:effectLst/>
                <a:latin typeface="Times New Roman" panose="02020603050405020304" pitchFamily="18" charset="0"/>
                <a:ea typeface="Times New Roman" panose="02020603050405020304" pitchFamily="18" charset="0"/>
              </a:rPr>
              <a:t> using GenAI for higher education: A study of a retrieval augmented generation chatbots impact on learning. </a:t>
            </a:r>
            <a:r>
              <a:rPr lang="en-US" sz="1150" b="0" i="1" dirty="0" err="1">
                <a:solidFill>
                  <a:srgbClr val="00000A"/>
                </a:solidFill>
                <a:effectLst/>
                <a:latin typeface="Times New Roman" panose="02020603050405020304" pitchFamily="18" charset="0"/>
                <a:ea typeface="Times New Roman" panose="02020603050405020304" pitchFamily="18" charset="0"/>
              </a:rPr>
              <a:t>arXiv</a:t>
            </a:r>
            <a:r>
              <a:rPr lang="en-US" sz="1150" b="0" i="1" dirty="0">
                <a:solidFill>
                  <a:srgbClr val="00000A"/>
                </a:solidFill>
                <a:effectLst/>
                <a:latin typeface="Times New Roman" panose="02020603050405020304" pitchFamily="18" charset="0"/>
                <a:ea typeface="Times New Roman" panose="02020603050405020304" pitchFamily="18" charset="0"/>
              </a:rPr>
              <a:t> preprint arXiv:2406.07796</a:t>
            </a:r>
            <a:r>
              <a:rPr lang="en-US" sz="1150" b="0" dirty="0">
                <a:solidFill>
                  <a:srgbClr val="00000A"/>
                </a:solidFill>
                <a:effectLst/>
                <a:latin typeface="Times New Roman" panose="02020603050405020304" pitchFamily="18" charset="0"/>
                <a:ea typeface="Times New Roman" panose="02020603050405020304" pitchFamily="18" charset="0"/>
              </a:rPr>
              <a:t>.</a:t>
            </a:r>
            <a:endParaRPr lang="en-GB" sz="1150" b="1" dirty="0">
              <a:solidFill>
                <a:srgbClr val="00000A"/>
              </a:solidFill>
              <a:effectLst/>
              <a:latin typeface="Times New Roman" panose="02020603050405020304" pitchFamily="18" charset="0"/>
              <a:ea typeface="Times New Roman" panose="02020603050405020304" pitchFamily="18" charset="0"/>
            </a:endParaRPr>
          </a:p>
          <a:p>
            <a:pPr lvl="0" algn="just" hangingPunct="1">
              <a:lnSpc>
                <a:spcPct val="150000"/>
              </a:lnSpc>
            </a:pPr>
            <a:r>
              <a:rPr lang="en-US" sz="1150" b="0" dirty="0">
                <a:solidFill>
                  <a:srgbClr val="00000A"/>
                </a:solidFill>
                <a:effectLst/>
                <a:latin typeface="Times New Roman" panose="02020603050405020304" pitchFamily="18" charset="0"/>
                <a:ea typeface="Times New Roman" panose="02020603050405020304" pitchFamily="18" charset="0"/>
              </a:rPr>
              <a:t>[15] Joshi, P., Gupta, A., Kumar, P., &amp; Sisodia, M. (2024, June). Robust multi model rag pipeline for documents containing text, table &amp; images. In </a:t>
            </a:r>
            <a:r>
              <a:rPr lang="en-US" sz="1150" b="0" i="1" dirty="0">
                <a:solidFill>
                  <a:srgbClr val="00000A"/>
                </a:solidFill>
                <a:effectLst/>
                <a:latin typeface="Times New Roman" panose="02020603050405020304" pitchFamily="18" charset="0"/>
                <a:ea typeface="Times New Roman" panose="02020603050405020304" pitchFamily="18" charset="0"/>
              </a:rPr>
              <a:t>2024 3rd International Conference on Applied Artificial Intelligence and Computing (ICAAIC)</a:t>
            </a:r>
            <a:r>
              <a:rPr lang="en-US" sz="1150" b="0" dirty="0">
                <a:solidFill>
                  <a:srgbClr val="00000A"/>
                </a:solidFill>
                <a:effectLst/>
                <a:latin typeface="Times New Roman" panose="02020603050405020304" pitchFamily="18" charset="0"/>
                <a:ea typeface="Times New Roman" panose="02020603050405020304" pitchFamily="18" charset="0"/>
              </a:rPr>
              <a:t> (pp. 993-999). IEEE.</a:t>
            </a:r>
            <a:endParaRPr lang="en-GB" sz="1150" b="1" dirty="0">
              <a:solidFill>
                <a:srgbClr val="00000A"/>
              </a:solidFill>
              <a:effectLst/>
              <a:latin typeface="Times New Roman" panose="02020603050405020304" pitchFamily="18" charset="0"/>
              <a:ea typeface="Times New Roman" panose="02020603050405020304" pitchFamily="18" charset="0"/>
            </a:endParaRPr>
          </a:p>
          <a:p>
            <a:pPr lvl="0" algn="just" hangingPunct="1">
              <a:lnSpc>
                <a:spcPct val="150000"/>
              </a:lnSpc>
            </a:pPr>
            <a:r>
              <a:rPr lang="en-US" sz="1150" b="0" dirty="0">
                <a:solidFill>
                  <a:srgbClr val="00000A"/>
                </a:solidFill>
                <a:effectLst/>
                <a:latin typeface="Times New Roman" panose="02020603050405020304" pitchFamily="18" charset="0"/>
                <a:ea typeface="Times New Roman" panose="02020603050405020304" pitchFamily="18" charset="0"/>
              </a:rPr>
              <a:t>[16] </a:t>
            </a:r>
            <a:r>
              <a:rPr lang="en-US" sz="1150" b="0" dirty="0" err="1">
                <a:solidFill>
                  <a:srgbClr val="00000A"/>
                </a:solidFill>
                <a:effectLst/>
                <a:latin typeface="Times New Roman" panose="02020603050405020304" pitchFamily="18" charset="0"/>
                <a:ea typeface="Times New Roman" panose="02020603050405020304" pitchFamily="18" charset="0"/>
              </a:rPr>
              <a:t>Stanchev</a:t>
            </a:r>
            <a:r>
              <a:rPr lang="en-US" sz="1150" b="0" dirty="0">
                <a:solidFill>
                  <a:srgbClr val="00000A"/>
                </a:solidFill>
                <a:effectLst/>
                <a:latin typeface="Times New Roman" panose="02020603050405020304" pitchFamily="18" charset="0"/>
                <a:ea typeface="Times New Roman" panose="02020603050405020304" pitchFamily="18" charset="0"/>
              </a:rPr>
              <a:t>, L. (2015, February). Semantic search using a similarity graph. In </a:t>
            </a:r>
            <a:r>
              <a:rPr lang="en-US" sz="1150" b="0" i="1" dirty="0">
                <a:solidFill>
                  <a:srgbClr val="00000A"/>
                </a:solidFill>
                <a:effectLst/>
                <a:latin typeface="Times New Roman" panose="02020603050405020304" pitchFamily="18" charset="0"/>
                <a:ea typeface="Times New Roman" panose="02020603050405020304" pitchFamily="18" charset="0"/>
              </a:rPr>
              <a:t>Proceedings of the 2015 IEEE 9th International Conference on Semantic Computing (IEEE ICSC 2015)</a:t>
            </a:r>
            <a:r>
              <a:rPr lang="en-US" sz="1150" b="0" dirty="0">
                <a:solidFill>
                  <a:srgbClr val="00000A"/>
                </a:solidFill>
                <a:effectLst/>
                <a:latin typeface="Times New Roman" panose="02020603050405020304" pitchFamily="18" charset="0"/>
                <a:ea typeface="Times New Roman" panose="02020603050405020304" pitchFamily="18" charset="0"/>
              </a:rPr>
              <a:t> (pp. 93-100). IEEE.</a:t>
            </a:r>
            <a:endParaRPr lang="en-GB" sz="1150" b="1" dirty="0">
              <a:solidFill>
                <a:srgbClr val="00000A"/>
              </a:solidFill>
              <a:effectLst/>
              <a:latin typeface="Times New Roman" panose="02020603050405020304" pitchFamily="18" charset="0"/>
              <a:ea typeface="Times New Roman" panose="02020603050405020304" pitchFamily="18" charset="0"/>
            </a:endParaRPr>
          </a:p>
          <a:p>
            <a:pPr lvl="0" algn="just" hangingPunct="1">
              <a:lnSpc>
                <a:spcPct val="150000"/>
              </a:lnSpc>
            </a:pPr>
            <a:r>
              <a:rPr lang="en-US" sz="1150" b="0" dirty="0">
                <a:solidFill>
                  <a:srgbClr val="00000A"/>
                </a:solidFill>
                <a:effectLst/>
                <a:latin typeface="Times New Roman" panose="02020603050405020304" pitchFamily="18" charset="0"/>
                <a:ea typeface="Times New Roman" panose="02020603050405020304" pitchFamily="18" charset="0"/>
              </a:rPr>
              <a:t>[17] Abisha, D., Keerthana, S., </a:t>
            </a:r>
            <a:r>
              <a:rPr lang="en-US" sz="1150" b="0" dirty="0" err="1">
                <a:solidFill>
                  <a:srgbClr val="00000A"/>
                </a:solidFill>
                <a:effectLst/>
                <a:latin typeface="Times New Roman" panose="02020603050405020304" pitchFamily="18" charset="0"/>
                <a:ea typeface="Times New Roman" panose="02020603050405020304" pitchFamily="18" charset="0"/>
              </a:rPr>
              <a:t>Navedha</a:t>
            </a:r>
            <a:r>
              <a:rPr lang="en-US" sz="1150" b="0" dirty="0">
                <a:solidFill>
                  <a:srgbClr val="00000A"/>
                </a:solidFill>
                <a:effectLst/>
                <a:latin typeface="Times New Roman" panose="02020603050405020304" pitchFamily="18" charset="0"/>
                <a:ea typeface="Times New Roman" panose="02020603050405020304" pitchFamily="18" charset="0"/>
              </a:rPr>
              <a:t> Evanjalin, R., Kavitha, K., Jothi Mary, S., &amp; Ramya, R. (2024, August). </a:t>
            </a:r>
            <a:r>
              <a:rPr lang="en-US" sz="1150" b="0" dirty="0" err="1">
                <a:solidFill>
                  <a:srgbClr val="00000A"/>
                </a:solidFill>
                <a:effectLst/>
                <a:latin typeface="Times New Roman" panose="02020603050405020304" pitchFamily="18" charset="0"/>
                <a:ea typeface="Times New Roman" panose="02020603050405020304" pitchFamily="18" charset="0"/>
              </a:rPr>
              <a:t>Resspar</a:t>
            </a:r>
            <a:r>
              <a:rPr lang="en-US" sz="1150" b="0" dirty="0">
                <a:solidFill>
                  <a:srgbClr val="00000A"/>
                </a:solidFill>
                <a:effectLst/>
                <a:latin typeface="Times New Roman" panose="02020603050405020304" pitchFamily="18" charset="0"/>
                <a:ea typeface="Times New Roman" panose="02020603050405020304" pitchFamily="18" charset="0"/>
              </a:rPr>
              <a:t>: AI-Driven Resume Parsing and Recruitment System using NLP and Generative AI. In </a:t>
            </a:r>
            <a:r>
              <a:rPr lang="en-US" sz="1150" b="0" i="1" dirty="0">
                <a:solidFill>
                  <a:srgbClr val="00000A"/>
                </a:solidFill>
                <a:effectLst/>
                <a:latin typeface="Times New Roman" panose="02020603050405020304" pitchFamily="18" charset="0"/>
                <a:ea typeface="Times New Roman" panose="02020603050405020304" pitchFamily="18" charset="0"/>
              </a:rPr>
              <a:t>2024 Second International Conference on Intelligent Cyber Physical Systems and Internet of Things (</a:t>
            </a:r>
            <a:r>
              <a:rPr lang="en-US" sz="1150" b="0" i="1" dirty="0" err="1">
                <a:solidFill>
                  <a:srgbClr val="00000A"/>
                </a:solidFill>
                <a:effectLst/>
                <a:latin typeface="Times New Roman" panose="02020603050405020304" pitchFamily="18" charset="0"/>
                <a:ea typeface="Times New Roman" panose="02020603050405020304" pitchFamily="18" charset="0"/>
              </a:rPr>
              <a:t>ICoICI</a:t>
            </a:r>
            <a:r>
              <a:rPr lang="en-US" sz="1150" b="0" i="1" dirty="0">
                <a:solidFill>
                  <a:srgbClr val="00000A"/>
                </a:solidFill>
                <a:effectLst/>
                <a:latin typeface="Times New Roman" panose="02020603050405020304" pitchFamily="18" charset="0"/>
                <a:ea typeface="Times New Roman" panose="02020603050405020304" pitchFamily="18" charset="0"/>
              </a:rPr>
              <a:t>)</a:t>
            </a:r>
            <a:r>
              <a:rPr lang="en-US" sz="1150" b="0" dirty="0">
                <a:solidFill>
                  <a:srgbClr val="00000A"/>
                </a:solidFill>
                <a:effectLst/>
                <a:latin typeface="Times New Roman" panose="02020603050405020304" pitchFamily="18" charset="0"/>
                <a:ea typeface="Times New Roman" panose="02020603050405020304" pitchFamily="18" charset="0"/>
              </a:rPr>
              <a:t> (pp. 1-6). IEEE.</a:t>
            </a:r>
            <a:endParaRPr lang="en-GB" sz="1150" b="1" dirty="0">
              <a:solidFill>
                <a:srgbClr val="00000A"/>
              </a:solidFill>
              <a:effectLst/>
              <a:latin typeface="Times New Roman" panose="02020603050405020304" pitchFamily="18" charset="0"/>
              <a:ea typeface="Times New Roman" panose="02020603050405020304" pitchFamily="18" charset="0"/>
            </a:endParaRPr>
          </a:p>
          <a:p>
            <a:pPr lvl="0" algn="just" hangingPunct="1">
              <a:lnSpc>
                <a:spcPct val="150000"/>
              </a:lnSpc>
            </a:pPr>
            <a:r>
              <a:rPr lang="en-US" sz="1150" b="0" dirty="0">
                <a:solidFill>
                  <a:srgbClr val="00000A"/>
                </a:solidFill>
                <a:effectLst/>
                <a:latin typeface="Times New Roman" panose="02020603050405020304" pitchFamily="18" charset="0"/>
                <a:ea typeface="Times New Roman" panose="02020603050405020304" pitchFamily="18" charset="0"/>
              </a:rPr>
              <a:t>[18] Yang, Y., Li, Z., Dong, Q., Xia, H., &amp; Sui, Z. (2024). Can Large Multimodal Models Uncover Deep Semantics Behind Images?. </a:t>
            </a:r>
            <a:r>
              <a:rPr lang="en-US" sz="1150" b="0" i="1" dirty="0" err="1">
                <a:solidFill>
                  <a:srgbClr val="00000A"/>
                </a:solidFill>
                <a:effectLst/>
                <a:latin typeface="Times New Roman" panose="02020603050405020304" pitchFamily="18" charset="0"/>
                <a:ea typeface="Times New Roman" panose="02020603050405020304" pitchFamily="18" charset="0"/>
              </a:rPr>
              <a:t>arXiv</a:t>
            </a:r>
            <a:r>
              <a:rPr lang="en-US" sz="1150" b="0" i="1" dirty="0">
                <a:solidFill>
                  <a:srgbClr val="00000A"/>
                </a:solidFill>
                <a:effectLst/>
                <a:latin typeface="Times New Roman" panose="02020603050405020304" pitchFamily="18" charset="0"/>
                <a:ea typeface="Times New Roman" panose="02020603050405020304" pitchFamily="18" charset="0"/>
              </a:rPr>
              <a:t> preprint arXiv:2402.11281</a:t>
            </a:r>
            <a:r>
              <a:rPr lang="en-US" sz="1150" b="0" dirty="0">
                <a:solidFill>
                  <a:srgbClr val="00000A"/>
                </a:solidFill>
                <a:effectLst/>
                <a:latin typeface="Times New Roman" panose="02020603050405020304" pitchFamily="18" charset="0"/>
                <a:ea typeface="Times New Roman" panose="02020603050405020304" pitchFamily="18" charset="0"/>
              </a:rPr>
              <a:t>.</a:t>
            </a:r>
            <a:endParaRPr lang="en-GB" sz="1150" b="1" dirty="0">
              <a:solidFill>
                <a:srgbClr val="00000A"/>
              </a:solidFill>
              <a:effectLst/>
              <a:latin typeface="Times New Roman" panose="02020603050405020304" pitchFamily="18" charset="0"/>
              <a:ea typeface="Times New Roman" panose="02020603050405020304" pitchFamily="18" charset="0"/>
            </a:endParaRPr>
          </a:p>
          <a:p>
            <a:pPr lvl="0" algn="just" hangingPunct="1">
              <a:lnSpc>
                <a:spcPct val="150000"/>
              </a:lnSpc>
            </a:pPr>
            <a:r>
              <a:rPr lang="en-US" sz="1150" b="0" dirty="0">
                <a:solidFill>
                  <a:srgbClr val="00000A"/>
                </a:solidFill>
                <a:effectLst/>
                <a:latin typeface="Times New Roman" panose="02020603050405020304" pitchFamily="18" charset="0"/>
                <a:ea typeface="Times New Roman" panose="02020603050405020304" pitchFamily="18" charset="0"/>
              </a:rPr>
              <a:t>[19] Team, G., Riviere, M., Pathak, S., Sessa, P. G., Hardin, C., </a:t>
            </a:r>
            <a:r>
              <a:rPr lang="en-US" sz="1150" b="0" dirty="0" err="1">
                <a:solidFill>
                  <a:srgbClr val="00000A"/>
                </a:solidFill>
                <a:effectLst/>
                <a:latin typeface="Times New Roman" panose="02020603050405020304" pitchFamily="18" charset="0"/>
                <a:ea typeface="Times New Roman" panose="02020603050405020304" pitchFamily="18" charset="0"/>
              </a:rPr>
              <a:t>Bhupatiraju</a:t>
            </a:r>
            <a:r>
              <a:rPr lang="en-US" sz="1150" b="0" dirty="0">
                <a:solidFill>
                  <a:srgbClr val="00000A"/>
                </a:solidFill>
                <a:effectLst/>
                <a:latin typeface="Times New Roman" panose="02020603050405020304" pitchFamily="18" charset="0"/>
                <a:ea typeface="Times New Roman" panose="02020603050405020304" pitchFamily="18" charset="0"/>
              </a:rPr>
              <a:t>, S., ... &amp; Garg, S. (2024). Gemma 2: Improving open language models at a practical size. </a:t>
            </a:r>
            <a:r>
              <a:rPr lang="en-US" sz="1150" b="0" i="1" dirty="0" err="1">
                <a:solidFill>
                  <a:srgbClr val="00000A"/>
                </a:solidFill>
                <a:effectLst/>
                <a:latin typeface="Times New Roman" panose="02020603050405020304" pitchFamily="18" charset="0"/>
                <a:ea typeface="Times New Roman" panose="02020603050405020304" pitchFamily="18" charset="0"/>
              </a:rPr>
              <a:t>arXiv</a:t>
            </a:r>
            <a:r>
              <a:rPr lang="en-US" sz="1150" b="0" i="1" dirty="0">
                <a:solidFill>
                  <a:srgbClr val="00000A"/>
                </a:solidFill>
                <a:effectLst/>
                <a:latin typeface="Times New Roman" panose="02020603050405020304" pitchFamily="18" charset="0"/>
                <a:ea typeface="Times New Roman" panose="02020603050405020304" pitchFamily="18" charset="0"/>
              </a:rPr>
              <a:t> preprint arXiv:2408.00118</a:t>
            </a:r>
            <a:r>
              <a:rPr lang="en-US" sz="1150" b="0" dirty="0">
                <a:solidFill>
                  <a:srgbClr val="00000A"/>
                </a:solidFill>
                <a:effectLst/>
                <a:latin typeface="Times New Roman" panose="02020603050405020304" pitchFamily="18" charset="0"/>
                <a:ea typeface="Times New Roman" panose="02020603050405020304" pitchFamily="18" charset="0"/>
              </a:rPr>
              <a:t>.</a:t>
            </a:r>
            <a:endParaRPr lang="en-GB" sz="1150" b="1" dirty="0">
              <a:solidFill>
                <a:srgbClr val="00000A"/>
              </a:solidFill>
              <a:effectLst/>
              <a:latin typeface="Times New Roman" panose="02020603050405020304" pitchFamily="18" charset="0"/>
              <a:ea typeface="Times New Roman" panose="02020603050405020304" pitchFamily="18" charset="0"/>
            </a:endParaRPr>
          </a:p>
          <a:p>
            <a:pPr lvl="0" algn="just" hangingPunct="1">
              <a:lnSpc>
                <a:spcPct val="150000"/>
              </a:lnSpc>
            </a:pPr>
            <a:r>
              <a:rPr lang="en-US" sz="1150" b="0" dirty="0">
                <a:solidFill>
                  <a:srgbClr val="00000A"/>
                </a:solidFill>
                <a:effectLst/>
                <a:latin typeface="Times New Roman" panose="02020603050405020304" pitchFamily="18" charset="0"/>
                <a:ea typeface="Times New Roman" panose="02020603050405020304" pitchFamily="18" charset="0"/>
              </a:rPr>
              <a:t>[20] Han, Z., Gao, C., Liu, J., Zhang, J., &amp; Zhang, S. Q. (2024). Parameter-efficient fine-tuning for large models: A comprehensive survey. </a:t>
            </a:r>
            <a:r>
              <a:rPr lang="en-US" sz="1150" b="0" i="1" dirty="0" err="1">
                <a:solidFill>
                  <a:srgbClr val="00000A"/>
                </a:solidFill>
                <a:effectLst/>
                <a:latin typeface="Times New Roman" panose="02020603050405020304" pitchFamily="18" charset="0"/>
                <a:ea typeface="Times New Roman" panose="02020603050405020304" pitchFamily="18" charset="0"/>
              </a:rPr>
              <a:t>arXiv</a:t>
            </a:r>
            <a:r>
              <a:rPr lang="en-US" sz="1150" b="0" i="1" dirty="0">
                <a:solidFill>
                  <a:srgbClr val="00000A"/>
                </a:solidFill>
                <a:effectLst/>
                <a:latin typeface="Times New Roman" panose="02020603050405020304" pitchFamily="18" charset="0"/>
                <a:ea typeface="Times New Roman" panose="02020603050405020304" pitchFamily="18" charset="0"/>
              </a:rPr>
              <a:t> preprint arXiv:2403.14608</a:t>
            </a:r>
            <a:r>
              <a:rPr lang="en-US" sz="1150" b="0" dirty="0">
                <a:solidFill>
                  <a:srgbClr val="00000A"/>
                </a:solidFill>
                <a:effectLst/>
                <a:latin typeface="Times New Roman" panose="02020603050405020304" pitchFamily="18" charset="0"/>
                <a:ea typeface="Times New Roman" panose="02020603050405020304" pitchFamily="18" charset="0"/>
              </a:rPr>
              <a:t>.</a:t>
            </a:r>
            <a:endParaRPr lang="en-GB" sz="1150" b="1" dirty="0">
              <a:solidFill>
                <a:srgbClr val="00000A"/>
              </a:solidFill>
              <a:effectLst/>
              <a:latin typeface="Times New Roman" panose="02020603050405020304" pitchFamily="18" charset="0"/>
              <a:ea typeface="Times New Roman" panose="02020603050405020304" pitchFamily="18" charset="0"/>
            </a:endParaRPr>
          </a:p>
          <a:p>
            <a:pPr lvl="0" algn="just" hangingPunct="1">
              <a:lnSpc>
                <a:spcPct val="150000"/>
              </a:lnSpc>
              <a:spcAft>
                <a:spcPts val="1000"/>
              </a:spcAft>
            </a:pPr>
            <a:r>
              <a:rPr lang="en-US" sz="1150" b="0" dirty="0">
                <a:solidFill>
                  <a:srgbClr val="00000A"/>
                </a:solidFill>
                <a:effectLst/>
                <a:latin typeface="Times New Roman" panose="02020603050405020304" pitchFamily="18" charset="0"/>
                <a:ea typeface="Times New Roman" panose="02020603050405020304" pitchFamily="18" charset="0"/>
              </a:rPr>
              <a:t>[21] Hu, E. J., Shen, Y., Wallis, P., Allen-Zhu, Z., Li, Y., Wang, S., ... &amp; Chen, W. (2021). Lora: Low-rank adaptation of large language models. </a:t>
            </a:r>
            <a:r>
              <a:rPr lang="en-US" sz="1150" b="0" dirty="0" err="1">
                <a:solidFill>
                  <a:srgbClr val="00000A"/>
                </a:solidFill>
                <a:effectLst/>
                <a:latin typeface="Times New Roman" panose="02020603050405020304" pitchFamily="18" charset="0"/>
                <a:ea typeface="Times New Roman" panose="02020603050405020304" pitchFamily="18" charset="0"/>
              </a:rPr>
              <a:t>arXiv</a:t>
            </a:r>
            <a:r>
              <a:rPr lang="en-US" sz="1150" b="0" dirty="0">
                <a:solidFill>
                  <a:srgbClr val="00000A"/>
                </a:solidFill>
                <a:effectLst/>
                <a:latin typeface="Times New Roman" panose="02020603050405020304" pitchFamily="18" charset="0"/>
                <a:ea typeface="Times New Roman" panose="02020603050405020304" pitchFamily="18" charset="0"/>
              </a:rPr>
              <a:t> 2021. </a:t>
            </a:r>
            <a:r>
              <a:rPr lang="en-US" sz="1150" b="0" i="1" dirty="0" err="1">
                <a:solidFill>
                  <a:srgbClr val="00000A"/>
                </a:solidFill>
                <a:effectLst/>
                <a:latin typeface="Times New Roman" panose="02020603050405020304" pitchFamily="18" charset="0"/>
                <a:ea typeface="Times New Roman" panose="02020603050405020304" pitchFamily="18" charset="0"/>
              </a:rPr>
              <a:t>arXiv</a:t>
            </a:r>
            <a:r>
              <a:rPr lang="en-US" sz="1150" b="0" i="1" dirty="0">
                <a:solidFill>
                  <a:srgbClr val="00000A"/>
                </a:solidFill>
                <a:effectLst/>
                <a:latin typeface="Times New Roman" panose="02020603050405020304" pitchFamily="18" charset="0"/>
                <a:ea typeface="Times New Roman" panose="02020603050405020304" pitchFamily="18" charset="0"/>
              </a:rPr>
              <a:t> preprint arXiv:2106.09685</a:t>
            </a:r>
            <a:r>
              <a:rPr lang="en-US" sz="1150" b="0" dirty="0">
                <a:solidFill>
                  <a:srgbClr val="00000A"/>
                </a:solidFill>
                <a:effectLst/>
                <a:latin typeface="Times New Roman" panose="02020603050405020304" pitchFamily="18" charset="0"/>
                <a:ea typeface="Times New Roman" panose="02020603050405020304" pitchFamily="18" charset="0"/>
              </a:rPr>
              <a:t>.</a:t>
            </a:r>
            <a:endParaRPr lang="en-GB" sz="1150" b="1" dirty="0">
              <a:solidFill>
                <a:srgbClr val="00000A"/>
              </a:solidFill>
              <a:effectLst/>
              <a:latin typeface="Times New Roman" panose="02020603050405020304" pitchFamily="18" charset="0"/>
              <a:ea typeface="Times New Roman" panose="02020603050405020304" pitchFamily="18" charset="0"/>
            </a:endParaRPr>
          </a:p>
        </p:txBody>
      </p:sp>
      <p:sp>
        <p:nvSpPr>
          <p:cNvPr id="3" name="TextBox 2">
            <a:extLst>
              <a:ext uri="{FF2B5EF4-FFF2-40B4-BE49-F238E27FC236}">
                <a16:creationId xmlns:a16="http://schemas.microsoft.com/office/drawing/2014/main" id="{68544AC0-F981-8E57-D2E5-0E1DF067A91E}"/>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7483141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9EAFEF31-79A4-C02E-AF74-118ECB6ABB5F}"/>
              </a:ext>
            </a:extLst>
          </p:cNvPr>
          <p:cNvSpPr/>
          <p:nvPr/>
        </p:nvSpPr>
        <p:spPr>
          <a:xfrm>
            <a:off x="565977" y="791078"/>
            <a:ext cx="11260993" cy="5683162"/>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4DFCAC29-7880-000E-6587-699F9A48E609}"/>
              </a:ext>
            </a:extLst>
          </p:cNvPr>
          <p:cNvSpPr txBox="1"/>
          <p:nvPr/>
        </p:nvSpPr>
        <p:spPr>
          <a:xfrm>
            <a:off x="1478165" y="6491322"/>
            <a:ext cx="191359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endParaRPr lang="en-US"/>
          </a:p>
        </p:txBody>
      </p:sp>
      <p:sp>
        <p:nvSpPr>
          <p:cNvPr id="18" name="TextBox 17">
            <a:extLst>
              <a:ext uri="{FF2B5EF4-FFF2-40B4-BE49-F238E27FC236}">
                <a16:creationId xmlns:a16="http://schemas.microsoft.com/office/drawing/2014/main" id="{34858D91-A6E2-19BE-892E-F85A69FB6FBC}"/>
              </a:ext>
            </a:extLst>
          </p:cNvPr>
          <p:cNvSpPr txBox="1"/>
          <p:nvPr/>
        </p:nvSpPr>
        <p:spPr>
          <a:xfrm>
            <a:off x="9451092" y="6471844"/>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9" name="TextBox 8">
            <a:extLst>
              <a:ext uri="{FF2B5EF4-FFF2-40B4-BE49-F238E27FC236}">
                <a16:creationId xmlns:a16="http://schemas.microsoft.com/office/drawing/2014/main" id="{75360CB5-C725-807A-D25E-C29A3B74A0C2}"/>
              </a:ext>
            </a:extLst>
          </p:cNvPr>
          <p:cNvSpPr txBox="1"/>
          <p:nvPr/>
        </p:nvSpPr>
        <p:spPr>
          <a:xfrm>
            <a:off x="4893690" y="3078661"/>
            <a:ext cx="3078350" cy="5539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000" b="1" dirty="0">
                <a:solidFill>
                  <a:srgbClr val="2E2E2E"/>
                </a:solidFill>
                <a:latin typeface="Times New Roman" panose="02020603050405020304" pitchFamily="18" charset="0"/>
                <a:ea typeface="+mn-lt"/>
                <a:cs typeface="Times New Roman" panose="02020603050405020304" pitchFamily="18" charset="0"/>
              </a:rPr>
              <a:t>QUESTIONS</a:t>
            </a:r>
            <a:endParaRPr lang="en-US" sz="3000" dirty="0">
              <a:latin typeface="Times New Roman" panose="02020603050405020304" pitchFamily="18" charset="0"/>
              <a:cs typeface="Times New Roman" panose="02020603050405020304" pitchFamily="18" charset="0"/>
            </a:endParaRPr>
          </a:p>
        </p:txBody>
      </p:sp>
      <p:sp>
        <p:nvSpPr>
          <p:cNvPr id="6" name="Date Placeholder 5">
            <a:extLst>
              <a:ext uri="{FF2B5EF4-FFF2-40B4-BE49-F238E27FC236}">
                <a16:creationId xmlns:a16="http://schemas.microsoft.com/office/drawing/2014/main" id="{C57E055E-65D5-3FE3-B2E9-0A432E3B036A}"/>
              </a:ext>
            </a:extLst>
          </p:cNvPr>
          <p:cNvSpPr>
            <a:spLocks noGrp="1"/>
          </p:cNvSpPr>
          <p:nvPr>
            <p:ph type="dt" sz="half" idx="10"/>
          </p:nvPr>
        </p:nvSpPr>
        <p:spPr/>
        <p:txBody>
          <a:bodyPr/>
          <a:lstStyle/>
          <a:p>
            <a:fld id="{B6E3CC4C-8C0F-4C75-A216-76B5B61916EF}" type="datetime1">
              <a:rPr lang="en-US" smtClean="0"/>
              <a:t>4/21/2025</a:t>
            </a:fld>
            <a:endParaRPr lang="en-US"/>
          </a:p>
        </p:txBody>
      </p:sp>
      <p:sp>
        <p:nvSpPr>
          <p:cNvPr id="7" name="Slide Number Placeholder 6">
            <a:extLst>
              <a:ext uri="{FF2B5EF4-FFF2-40B4-BE49-F238E27FC236}">
                <a16:creationId xmlns:a16="http://schemas.microsoft.com/office/drawing/2014/main" id="{3F10F809-ECCC-A16D-59D5-A775EFF99FCD}"/>
              </a:ext>
            </a:extLst>
          </p:cNvPr>
          <p:cNvSpPr>
            <a:spLocks noGrp="1"/>
          </p:cNvSpPr>
          <p:nvPr>
            <p:ph type="sldNum" sz="quarter" idx="12"/>
          </p:nvPr>
        </p:nvSpPr>
        <p:spPr/>
        <p:txBody>
          <a:bodyPr/>
          <a:lstStyle/>
          <a:p>
            <a:fld id="{48F63A3B-78C7-47BE-AE5E-E10140E04643}" type="slidenum">
              <a:rPr lang="en-US" dirty="0"/>
              <a:t>31</a:t>
            </a:fld>
            <a:endParaRPr lang="en-US" dirty="0"/>
          </a:p>
        </p:txBody>
      </p:sp>
      <p:pic>
        <p:nvPicPr>
          <p:cNvPr id="2" name="Picture 1" descr="A close-up of a logo&#10;&#10;AI-generated content may be incorrect.">
            <a:extLst>
              <a:ext uri="{FF2B5EF4-FFF2-40B4-BE49-F238E27FC236}">
                <a16:creationId xmlns:a16="http://schemas.microsoft.com/office/drawing/2014/main" id="{BCEC2170-7D1B-C85C-E22C-7FCBE4CFF826}"/>
              </a:ext>
            </a:extLst>
          </p:cNvPr>
          <p:cNvPicPr>
            <a:picLocks noChangeAspect="1"/>
          </p:cNvPicPr>
          <p:nvPr/>
        </p:nvPicPr>
        <p:blipFill>
          <a:blip r:embed="rId2"/>
          <a:stretch>
            <a:fillRect/>
          </a:stretch>
        </p:blipFill>
        <p:spPr>
          <a:xfrm>
            <a:off x="1" y="54524"/>
            <a:ext cx="2503714" cy="621059"/>
          </a:xfrm>
          <a:prstGeom prst="rect">
            <a:avLst/>
          </a:prstGeom>
        </p:spPr>
      </p:pic>
      <p:sp>
        <p:nvSpPr>
          <p:cNvPr id="3" name="TextBox 2">
            <a:extLst>
              <a:ext uri="{FF2B5EF4-FFF2-40B4-BE49-F238E27FC236}">
                <a16:creationId xmlns:a16="http://schemas.microsoft.com/office/drawing/2014/main" id="{1F5B4AE9-A4D8-5615-01D2-4D6B7FCAE02C}"/>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326929252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9EAFEF31-79A4-C02E-AF74-118ECB6ABB5F}"/>
              </a:ext>
            </a:extLst>
          </p:cNvPr>
          <p:cNvSpPr/>
          <p:nvPr/>
        </p:nvSpPr>
        <p:spPr>
          <a:xfrm>
            <a:off x="565977" y="760605"/>
            <a:ext cx="11187043" cy="5732448"/>
          </a:xfrm>
          <a:prstGeom prst="round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7822120-4630-A536-57C2-F6A8BB0B9C22}"/>
              </a:ext>
            </a:extLst>
          </p:cNvPr>
          <p:cNvSpPr txBox="1"/>
          <p:nvPr/>
        </p:nvSpPr>
        <p:spPr>
          <a:xfrm>
            <a:off x="9785586" y="6489229"/>
            <a:ext cx="1475082"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cs typeface="Calibri"/>
              </a:rPr>
              <a:t>Team: 59</a:t>
            </a:r>
            <a:endParaRPr lang="en-US" dirty="0"/>
          </a:p>
        </p:txBody>
      </p:sp>
      <p:sp>
        <p:nvSpPr>
          <p:cNvPr id="5" name="TextBox 4">
            <a:extLst>
              <a:ext uri="{FF2B5EF4-FFF2-40B4-BE49-F238E27FC236}">
                <a16:creationId xmlns:a16="http://schemas.microsoft.com/office/drawing/2014/main" id="{699BE730-BA24-1B35-8076-B46EC0365786}"/>
              </a:ext>
            </a:extLst>
          </p:cNvPr>
          <p:cNvSpPr txBox="1"/>
          <p:nvPr/>
        </p:nvSpPr>
        <p:spPr>
          <a:xfrm>
            <a:off x="4986775" y="3152001"/>
            <a:ext cx="2543096" cy="5539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3000" b="1" dirty="0">
                <a:solidFill>
                  <a:srgbClr val="2E2E2E"/>
                </a:solidFill>
                <a:latin typeface="Times New Roman" panose="02020603050405020304" pitchFamily="18" charset="0"/>
                <a:ea typeface="+mn-lt"/>
                <a:cs typeface="Times New Roman" panose="02020603050405020304" pitchFamily="18" charset="0"/>
              </a:rPr>
              <a:t>THANK YOU</a:t>
            </a:r>
            <a:endParaRPr lang="en-US" sz="3000" dirty="0">
              <a:latin typeface="Times New Roman" panose="02020603050405020304" pitchFamily="18" charset="0"/>
              <a:cs typeface="Times New Roman" panose="02020603050405020304" pitchFamily="18" charset="0"/>
            </a:endParaRPr>
          </a:p>
        </p:txBody>
      </p:sp>
      <p:sp>
        <p:nvSpPr>
          <p:cNvPr id="9" name="Date Placeholder 8">
            <a:extLst>
              <a:ext uri="{FF2B5EF4-FFF2-40B4-BE49-F238E27FC236}">
                <a16:creationId xmlns:a16="http://schemas.microsoft.com/office/drawing/2014/main" id="{18B9982F-E433-CBB1-FA33-239D32AB8E5C}"/>
              </a:ext>
            </a:extLst>
          </p:cNvPr>
          <p:cNvSpPr>
            <a:spLocks noGrp="1"/>
          </p:cNvSpPr>
          <p:nvPr>
            <p:ph type="dt" sz="half" idx="10"/>
          </p:nvPr>
        </p:nvSpPr>
        <p:spPr/>
        <p:txBody>
          <a:bodyPr/>
          <a:lstStyle/>
          <a:p>
            <a:fld id="{AE1EE501-AF00-445D-ABC8-409AD19DFDAB}" type="datetime1">
              <a:rPr lang="en-US" smtClean="0"/>
              <a:t>4/21/2025</a:t>
            </a:fld>
            <a:endParaRPr lang="en-US"/>
          </a:p>
        </p:txBody>
      </p:sp>
      <p:sp>
        <p:nvSpPr>
          <p:cNvPr id="6" name="Slide Number Placeholder 5">
            <a:extLst>
              <a:ext uri="{FF2B5EF4-FFF2-40B4-BE49-F238E27FC236}">
                <a16:creationId xmlns:a16="http://schemas.microsoft.com/office/drawing/2014/main" id="{5722E34B-A253-EEB6-8E9E-32CE2953681B}"/>
              </a:ext>
            </a:extLst>
          </p:cNvPr>
          <p:cNvSpPr>
            <a:spLocks noGrp="1"/>
          </p:cNvSpPr>
          <p:nvPr>
            <p:ph type="sldNum" sz="quarter" idx="12"/>
          </p:nvPr>
        </p:nvSpPr>
        <p:spPr/>
        <p:txBody>
          <a:bodyPr/>
          <a:lstStyle/>
          <a:p>
            <a:fld id="{48F63A3B-78C7-47BE-AE5E-E10140E04643}" type="slidenum">
              <a:rPr lang="en-US" dirty="0"/>
              <a:t>32</a:t>
            </a:fld>
            <a:endParaRPr lang="en-US"/>
          </a:p>
        </p:txBody>
      </p:sp>
      <p:pic>
        <p:nvPicPr>
          <p:cNvPr id="2" name="Picture 1" descr="A close-up of a logo&#10;&#10;AI-generated content may be incorrect.">
            <a:extLst>
              <a:ext uri="{FF2B5EF4-FFF2-40B4-BE49-F238E27FC236}">
                <a16:creationId xmlns:a16="http://schemas.microsoft.com/office/drawing/2014/main" id="{8F76891B-EC3D-3CDD-CDD9-C1B855CA2D2E}"/>
              </a:ext>
            </a:extLst>
          </p:cNvPr>
          <p:cNvPicPr>
            <a:picLocks noChangeAspect="1"/>
          </p:cNvPicPr>
          <p:nvPr/>
        </p:nvPicPr>
        <p:blipFill>
          <a:blip r:embed="rId2"/>
          <a:stretch>
            <a:fillRect/>
          </a:stretch>
        </p:blipFill>
        <p:spPr>
          <a:xfrm>
            <a:off x="1" y="54524"/>
            <a:ext cx="2503714" cy="621059"/>
          </a:xfrm>
          <a:prstGeom prst="rect">
            <a:avLst/>
          </a:prstGeom>
        </p:spPr>
      </p:pic>
      <p:sp>
        <p:nvSpPr>
          <p:cNvPr id="7" name="TextBox 6">
            <a:extLst>
              <a:ext uri="{FF2B5EF4-FFF2-40B4-BE49-F238E27FC236}">
                <a16:creationId xmlns:a16="http://schemas.microsoft.com/office/drawing/2014/main" id="{919EED39-7A52-86D3-C397-0B1DB622B25D}"/>
              </a:ext>
            </a:extLst>
          </p:cNvPr>
          <p:cNvSpPr txBox="1"/>
          <p:nvPr/>
        </p:nvSpPr>
        <p:spPr>
          <a:xfrm>
            <a:off x="2448529" y="175829"/>
            <a:ext cx="7069353"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i="0" u="none" strike="noStrike" dirty="0">
                <a:solidFill>
                  <a:srgbClr val="000000"/>
                </a:solidFill>
                <a:effectLst/>
                <a:latin typeface="Times New Roman" panose="02020603050405020304" pitchFamily="18" charset="0"/>
              </a:rPr>
              <a:t>Enhancing Career Guidance for Students through RAG</a:t>
            </a:r>
            <a:r>
              <a:rPr lang="en-GB" sz="1600" i="0" dirty="0">
                <a:solidFill>
                  <a:srgbClr val="000000"/>
                </a:solidFill>
                <a:effectLst/>
                <a:latin typeface="Times New Roman" panose="02020603050405020304" pitchFamily="18" charset="0"/>
              </a:rPr>
              <a:t>​</a:t>
            </a:r>
            <a:br>
              <a:rPr lang="en-GB" sz="1600" i="0" dirty="0">
                <a:solidFill>
                  <a:srgbClr val="000000"/>
                </a:solidFill>
                <a:effectLst/>
                <a:latin typeface="Times New Roman" panose="02020603050405020304" pitchFamily="18" charset="0"/>
              </a:rPr>
            </a:br>
            <a:endParaRPr lang="en-US" sz="1600" dirty="0">
              <a:cs typeface="Calibri"/>
            </a:endParaRPr>
          </a:p>
        </p:txBody>
      </p:sp>
    </p:spTree>
    <p:extLst>
      <p:ext uri="{BB962C8B-B14F-4D97-AF65-F5344CB8AC3E}">
        <p14:creationId xmlns:p14="http://schemas.microsoft.com/office/powerpoint/2010/main" val="59735690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279</TotalTime>
  <Words>3552</Words>
  <Application>Microsoft Office PowerPoint</Application>
  <PresentationFormat>Widescreen</PresentationFormat>
  <Paragraphs>398</Paragraphs>
  <Slides>32</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32</vt:i4>
      </vt:variant>
    </vt:vector>
  </HeadingPairs>
  <TitlesOfParts>
    <vt:vector size="41" baseType="lpstr">
      <vt:lpstr>Aptos</vt:lpstr>
      <vt:lpstr>Arial</vt:lpstr>
      <vt:lpstr>Arial,Sans-Serif</vt:lpstr>
      <vt:lpstr>Calibri</vt:lpstr>
      <vt:lpstr>Calibri Light</vt:lpstr>
      <vt:lpstr>Liberation Serif;Times New Roma</vt:lpstr>
      <vt:lpstr>Times</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RESULT ANALYSIS  </vt:lpstr>
      <vt:lpstr>RESULT ANALYSIS  </vt:lpstr>
      <vt:lpstr>RESULT ANALYSIS  </vt:lpstr>
      <vt:lpstr>RESULT ANALYSIS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Prathilothamai m</dc:creator>
  <cp:lastModifiedBy>Hanish K R - [CB.EN.U4CSE21317]</cp:lastModifiedBy>
  <cp:revision>254</cp:revision>
  <dcterms:created xsi:type="dcterms:W3CDTF">2023-09-21T13:49:06Z</dcterms:created>
  <dcterms:modified xsi:type="dcterms:W3CDTF">2025-04-21T08:45:12Z</dcterms:modified>
</cp:coreProperties>
</file>